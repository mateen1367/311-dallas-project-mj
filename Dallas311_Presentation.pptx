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F5B800"/>
              </a:solidFill>
            </c:spPr>
          </c:dPt>
          <c:dPt>
            <c:idx val="1"/>
            <c:spPr>
              <a:solidFill>
                <a:srgbClr val="F5B800"/>
              </a:solidFill>
            </c:spPr>
          </c:dPt>
          <c:dPt>
            <c:idx val="2"/>
            <c:spPr>
              <a:solidFill>
                <a:srgbClr val="F5B800"/>
              </a:solidFill>
            </c:spPr>
          </c:dPt>
          <c:dPt>
            <c:idx val="3"/>
            <c:spPr>
              <a:solidFill>
                <a:srgbClr val="F5B800"/>
              </a:solidFill>
            </c:spPr>
          </c:dPt>
          <c:dPt>
            <c:idx val="4"/>
            <c:spPr>
              <a:solidFill>
                <a:srgbClr val="F5B800"/>
              </a:solidFill>
            </c:spPr>
          </c:dPt>
          <c:dPt>
            <c:idx val="5"/>
            <c:spPr>
              <a:solidFill>
                <a:srgbClr val="006B47"/>
              </a:solidFill>
            </c:spPr>
          </c:dPt>
          <c:dPt>
            <c:idx val="6"/>
            <c:spPr>
              <a:solidFill>
                <a:srgbClr val="006B47"/>
              </a:solidFill>
            </c:spPr>
          </c:dPt>
          <c:dPt>
            <c:idx val="7"/>
            <c:spPr>
              <a:solidFill>
                <a:srgbClr val="006B47"/>
              </a:solidFill>
            </c:spPr>
          </c:dPt>
          <c:dPt>
            <c:idx val="8"/>
            <c:spPr>
              <a:solidFill>
                <a:srgbClr val="006B47"/>
              </a:solidFill>
            </c:spPr>
          </c:dPt>
          <c:dPt>
            <c:idx val="9"/>
            <c:spPr>
              <a:solidFill>
                <a:srgbClr val="006B47"/>
              </a:solidFill>
            </c:spPr>
          </c:dPt>
          <c:dPt>
            <c:idx val="10"/>
            <c:spPr>
              <a:solidFill>
                <a:srgbClr val="006B47"/>
              </a:solidFill>
            </c:spPr>
          </c:dPt>
          <c:dPt>
            <c:idx val="11"/>
            <c:spPr>
              <a:solidFill>
                <a:srgbClr val="006B47"/>
              </a:solidFill>
            </c:spPr>
          </c:dPt>
          <c:cat>
            <c:strRef>
              <c:f>Sheet1!$A$2:$A$13</c:f>
              <c:strCache>
                <c:ptCount val="12"/>
                <c:pt idx="0">
                  <c:v>Animal Aggressive Behavior</c:v>
                </c:pt>
                <c:pt idx="1">
                  <c:v>Animal Lack of Care</c:v>
                </c:pt>
                <c:pt idx="2">
                  <c:v>Street Repair - Routine</c:v>
                </c:pt>
                <c:pt idx="3">
                  <c:v>Pot Hole - Routine</c:v>
                </c:pt>
                <c:pt idx="4">
                  <c:v>Alley/Sidewalk/Street Repair - Hazardous</c:v>
                </c:pt>
                <c:pt idx="5">
                  <c:v>Animal Loose</c:v>
                </c:pt>
                <c:pt idx="6">
                  <c:v>Consumer Protection Complaint</c:v>
                </c:pt>
                <c:pt idx="7">
                  <c:v>Parking - Report a Violation</c:v>
                </c:pt>
                <c:pt idx="8">
                  <c:v>Sanitation Missed Garbage</c:v>
                </c:pt>
                <c:pt idx="9">
                  <c:v>Sanitation Missed Recycle</c:v>
                </c:pt>
                <c:pt idx="10">
                  <c:v>Sanitation Roll Cart Maintenance/Delivery</c:v>
                </c:pt>
                <c:pt idx="11">
                  <c:v>Dead Animal Pick Up</c:v>
                </c:pt>
              </c:strCache>
            </c:strRef>
          </c:cat>
          <c:val>
            <c:numRef>
              <c:f>Sheet1!$B$2:$B$13</c:f>
              <c:numCache>
                <c:formatCode>General</c:formatCode>
                <c:ptCount val="12"/>
                <c:pt idx="0">
                  <c:v>0.3013465282284231</c:v>
                </c:pt>
                <c:pt idx="1">
                  <c:v>0.29421283809817367</c:v>
                </c:pt>
                <c:pt idx="2">
                  <c:v>0.18238261544431508</c:v>
                </c:pt>
                <c:pt idx="3">
                  <c:v>0.13021032504780114</c:v>
                </c:pt>
                <c:pt idx="4">
                  <c:v>0.1223292836196062</c:v>
                </c:pt>
                <c:pt idx="5">
                  <c:v>0.09126959539004895</c:v>
                </c:pt>
                <c:pt idx="6">
                  <c:v>0.08970323741007194</c:v>
                </c:pt>
                <c:pt idx="7">
                  <c:v>0.07308317909024623</c:v>
                </c:pt>
                <c:pt idx="8">
                  <c:v>0.06085690196980149</c:v>
                </c:pt>
                <c:pt idx="9">
                  <c:v>0.04041025641025641</c:v>
                </c:pt>
                <c:pt idx="10">
                  <c:v>0.03418445653690526</c:v>
                </c:pt>
                <c:pt idx="11">
                  <c:v>0.013170361948076558</c:v>
                </c:pt>
              </c:numCache>
            </c:numRef>
          </c:val>
        </c:ser>
        <c:dLbls>
          <c:numFmt formatCode="0%" sourceLinked="0"/>
          <c:txPr>
            <a:bodyPr/>
            <a:lstStyle/>
            <a:p>
              <a:pPr>
                <a:defRPr sz="1200" b="1">
                  <a:solidFill>
                    <a:srgbClr val="1E2A26"/>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B5BDB9"/>
            </a:solidFill>
          </a:ln>
        </c:spPr>
        <c:txPr>
          <a:bodyPr/>
          <a:lstStyle/>
          <a:p>
            <a:pPr>
              <a:defRPr sz="1200"/>
            </a:pPr>
          </a:p>
        </c:txPr>
        <c:crossAx val="-2113994440"/>
        <c:crosses val="autoZero"/>
        <c:auto val="1"/>
        <c:lblAlgn val="ctr"/>
        <c:lblOffset val="100"/>
        <c:noMultiLvlLbl val="0"/>
      </c:catAx>
      <c:valAx>
        <c:axId val="-2113994440"/>
        <c:scaling>
          <c:max val="0.4"/>
          <c:min val="0.0"/>
        </c:scaling>
        <c:delete/>
        <c:axPos val="b"/>
        <c:majorTickMark val="out"/>
        <c:minorTickMark val="none"/>
        <c:tickLblPos val="nextTo"/>
        <c:crossAx val="-2068027336"/>
        <c:crosses val="autoZero"/>
      </c:valAx>
    </c:plotArea>
    <c:dispBlanksAs val="gap"/>
  </c:chart>
  <c:txPr>
    <a:bodyPr/>
    <a:lstStyle/>
    <a:p>
      <a:pPr>
        <a:defRPr sz="1200">
          <a:solidFill>
            <a:srgbClr val="1E2A2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F5B800"/>
              </a:solidFill>
            </c:spPr>
          </c:dPt>
          <c:dPt>
            <c:idx val="1"/>
            <c:spPr>
              <a:solidFill>
                <a:srgbClr val="F5B800"/>
              </a:solidFill>
            </c:spPr>
          </c:dPt>
          <c:dPt>
            <c:idx val="2"/>
            <c:spPr>
              <a:solidFill>
                <a:srgbClr val="F5B800"/>
              </a:solidFill>
            </c:spPr>
          </c:dPt>
          <c:dPt>
            <c:idx val="3"/>
            <c:spPr>
              <a:solidFill>
                <a:srgbClr val="F5B800"/>
              </a:solidFill>
            </c:spPr>
          </c:dPt>
          <c:dPt>
            <c:idx val="4"/>
            <c:spPr>
              <a:solidFill>
                <a:srgbClr val="F5B800"/>
              </a:solidFill>
            </c:spPr>
          </c:dPt>
          <c:dPt>
            <c:idx val="5"/>
            <c:spPr>
              <a:solidFill>
                <a:srgbClr val="F5B800"/>
              </a:solidFill>
            </c:spPr>
          </c:dPt>
          <c:dPt>
            <c:idx val="6"/>
            <c:spPr>
              <a:solidFill>
                <a:srgbClr val="F5B800"/>
              </a:solidFill>
            </c:spPr>
          </c:dPt>
          <c:dPt>
            <c:idx val="7"/>
            <c:spPr>
              <a:solidFill>
                <a:srgbClr val="F5B800"/>
              </a:solidFill>
            </c:spPr>
          </c:dPt>
          <c:dPt>
            <c:idx val="8"/>
            <c:spPr>
              <a:solidFill>
                <a:srgbClr val="006B47"/>
              </a:solidFill>
            </c:spPr>
          </c:dPt>
          <c:dPt>
            <c:idx val="9"/>
            <c:spPr>
              <a:solidFill>
                <a:srgbClr val="006B47"/>
              </a:solidFill>
            </c:spPr>
          </c:dPt>
          <c:dPt>
            <c:idx val="10"/>
            <c:spPr>
              <a:solidFill>
                <a:srgbClr val="006B47"/>
              </a:solidFill>
            </c:spPr>
          </c:dPt>
          <c:dPt>
            <c:idx val="11"/>
            <c:spPr>
              <a:solidFill>
                <a:srgbClr val="006B47"/>
              </a:solidFill>
            </c:spPr>
          </c:dPt>
          <c:dPt>
            <c:idx val="12"/>
            <c:spPr>
              <a:solidFill>
                <a:srgbClr val="006B47"/>
              </a:solidFill>
            </c:spPr>
          </c:dPt>
          <c:dPt>
            <c:idx val="13"/>
            <c:spPr>
              <a:solidFill>
                <a:srgbClr val="006B47"/>
              </a:solidFill>
            </c:spPr>
          </c:dPt>
          <c:cat>
            <c:strRef>
              <c:f>Sheet1!$A$2:$A$15</c:f>
              <c:strCache>
                <c:ptCount val="14"/>
                <c:pt idx="0">
                  <c:v>District 13</c:v>
                </c:pt>
                <c:pt idx="1">
                  <c:v>District 12</c:v>
                </c:pt>
                <c:pt idx="2">
                  <c:v>District 11</c:v>
                </c:pt>
                <c:pt idx="3">
                  <c:v>District 10</c:v>
                </c:pt>
                <c:pt idx="4">
                  <c:v>District 5</c:v>
                </c:pt>
                <c:pt idx="5">
                  <c:v>District 7</c:v>
                </c:pt>
                <c:pt idx="6">
                  <c:v>District 9</c:v>
                </c:pt>
                <c:pt idx="7">
                  <c:v>District 8</c:v>
                </c:pt>
                <c:pt idx="8">
                  <c:v>District 3</c:v>
                </c:pt>
                <c:pt idx="9">
                  <c:v>District 2</c:v>
                </c:pt>
                <c:pt idx="10">
                  <c:v>District 4</c:v>
                </c:pt>
                <c:pt idx="11">
                  <c:v>District 6</c:v>
                </c:pt>
                <c:pt idx="12">
                  <c:v>District 14</c:v>
                </c:pt>
                <c:pt idx="13">
                  <c:v>District 1</c:v>
                </c:pt>
              </c:strCache>
            </c:strRef>
          </c:cat>
          <c:val>
            <c:numRef>
              <c:f>Sheet1!$B$2:$B$15</c:f>
              <c:numCache>
                <c:formatCode>General</c:formatCode>
                <c:ptCount val="14"/>
                <c:pt idx="0">
                  <c:v>1.2154906590482077</c:v>
                </c:pt>
                <c:pt idx="1">
                  <c:v>1.1803751282120971</c:v>
                </c:pt>
                <c:pt idx="2">
                  <c:v>1.1721362587342632</c:v>
                </c:pt>
                <c:pt idx="3">
                  <c:v>1.1189218016593678</c:v>
                </c:pt>
                <c:pt idx="4">
                  <c:v>1.0644637659866112</c:v>
                </c:pt>
                <c:pt idx="5">
                  <c:v>1.058649397335734</c:v>
                </c:pt>
                <c:pt idx="6">
                  <c:v>1.0361588138294324</c:v>
                </c:pt>
                <c:pt idx="7">
                  <c:v>1.023112433539786</c:v>
                </c:pt>
                <c:pt idx="8">
                  <c:v>0.9564411377589717</c:v>
                </c:pt>
                <c:pt idx="9">
                  <c:v>0.9550836685018903</c:v>
                </c:pt>
                <c:pt idx="10">
                  <c:v>0.9308423987514269</c:v>
                </c:pt>
                <c:pt idx="11">
                  <c:v>0.9050317404759589</c:v>
                </c:pt>
                <c:pt idx="12">
                  <c:v>0.8668500480787862</c:v>
                </c:pt>
                <c:pt idx="13">
                  <c:v>0.8288312645031654</c:v>
                </c:pt>
              </c:numCache>
            </c:numRef>
          </c:val>
        </c:ser>
        <c:dLbls>
          <c:numFmt formatCode="0.00" sourceLinked="0"/>
          <c:txPr>
            <a:bodyPr/>
            <a:lstStyle/>
            <a:p>
              <a:pPr>
                <a:defRPr sz="1200" b="1">
                  <a:solidFill>
                    <a:srgbClr val="1E2A26"/>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B5BDB9"/>
            </a:solidFill>
          </a:ln>
        </c:spPr>
        <c:txPr>
          <a:bodyPr/>
          <a:lstStyle/>
          <a:p>
            <a:pPr>
              <a:defRPr sz="1200"/>
            </a:pPr>
          </a:p>
        </c:txPr>
        <c:crossAx val="-2113994440"/>
        <c:crosses val="autoZero"/>
        <c:auto val="1"/>
        <c:lblAlgn val="ctr"/>
        <c:lblOffset val="100"/>
        <c:noMultiLvlLbl val="0"/>
      </c:catAx>
      <c:valAx>
        <c:axId val="-2113994440"/>
        <c:scaling>
          <c:max val="1.4"/>
          <c:min val="0.0"/>
        </c:scaling>
        <c:delete/>
        <c:axPos val="b"/>
        <c:majorTickMark val="out"/>
        <c:minorTickMark val="none"/>
        <c:tickLblPos val="nextTo"/>
        <c:crossAx val="-2068027336"/>
        <c:crosses val="autoZero"/>
      </c:valAx>
    </c:plotArea>
    <c:dispBlanksAs val="gap"/>
  </c:chart>
  <c:txPr>
    <a:bodyPr/>
    <a:lstStyle/>
    <a:p>
      <a:pPr>
        <a:defRPr sz="1200">
          <a:solidFill>
            <a:srgbClr val="1E2A2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Sheet1!$A$2:$A$8</c:f>
              <c:strCache>
                <c:ptCount val="7"/>
                <c:pt idx="0">
                  <c:v>Baseline</c:v>
                </c:pt>
                <c:pt idx="1">
                  <c:v>+ Class weights</c:v>
                </c:pt>
                <c:pt idx="2">
                  <c:v>+ Group rare types</c:v>
                </c:pt>
                <c:pt idx="3">
                  <c:v>+ Promised time</c:v>
                </c:pt>
                <c:pt idx="4">
                  <c:v>+ Weekday, hour</c:v>
                </c:pt>
                <c:pt idx="5">
                  <c:v>+ Workload</c:v>
                </c:pt>
                <c:pt idx="6">
                  <c:v>Result</c:v>
                </c:pt>
              </c:strCache>
            </c:strRef>
          </c:cat>
          <c:val>
            <c:numRef>
              <c:f>Sheet1!$B$2:$B$8</c:f>
              <c:numCache>
                <c:formatCode>General</c:formatCode>
                <c:ptCount val="7"/>
                <c:pt idx="0">
                  <c:v>0</c:v>
                </c:pt>
                <c:pt idx="1">
                  <c:v>0.104</c:v>
                </c:pt>
                <c:pt idx="2">
                  <c:v>0.304</c:v>
                </c:pt>
                <c:pt idx="3">
                  <c:v>0.304</c:v>
                </c:pt>
                <c:pt idx="4">
                  <c:v>0.306</c:v>
                </c:pt>
                <c:pt idx="5">
                  <c:v>0.296</c:v>
                </c:pt>
                <c:pt idx="6">
                  <c:v>0</c:v>
                </c:pt>
              </c:numCache>
            </c:numRef>
          </c:val>
        </c:ser>
        <c:ser>
          <c:idx val="1"/>
          <c:order val="1"/>
          <c:tx>
            <c:strRef>
              <c:f>Sheet1!$C$1</c:f>
              <c:strCache>
                <c:ptCount val="1"/>
                <c:pt idx="0">
                  <c:v>up</c:v>
                </c:pt>
              </c:strCache>
            </c:strRef>
          </c:tx>
          <c:dPt>
            <c:idx val="0"/>
            <c:spPr>
              <a:solidFill>
                <a:srgbClr val="0C2A21"/>
              </a:solidFill>
            </c:spPr>
          </c:dPt>
          <c:dPt>
            <c:idx val="1"/>
            <c:spPr>
              <a:solidFill>
                <a:srgbClr val="006B47"/>
              </a:solidFill>
            </c:spPr>
          </c:dPt>
          <c:dPt>
            <c:idx val="2"/>
            <c:spPr>
              <a:solidFill>
                <a:srgbClr val="B5BDB9"/>
              </a:solidFill>
            </c:spPr>
          </c:dPt>
          <c:dPt>
            <c:idx val="3"/>
            <c:spPr>
              <a:solidFill>
                <a:srgbClr val="006B47"/>
              </a:solidFill>
            </c:spPr>
          </c:dPt>
          <c:dPt>
            <c:idx val="4"/>
            <c:spPr>
              <a:solidFill>
                <a:srgbClr val="006B47"/>
              </a:solidFill>
            </c:spPr>
          </c:dPt>
          <c:dPt>
            <c:idx val="5"/>
            <c:spPr>
              <a:solidFill>
                <a:srgbClr val="B5BDB9"/>
              </a:solidFill>
            </c:spPr>
          </c:dPt>
          <c:dPt>
            <c:idx val="6"/>
            <c:spPr>
              <a:solidFill>
                <a:srgbClr val="0C2A21"/>
              </a:solidFill>
            </c:spPr>
          </c:dPt>
          <c:dLbls>
            <c:dLbl>
              <c:idx val="0"/>
              <c:tx>
                <c:rich>
                  <a:bodyPr/>
                  <a:lstStyle/>
                  <a:p>
                    <a:r>
                      <a:rPr sz="1300" b="1">
                        <a:solidFill>
                          <a:srgbClr val="1E2A26"/>
                        </a:solidFill>
                      </a:rPr>
                      <a:t>0.104</a:t>
                    </a:r>
                  </a:p>
                </c:rich>
              </c:tx>
              <c:dLblPos val="inBase"/>
              <c:showLegendKey val="0"/>
              <c:showVal val="1"/>
              <c:showCatName val="0"/>
              <c:showSerName val="0"/>
              <c:showPercent val="0"/>
              <c:showBubbleSize val="0"/>
            </c:dLbl>
            <c:dLbl>
              <c:idx val="1"/>
              <c:tx>
                <c:rich>
                  <a:bodyPr/>
                  <a:lstStyle/>
                  <a:p>
                    <a:r>
                      <a:rPr sz="1300" b="1">
                        <a:solidFill>
                          <a:srgbClr val="1E2A26"/>
                        </a:solidFill>
                      </a:rPr>
                      <a:t>+0.200</a:t>
                    </a:r>
                  </a:p>
                </c:rich>
              </c:tx>
              <c:dLblPos val="inBase"/>
              <c:showLegendKey val="0"/>
              <c:showVal val="1"/>
              <c:showCatName val="0"/>
              <c:showSerName val="0"/>
              <c:showPercent val="0"/>
              <c:showBubbleSize val="0"/>
            </c:dLbl>
            <c:dLbl>
              <c:idx val="2"/>
              <c:tx>
                <c:rich>
                  <a:bodyPr/>
                  <a:lstStyle/>
                  <a:p>
                    <a:r>
                      <a:rPr sz="1300" b="1">
                        <a:solidFill>
                          <a:srgbClr val="1E2A26"/>
                        </a:solidFill>
                      </a:rPr>
                      <a:t>+0.000</a:t>
                    </a:r>
                  </a:p>
                </c:rich>
              </c:tx>
              <c:dLblPos val="inBase"/>
              <c:showLegendKey val="0"/>
              <c:showVal val="1"/>
              <c:showCatName val="0"/>
              <c:showSerName val="0"/>
              <c:showPercent val="0"/>
              <c:showBubbleSize val="0"/>
            </c:dLbl>
            <c:dLbl>
              <c:idx val="3"/>
              <c:tx>
                <c:rich>
                  <a:bodyPr/>
                  <a:lstStyle/>
                  <a:p>
                    <a:r>
                      <a:rPr sz="1300" b="1">
                        <a:solidFill>
                          <a:srgbClr val="1E2A26"/>
                        </a:solidFill>
                      </a:rPr>
                      <a:t>+0.002</a:t>
                    </a:r>
                  </a:p>
                </c:rich>
              </c:tx>
              <c:dLblPos val="inBase"/>
              <c:showLegendKey val="0"/>
              <c:showVal val="1"/>
              <c:showCatName val="0"/>
              <c:showSerName val="0"/>
              <c:showPercent val="0"/>
              <c:showBubbleSize val="0"/>
            </c:dLbl>
            <c:dLbl>
              <c:idx val="4"/>
              <c:tx>
                <c:rich>
                  <a:bodyPr/>
                  <a:lstStyle/>
                  <a:p>
                    <a:r>
                      <a:rPr sz="1300" b="1">
                        <a:solidFill>
                          <a:srgbClr val="1E2A26"/>
                        </a:solidFill>
                      </a:rPr>
                      <a:t>+0.003</a:t>
                    </a:r>
                  </a:p>
                </c:rich>
              </c:tx>
              <c:dLblPos val="inBase"/>
              <c:showLegendKey val="0"/>
              <c:showVal val="1"/>
              <c:showCatName val="0"/>
              <c:showSerName val="0"/>
              <c:showPercent val="0"/>
              <c:showBubbleSize val="0"/>
            </c:dLbl>
            <c:dLbl>
              <c:idx val="6"/>
              <c:tx>
                <c:rich>
                  <a:bodyPr/>
                  <a:lstStyle/>
                  <a:p>
                    <a:r>
                      <a:rPr sz="1300" b="1">
                        <a:solidFill>
                          <a:srgbClr val="1E2A26"/>
                        </a:solidFill>
                      </a:rPr>
                      <a:t>0.296</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Baseline</c:v>
                </c:pt>
                <c:pt idx="1">
                  <c:v>+ Class weights</c:v>
                </c:pt>
                <c:pt idx="2">
                  <c:v>+ Group rare types</c:v>
                </c:pt>
                <c:pt idx="3">
                  <c:v>+ Promised time</c:v>
                </c:pt>
                <c:pt idx="4">
                  <c:v>+ Weekday, hour</c:v>
                </c:pt>
                <c:pt idx="5">
                  <c:v>+ Workload</c:v>
                </c:pt>
                <c:pt idx="6">
                  <c:v>Result</c:v>
                </c:pt>
              </c:strCache>
            </c:strRef>
          </c:cat>
          <c:val>
            <c:numRef>
              <c:f>Sheet1!$C$2:$C$8</c:f>
              <c:numCache>
                <c:formatCode>General</c:formatCode>
                <c:ptCount val="7"/>
                <c:pt idx="0">
                  <c:v>0.104</c:v>
                </c:pt>
                <c:pt idx="1">
                  <c:v>0.2</c:v>
                </c:pt>
                <c:pt idx="2">
                  <c:v>0.0015</c:v>
                </c:pt>
                <c:pt idx="3">
                  <c:v>0.002</c:v>
                </c:pt>
                <c:pt idx="4">
                  <c:v>0.003</c:v>
                </c:pt>
                <c:pt idx="5">
                  <c:v>0</c:v>
                </c:pt>
                <c:pt idx="6">
                  <c:v>0.296</c:v>
                </c:pt>
              </c:numCache>
            </c:numRef>
          </c:val>
        </c:ser>
        <c:ser>
          <c:idx val="2"/>
          <c:order val="2"/>
          <c:tx>
            <c:strRef>
              <c:f>Sheet1!$D$1</c:f>
              <c:strCache>
                <c:ptCount val="1"/>
                <c:pt idx="0">
                  <c:v>down</c:v>
                </c:pt>
              </c:strCache>
            </c:strRef>
          </c:tx>
          <c:dPt>
            <c:idx val="0"/>
            <c:spPr>
              <a:solidFill>
                <a:srgbClr val="C0392B"/>
              </a:solidFill>
            </c:spPr>
          </c:dPt>
          <c:dPt>
            <c:idx val="1"/>
            <c:spPr>
              <a:solidFill>
                <a:srgbClr val="C0392B"/>
              </a:solidFill>
            </c:spPr>
          </c:dPt>
          <c:dPt>
            <c:idx val="2"/>
            <c:spPr>
              <a:solidFill>
                <a:srgbClr val="C0392B"/>
              </a:solidFill>
            </c:spPr>
          </c:dPt>
          <c:dPt>
            <c:idx val="3"/>
            <c:spPr>
              <a:solidFill>
                <a:srgbClr val="C0392B"/>
              </a:solidFill>
            </c:spPr>
          </c:dPt>
          <c:dPt>
            <c:idx val="4"/>
            <c:spPr>
              <a:solidFill>
                <a:srgbClr val="C0392B"/>
              </a:solidFill>
            </c:spPr>
          </c:dPt>
          <c:dPt>
            <c:idx val="5"/>
            <c:spPr>
              <a:solidFill>
                <a:srgbClr val="C0392B"/>
              </a:solidFill>
            </c:spPr>
          </c:dPt>
          <c:dPt>
            <c:idx val="6"/>
            <c:spPr>
              <a:solidFill>
                <a:srgbClr val="C0392B"/>
              </a:solidFill>
            </c:spPr>
          </c:dPt>
          <c:dLbls>
            <c:dLbl>
              <c:idx val="5"/>
              <c:tx>
                <c:rich>
                  <a:bodyPr/>
                  <a:lstStyle/>
                  <a:p>
                    <a:r>
                      <a:rPr sz="1300" b="1">
                        <a:solidFill>
                          <a:srgbClr val="1E2A26"/>
                        </a:solidFill>
                      </a:rPr>
                      <a:t>-0.013</a:t>
                    </a:r>
                  </a:p>
                </c:rich>
              </c:tx>
              <c:dLblPos val="inBase"/>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Baseline</c:v>
                </c:pt>
                <c:pt idx="1">
                  <c:v>+ Class weights</c:v>
                </c:pt>
                <c:pt idx="2">
                  <c:v>+ Group rare types</c:v>
                </c:pt>
                <c:pt idx="3">
                  <c:v>+ Promised time</c:v>
                </c:pt>
                <c:pt idx="4">
                  <c:v>+ Weekday, hour</c:v>
                </c:pt>
                <c:pt idx="5">
                  <c:v>+ Workload</c:v>
                </c:pt>
                <c:pt idx="6">
                  <c:v>Result</c:v>
                </c:pt>
              </c:strCache>
            </c:strRef>
          </c:cat>
          <c:val>
            <c:numRef>
              <c:f>Sheet1!$D$2:$D$8</c:f>
              <c:numCache>
                <c:formatCode>General</c:formatCode>
                <c:ptCount val="7"/>
                <c:pt idx="0">
                  <c:v>0</c:v>
                </c:pt>
                <c:pt idx="1">
                  <c:v>0</c:v>
                </c:pt>
                <c:pt idx="2">
                  <c:v>0</c:v>
                </c:pt>
                <c:pt idx="3">
                  <c:v>0</c:v>
                </c:pt>
                <c:pt idx="4">
                  <c:v>0</c:v>
                </c:pt>
                <c:pt idx="5">
                  <c:v>0.013</c:v>
                </c:pt>
                <c:pt idx="6">
                  <c:v>0</c:v>
                </c:pt>
              </c:numCache>
            </c:numRef>
          </c:val>
        </c:ser>
        <c:gapWidth val="45"/>
        <c:overlap val="10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0.34"/>
          <c:min val="0.0"/>
        </c:scaling>
        <c:delete/>
        <c:axPos val="l"/>
        <c:majorTickMark val="out"/>
        <c:minorTickMark val="none"/>
        <c:tickLblPos val="nextTo"/>
        <c:crossAx val="-2068027336"/>
        <c:crosses val="autoZero"/>
      </c:valAx>
    </c:plotArea>
    <c:dispBlanksAs val="gap"/>
  </c:chart>
  <c:txPr>
    <a:bodyPr/>
    <a:lstStyle/>
    <a:p>
      <a:pPr>
        <a:defRPr sz="1200">
          <a:solidFill>
            <a:srgbClr val="1E2A2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varyColors val="0"/>
        <c:ser>
          <c:idx val="0"/>
          <c:order val="0"/>
          <c:tx>
            <c:strRef>
              <c:f>Sheet1!$B$1</c:f>
              <c:strCache>
                <c:ptCount val="1"/>
                <c:pt idx="0">
                  <c:v>s</c:v>
                </c:pt>
              </c:strCache>
            </c:strRef>
          </c:tx>
          <c:dPt>
            <c:idx val="0"/>
            <c:spPr>
              <a:solidFill>
                <a:srgbClr val="006B47"/>
              </a:solidFill>
            </c:spPr>
          </c:dPt>
          <c:dPt>
            <c:idx val="1"/>
            <c:spPr>
              <a:solidFill>
                <a:srgbClr val="006B47"/>
              </a:solidFill>
            </c:spPr>
          </c:dPt>
          <c:dPt>
            <c:idx val="2"/>
            <c:spPr>
              <a:solidFill>
                <a:srgbClr val="006B47"/>
              </a:solidFill>
            </c:spPr>
          </c:dPt>
          <c:dPt>
            <c:idx val="3"/>
            <c:spPr>
              <a:solidFill>
                <a:srgbClr val="006B47"/>
              </a:solidFill>
            </c:spPr>
          </c:dPt>
          <c:dPt>
            <c:idx val="4"/>
            <c:spPr>
              <a:solidFill>
                <a:srgbClr val="006B47"/>
              </a:solidFill>
            </c:spPr>
          </c:dPt>
          <c:dPt>
            <c:idx val="5"/>
            <c:spPr>
              <a:solidFill>
                <a:srgbClr val="006B47"/>
              </a:solidFill>
            </c:spPr>
          </c:dPt>
          <c:dPt>
            <c:idx val="6"/>
            <c:spPr>
              <a:solidFill>
                <a:srgbClr val="006B47"/>
              </a:solidFill>
            </c:spPr>
          </c:dPt>
          <c:dPt>
            <c:idx val="7"/>
            <c:spPr>
              <a:solidFill>
                <a:srgbClr val="006B47"/>
              </a:solidFill>
            </c:spPr>
          </c:dPt>
          <c:dPt>
            <c:idx val="8"/>
            <c:spPr>
              <a:solidFill>
                <a:srgbClr val="006B47"/>
              </a:solidFill>
            </c:spPr>
          </c:dPt>
          <c:dPt>
            <c:idx val="9"/>
            <c:spPr>
              <a:solidFill>
                <a:srgbClr val="006B47"/>
              </a:solidFill>
            </c:spPr>
          </c:dPt>
          <c:cat>
            <c:strRef>
              <c:f>Sheet1!$A$2:$A$11</c:f>
              <c:strCache>
                <c:ptCount val="10"/>
                <c:pt idx="0">
                  <c:v>0-215</c:v>
                </c:pt>
                <c:pt idx="1">
                  <c:v>215-336</c:v>
                </c:pt>
                <c:pt idx="2">
                  <c:v>336-432</c:v>
                </c:pt>
                <c:pt idx="3">
                  <c:v>432-560</c:v>
                </c:pt>
                <c:pt idx="4">
                  <c:v>560-710</c:v>
                </c:pt>
                <c:pt idx="5">
                  <c:v>710-933</c:v>
                </c:pt>
                <c:pt idx="6">
                  <c:v>933-2,113</c:v>
                </c:pt>
                <c:pt idx="7">
                  <c:v>2,113-2,617</c:v>
                </c:pt>
                <c:pt idx="8">
                  <c:v>2,617-2,971</c:v>
                </c:pt>
                <c:pt idx="9">
                  <c:v>2,971-7,290</c:v>
                </c:pt>
              </c:strCache>
            </c:strRef>
          </c:cat>
          <c:val>
            <c:numRef>
              <c:f>Sheet1!$B$2:$B$11</c:f>
              <c:numCache>
                <c:formatCode>General</c:formatCode>
                <c:ptCount val="10"/>
                <c:pt idx="0">
                  <c:v>0.10017302285343523</c:v>
                </c:pt>
                <c:pt idx="1">
                  <c:v>0.14950537944977976</c:v>
                </c:pt>
                <c:pt idx="2">
                  <c:v>0.1440011595463275</c:v>
                </c:pt>
                <c:pt idx="3">
                  <c:v>0.12056095086244384</c:v>
                </c:pt>
                <c:pt idx="4">
                  <c:v>0.08624918837024746</c:v>
                </c:pt>
                <c:pt idx="5">
                  <c:v>0.10391829020063972</c:v>
                </c:pt>
                <c:pt idx="6">
                  <c:v>0.07818781008945062</c:v>
                </c:pt>
                <c:pt idx="7">
                  <c:v>0.10336356082228404</c:v>
                </c:pt>
                <c:pt idx="8">
                  <c:v>0.11246695875728718</c:v>
                </c:pt>
                <c:pt idx="9">
                  <c:v>0.12223751902036084</c:v>
                </c:pt>
              </c:numCache>
            </c:numRef>
          </c:val>
        </c:ser>
        <c:dLbls>
          <c:numFmt formatCode="0%" sourceLinked="0"/>
          <c:txPr>
            <a:bodyPr/>
            <a:lstStyle/>
            <a:p>
              <a:pPr>
                <a:defRPr sz="1100" b="1">
                  <a:solidFill>
                    <a:srgbClr val="1E2A26"/>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nextTo"/>
        <c:spPr>
          <a:ln>
            <a:solidFill>
              <a:srgbClr val="B5BDB9"/>
            </a:solidFill>
          </a:ln>
        </c:spPr>
        <c:txPr>
          <a:bodyPr/>
          <a:lstStyle/>
          <a:p>
            <a:pPr>
              <a:defRPr sz="1100"/>
            </a:pPr>
          </a:p>
        </c:txPr>
        <c:crossAx val="-2113994440"/>
        <c:crosses val="autoZero"/>
        <c:auto val="1"/>
        <c:lblAlgn val="ctr"/>
        <c:lblOffset val="100"/>
        <c:noMultiLvlLbl val="0"/>
      </c:catAx>
      <c:valAx>
        <c:axId val="-2113994440"/>
        <c:scaling>
          <c:max val="0.18"/>
          <c:min val="0.0"/>
        </c:scaling>
        <c:delete/>
        <c:axPos val="l"/>
        <c:majorTickMark val="out"/>
        <c:minorTickMark val="none"/>
        <c:tickLblPos val="nextTo"/>
        <c:crossAx val="-2068027336"/>
        <c:crosses val="autoZero"/>
      </c:valAx>
    </c:plotArea>
    <c:dispBlanksAs val="gap"/>
  </c:chart>
  <c:txPr>
    <a:bodyPr/>
    <a:lstStyle/>
    <a:p>
      <a:pPr>
        <a:defRPr sz="1100">
          <a:solidFill>
            <a:srgbClr val="1E2A2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B5BDB9"/>
              </a:solidFill>
            </c:spPr>
          </c:dPt>
          <c:dPt>
            <c:idx val="1"/>
            <c:spPr>
              <a:solidFill>
                <a:srgbClr val="B5BDB9"/>
              </a:solidFill>
            </c:spPr>
          </c:dPt>
          <c:dPt>
            <c:idx val="2"/>
            <c:spPr>
              <a:solidFill>
                <a:srgbClr val="B5BDB9"/>
              </a:solidFill>
            </c:spPr>
          </c:dPt>
          <c:dPt>
            <c:idx val="3"/>
            <c:spPr>
              <a:solidFill>
                <a:srgbClr val="F5B800"/>
              </a:solidFill>
            </c:spPr>
          </c:dPt>
          <c:cat>
            <c:strRef>
              <c:f>Sheet1!$A$2:$A$5</c:f>
              <c:strCache>
                <c:ptCount val="4"/>
                <c:pt idx="0">
                  <c:v>Logistic regression</c:v>
                </c:pt>
                <c:pt idx="1">
                  <c:v>Decision tree</c:v>
                </c:pt>
                <c:pt idx="2">
                  <c:v>Random forest</c:v>
                </c:pt>
                <c:pt idx="3">
                  <c:v>Gradient boosting</c:v>
                </c:pt>
              </c:strCache>
            </c:strRef>
          </c:cat>
          <c:val>
            <c:numRef>
              <c:f>Sheet1!$B$2:$B$5</c:f>
              <c:numCache>
                <c:formatCode>General</c:formatCode>
                <c:ptCount val="4"/>
                <c:pt idx="0">
                  <c:v>0.266</c:v>
                </c:pt>
                <c:pt idx="1">
                  <c:v>0.249</c:v>
                </c:pt>
                <c:pt idx="2">
                  <c:v>0.273</c:v>
                </c:pt>
                <c:pt idx="3">
                  <c:v>0.297</c:v>
                </c:pt>
              </c:numCache>
            </c:numRef>
          </c:val>
        </c:ser>
        <c:dLbls>
          <c:numFmt formatCode="0.000" sourceLinked="0"/>
          <c:txPr>
            <a:bodyPr/>
            <a:lstStyle/>
            <a:p>
              <a:pPr>
                <a:defRPr sz="1400" b="1">
                  <a:solidFill>
                    <a:srgbClr val="1E2A26"/>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B5BDB9"/>
            </a:solidFill>
          </a:ln>
        </c:spPr>
        <c:txPr>
          <a:bodyPr/>
          <a:lstStyle/>
          <a:p>
            <a:pPr>
              <a:defRPr sz="1400"/>
            </a:pPr>
          </a:p>
        </c:txPr>
        <c:crossAx val="-2113994440"/>
        <c:crosses val="autoZero"/>
        <c:auto val="1"/>
        <c:lblAlgn val="ctr"/>
        <c:lblOffset val="100"/>
        <c:noMultiLvlLbl val="0"/>
      </c:catAx>
      <c:valAx>
        <c:axId val="-2113994440"/>
        <c:scaling>
          <c:max val="0.36"/>
          <c:min val="0.0"/>
        </c:scaling>
        <c:delete/>
        <c:axPos val="b"/>
        <c:majorTickMark val="out"/>
        <c:minorTickMark val="none"/>
        <c:tickLblPos val="nextTo"/>
        <c:crossAx val="-2068027336"/>
        <c:crosses val="autoZero"/>
      </c:valAx>
    </c:plotArea>
    <c:dispBlanksAs val="gap"/>
  </c:chart>
  <c:txPr>
    <a:bodyPr/>
    <a:lstStyle/>
    <a:p>
      <a:pPr>
        <a:defRPr sz="1400">
          <a:solidFill>
            <a:srgbClr val="1E2A2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F5B800"/>
              </a:solidFill>
            </c:spPr>
          </c:dPt>
          <c:dPt>
            <c:idx val="1"/>
            <c:spPr>
              <a:solidFill>
                <a:srgbClr val="006B47"/>
              </a:solidFill>
            </c:spPr>
          </c:dPt>
          <c:dPt>
            <c:idx val="2"/>
            <c:spPr>
              <a:solidFill>
                <a:srgbClr val="B5BDB9"/>
              </a:solidFill>
            </c:spPr>
          </c:dPt>
          <c:dPt>
            <c:idx val="3"/>
            <c:spPr>
              <a:solidFill>
                <a:srgbClr val="B5BDB9"/>
              </a:solidFill>
            </c:spPr>
          </c:dPt>
          <c:dPt>
            <c:idx val="4"/>
            <c:spPr>
              <a:solidFill>
                <a:srgbClr val="B5BDB9"/>
              </a:solidFill>
            </c:spPr>
          </c:dPt>
          <c:dPt>
            <c:idx val="5"/>
            <c:spPr>
              <a:solidFill>
                <a:srgbClr val="B5BDB9"/>
              </a:solidFill>
            </c:spPr>
          </c:dPt>
          <c:dPt>
            <c:idx val="6"/>
            <c:spPr>
              <a:solidFill>
                <a:srgbClr val="B5BDB9"/>
              </a:solidFill>
            </c:spPr>
          </c:dPt>
          <c:cat>
            <c:strRef>
              <c:f>Sheet1!$A$2:$A$8</c:f>
              <c:strCache>
                <c:ptCount val="7"/>
                <c:pt idx="0">
                  <c:v>Request type</c:v>
                </c:pt>
                <c:pt idx="1">
                  <c:v>Department workload</c:v>
                </c:pt>
                <c:pt idx="2">
                  <c:v>Latitude</c:v>
                </c:pt>
                <c:pt idx="3">
                  <c:v>Promised time</c:v>
                </c:pt>
                <c:pt idx="4">
                  <c:v>Council district</c:v>
                </c:pt>
                <c:pt idx="5">
                  <c:v>Longitude</c:v>
                </c:pt>
                <c:pt idx="6">
                  <c:v>Hour filed</c:v>
                </c:pt>
              </c:strCache>
            </c:strRef>
          </c:cat>
          <c:val>
            <c:numRef>
              <c:f>Sheet1!$B$2:$B$8</c:f>
              <c:numCache>
                <c:formatCode>General</c:formatCode>
                <c:ptCount val="7"/>
                <c:pt idx="0">
                  <c:v>0.218063174544283</c:v>
                </c:pt>
                <c:pt idx="1">
                  <c:v>0.01931736909102307</c:v>
                </c:pt>
                <c:pt idx="2">
                  <c:v>0.008604874561404371</c:v>
                </c:pt>
                <c:pt idx="3">
                  <c:v>0.007904799052742587</c:v>
                </c:pt>
                <c:pt idx="4">
                  <c:v>0.006950098372223361</c:v>
                </c:pt>
                <c:pt idx="5">
                  <c:v>0.006891749252625257</c:v>
                </c:pt>
                <c:pt idx="6">
                  <c:v>0.003949128341459662</c:v>
                </c:pt>
              </c:numCache>
            </c:numRef>
          </c:val>
        </c:ser>
        <c:dLbls>
          <c:numFmt formatCode="0.000" sourceLinked="0"/>
          <c:txPr>
            <a:bodyPr/>
            <a:lstStyle/>
            <a:p>
              <a:pPr>
                <a:defRPr sz="1300" b="1">
                  <a:solidFill>
                    <a:srgbClr val="1E2A26"/>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B5BDB9"/>
            </a:solidFill>
          </a:ln>
        </c:spPr>
        <c:txPr>
          <a:bodyPr/>
          <a:lstStyle/>
          <a:p>
            <a:pPr>
              <a:defRPr sz="1300"/>
            </a:pPr>
          </a:p>
        </c:txPr>
        <c:crossAx val="-2113994440"/>
        <c:crosses val="autoZero"/>
        <c:auto val="1"/>
        <c:lblAlgn val="ctr"/>
        <c:lblOffset val="100"/>
        <c:noMultiLvlLbl val="0"/>
      </c:catAx>
      <c:valAx>
        <c:axId val="-2113994440"/>
        <c:scaling>
          <c:max val="0.27"/>
          <c:min val="0.0"/>
        </c:scaling>
        <c:delete/>
        <c:axPos val="b"/>
        <c:majorTickMark val="out"/>
        <c:minorTickMark val="none"/>
        <c:tickLblPos val="nextTo"/>
        <c:crossAx val="-2068027336"/>
        <c:crosses val="autoZero"/>
      </c:valAx>
    </c:plotArea>
    <c:dispBlanksAs val="gap"/>
  </c:chart>
  <c:txPr>
    <a:bodyPr/>
    <a:lstStyle/>
    <a:p>
      <a:pPr>
        <a:defRPr sz="1300">
          <a:solidFill>
            <a:srgbClr val="1E2A2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varyColors val="0"/>
        <c:ser>
          <c:idx val="0"/>
          <c:order val="0"/>
          <c:tx>
            <c:strRef>
              <c:f>Sheet1!$B$1</c:f>
              <c:strCache>
                <c:ptCount val="1"/>
                <c:pt idx="0">
                  <c:v>s</c:v>
                </c:pt>
              </c:strCache>
            </c:strRef>
          </c:tx>
          <c:dPt>
            <c:idx val="0"/>
            <c:spPr>
              <a:solidFill>
                <a:srgbClr val="006B47"/>
              </a:solidFill>
            </c:spPr>
          </c:dPt>
          <c:dPt>
            <c:idx val="1"/>
            <c:spPr>
              <a:solidFill>
                <a:srgbClr val="006B47"/>
              </a:solidFill>
            </c:spPr>
          </c:dPt>
          <c:dPt>
            <c:idx val="2"/>
            <c:spPr>
              <a:solidFill>
                <a:srgbClr val="006B47"/>
              </a:solidFill>
            </c:spPr>
          </c:dPt>
          <c:dPt>
            <c:idx val="3"/>
            <c:spPr>
              <a:solidFill>
                <a:srgbClr val="006B47"/>
              </a:solidFill>
            </c:spPr>
          </c:dPt>
          <c:dPt>
            <c:idx val="4"/>
            <c:spPr>
              <a:solidFill>
                <a:srgbClr val="F5B800"/>
              </a:solidFill>
            </c:spPr>
          </c:dPt>
          <c:dPt>
            <c:idx val="5"/>
            <c:spPr>
              <a:solidFill>
                <a:srgbClr val="F5B800"/>
              </a:solidFill>
            </c:spPr>
          </c:dPt>
          <c:cat>
            <c:strRef>
              <c:f>Sheet1!$A$2:$A$7</c:f>
              <c:strCache>
                <c:ptCount val="6"/>
                <c:pt idx="0">
                  <c:v>Animal Services</c:v>
                </c:pt>
                <c:pt idx="1">
                  <c:v>Police Department</c:v>
                </c:pt>
                <c:pt idx="2">
                  <c:v>Water Utilities</c:v>
                </c:pt>
                <c:pt idx="3">
                  <c:v>Code Compliance</c:v>
                </c:pt>
                <c:pt idx="4">
                  <c:v>Sanitation</c:v>
                </c:pt>
                <c:pt idx="5">
                  <c:v>Transportation &amp; Public Works</c:v>
                </c:pt>
              </c:strCache>
            </c:strRef>
          </c:cat>
          <c:val>
            <c:numRef>
              <c:f>Sheet1!$B$2:$B$7</c:f>
              <c:numCache>
                <c:formatCode>General</c:formatCode>
                <c:ptCount val="6"/>
                <c:pt idx="0">
                  <c:v>0.8535657686212361</c:v>
                </c:pt>
                <c:pt idx="1">
                  <c:v>0.6932084309133489</c:v>
                </c:pt>
                <c:pt idx="2">
                  <c:v>0.6324786324786325</c:v>
                </c:pt>
                <c:pt idx="3">
                  <c:v>0.5611814345991561</c:v>
                </c:pt>
                <c:pt idx="4">
                  <c:v>0.391304347826087</c:v>
                </c:pt>
                <c:pt idx="5">
                  <c:v>0.3211192538307795</c:v>
                </c:pt>
              </c:numCache>
            </c:numRef>
          </c:val>
        </c:ser>
        <c:dLbls>
          <c:numFmt formatCode="0%" sourceLinked="0"/>
          <c:txPr>
            <a:bodyPr/>
            <a:lstStyle/>
            <a:p>
              <a:pPr>
                <a:defRPr sz="1300" b="1">
                  <a:solidFill>
                    <a:srgbClr val="1E2A26"/>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B5BDB9"/>
            </a:solidFill>
          </a:ln>
        </c:spPr>
        <c:txPr>
          <a:bodyPr/>
          <a:lstStyle/>
          <a:p>
            <a:pPr>
              <a:defRPr sz="1300"/>
            </a:pPr>
          </a:p>
        </c:txPr>
        <c:crossAx val="-2113994440"/>
        <c:crosses val="autoZero"/>
        <c:auto val="1"/>
        <c:lblAlgn val="ctr"/>
        <c:lblOffset val="100"/>
        <c:noMultiLvlLbl val="0"/>
      </c:catAx>
      <c:valAx>
        <c:axId val="-2113994440"/>
        <c:scaling>
          <c:max val="1.05"/>
          <c:min val="0.0"/>
        </c:scaling>
        <c:delete/>
        <c:axPos val="b"/>
        <c:majorTickMark val="out"/>
        <c:minorTickMark val="none"/>
        <c:tickLblPos val="nextTo"/>
        <c:crossAx val="-2068027336"/>
        <c:crosses val="autoZero"/>
      </c:valAx>
    </c:plotArea>
    <c:dispBlanksAs val="gap"/>
  </c:chart>
  <c:txPr>
    <a:bodyPr/>
    <a:lstStyle/>
    <a:p>
      <a:pPr>
        <a:defRPr sz="1300">
          <a:solidFill>
            <a:srgbClr val="1E2A2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Precision</c:v>
                </c:pt>
              </c:strCache>
            </c:strRef>
          </c:tx>
          <c:spPr>
            <a:ln w="34925">
              <a:solidFill>
                <a:srgbClr val="006B47"/>
              </a:solidFill>
            </a:ln>
          </c:spPr>
          <c:marker>
            <c:spPr>
              <a:solidFill>
                <a:srgbClr val="006B47"/>
              </a:solidFill>
              <a:ln>
                <a:solidFill>
                  <a:srgbClr val="006B47"/>
                </a:solidFill>
              </a:ln>
            </c:spPr>
          </c:marker>
          <c:cat>
            <c:strRef>
              <c:f>Sheet1!$A$2:$A$14</c:f>
              <c:strCache>
                <c:ptCount val="13"/>
                <c:pt idx="0">
                  <c:v>0.30</c:v>
                </c:pt>
                <c:pt idx="1">
                  <c:v>0.35</c:v>
                </c:pt>
                <c:pt idx="2">
                  <c:v>0.40</c:v>
                </c:pt>
                <c:pt idx="3">
                  <c:v>0.45</c:v>
                </c:pt>
                <c:pt idx="4">
                  <c:v>0.50</c:v>
                </c:pt>
                <c:pt idx="5">
                  <c:v>0.55</c:v>
                </c:pt>
                <c:pt idx="6">
                  <c:v>0.60</c:v>
                </c:pt>
                <c:pt idx="7">
                  <c:v>0.65</c:v>
                </c:pt>
                <c:pt idx="8">
                  <c:v>0.70</c:v>
                </c:pt>
                <c:pt idx="9">
                  <c:v>0.75</c:v>
                </c:pt>
                <c:pt idx="10">
                  <c:v>0.80</c:v>
                </c:pt>
                <c:pt idx="11">
                  <c:v>0.85</c:v>
                </c:pt>
                <c:pt idx="12">
                  <c:v>0.90</c:v>
                </c:pt>
              </c:strCache>
            </c:strRef>
          </c:cat>
          <c:val>
            <c:numRef>
              <c:f>Sheet1!$B$2:$B$14</c:f>
              <c:numCache>
                <c:formatCode>General</c:formatCode>
                <c:ptCount val="13"/>
                <c:pt idx="0">
                  <c:v>0.1612991694091835</c:v>
                </c:pt>
                <c:pt idx="1">
                  <c:v>0.16718424299144935</c:v>
                </c:pt>
                <c:pt idx="2">
                  <c:v>0.17668939863608182</c:v>
                </c:pt>
                <c:pt idx="3">
                  <c:v>0.18965891809689334</c:v>
                </c:pt>
                <c:pt idx="4">
                  <c:v>0.20441506610127214</c:v>
                </c:pt>
                <c:pt idx="5">
                  <c:v>0.2176806771323157</c:v>
                </c:pt>
                <c:pt idx="6">
                  <c:v>0.23032466428692844</c:v>
                </c:pt>
                <c:pt idx="7">
                  <c:v>0.24453798356384046</c:v>
                </c:pt>
                <c:pt idx="8">
                  <c:v>0.2651274895344412</c:v>
                </c:pt>
                <c:pt idx="9">
                  <c:v>0.3009195852083741</c:v>
                </c:pt>
                <c:pt idx="10">
                  <c:v>0.3672055427251732</c:v>
                </c:pt>
                <c:pt idx="11">
                  <c:v>0.5294627383015598</c:v>
                </c:pt>
                <c:pt idx="12">
                  <c:v>0.7540687160940326</c:v>
                </c:pt>
              </c:numCache>
            </c:numRef>
          </c:val>
          <c:smooth val="0"/>
        </c:ser>
        <c:ser>
          <c:idx val="1"/>
          <c:order val="1"/>
          <c:tx>
            <c:strRef>
              <c:f>Sheet1!$C$1</c:f>
              <c:strCache>
                <c:ptCount val="1"/>
                <c:pt idx="0">
                  <c:v>Recall</c:v>
                </c:pt>
              </c:strCache>
            </c:strRef>
          </c:tx>
          <c:spPr>
            <a:ln w="34925">
              <a:solidFill>
                <a:srgbClr val="F5B800"/>
              </a:solidFill>
            </a:ln>
          </c:spPr>
          <c:marker>
            <c:spPr>
              <a:solidFill>
                <a:srgbClr val="F5B800"/>
              </a:solidFill>
              <a:ln>
                <a:solidFill>
                  <a:srgbClr val="F5B800"/>
                </a:solidFill>
              </a:ln>
            </c:spPr>
          </c:marker>
          <c:cat>
            <c:strRef>
              <c:f>Sheet1!$A$2:$A$14</c:f>
              <c:strCache>
                <c:ptCount val="13"/>
                <c:pt idx="0">
                  <c:v>0.30</c:v>
                </c:pt>
                <c:pt idx="1">
                  <c:v>0.35</c:v>
                </c:pt>
                <c:pt idx="2">
                  <c:v>0.40</c:v>
                </c:pt>
                <c:pt idx="3">
                  <c:v>0.45</c:v>
                </c:pt>
                <c:pt idx="4">
                  <c:v>0.50</c:v>
                </c:pt>
                <c:pt idx="5">
                  <c:v>0.55</c:v>
                </c:pt>
                <c:pt idx="6">
                  <c:v>0.60</c:v>
                </c:pt>
                <c:pt idx="7">
                  <c:v>0.65</c:v>
                </c:pt>
                <c:pt idx="8">
                  <c:v>0.70</c:v>
                </c:pt>
                <c:pt idx="9">
                  <c:v>0.75</c:v>
                </c:pt>
                <c:pt idx="10">
                  <c:v>0.80</c:v>
                </c:pt>
                <c:pt idx="11">
                  <c:v>0.85</c:v>
                </c:pt>
                <c:pt idx="12">
                  <c:v>0.90</c:v>
                </c:pt>
              </c:strCache>
            </c:strRef>
          </c:cat>
          <c:val>
            <c:numRef>
              <c:f>Sheet1!$C$2:$C$14</c:f>
              <c:numCache>
                <c:formatCode>General</c:formatCode>
                <c:ptCount val="13"/>
                <c:pt idx="0">
                  <c:v>0.8516756309474556</c:v>
                </c:pt>
                <c:pt idx="1">
                  <c:v>0.8129913115432355</c:v>
                </c:pt>
                <c:pt idx="2">
                  <c:v>0.7664460074472487</c:v>
                </c:pt>
                <c:pt idx="3">
                  <c:v>0.7223831195697146</c:v>
                </c:pt>
                <c:pt idx="4">
                  <c:v>0.678113363673976</c:v>
                </c:pt>
                <c:pt idx="5">
                  <c:v>0.6224658667769962</c:v>
                </c:pt>
                <c:pt idx="6">
                  <c:v>0.5606123293338849</c:v>
                </c:pt>
                <c:pt idx="7">
                  <c:v>0.5047579644187009</c:v>
                </c:pt>
                <c:pt idx="8">
                  <c:v>0.4323541580471659</c:v>
                </c:pt>
                <c:pt idx="9">
                  <c:v>0.31816301199834507</c:v>
                </c:pt>
                <c:pt idx="10">
                  <c:v>0.19735208936698387</c:v>
                </c:pt>
                <c:pt idx="11">
                  <c:v>0.1263963591228796</c:v>
                </c:pt>
                <c:pt idx="12">
                  <c:v>0.0862639635912288</c:v>
                </c:pt>
              </c:numCache>
            </c:numRef>
          </c:val>
          <c:smooth val="0"/>
        </c:ser>
        <c:ser>
          <c:idx val="2"/>
          <c:order val="2"/>
          <c:tx>
            <c:strRef>
              <c:f>Sheet1!$D$1</c:f>
              <c:strCache>
                <c:ptCount val="1"/>
                <c:pt idx="0">
                  <c:v>F1</c:v>
                </c:pt>
              </c:strCache>
            </c:strRef>
          </c:tx>
          <c:spPr>
            <a:ln w="34925">
              <a:solidFill>
                <a:srgbClr val="0C2A21"/>
              </a:solidFill>
            </a:ln>
          </c:spPr>
          <c:marker>
            <c:spPr>
              <a:solidFill>
                <a:srgbClr val="0C2A21"/>
              </a:solidFill>
              <a:ln>
                <a:solidFill>
                  <a:srgbClr val="0C2A21"/>
                </a:solidFill>
              </a:ln>
            </c:spPr>
          </c:marker>
          <c:cat>
            <c:strRef>
              <c:f>Sheet1!$A$2:$A$14</c:f>
              <c:strCache>
                <c:ptCount val="13"/>
                <c:pt idx="0">
                  <c:v>0.30</c:v>
                </c:pt>
                <c:pt idx="1">
                  <c:v>0.35</c:v>
                </c:pt>
                <c:pt idx="2">
                  <c:v>0.40</c:v>
                </c:pt>
                <c:pt idx="3">
                  <c:v>0.45</c:v>
                </c:pt>
                <c:pt idx="4">
                  <c:v>0.50</c:v>
                </c:pt>
                <c:pt idx="5">
                  <c:v>0.55</c:v>
                </c:pt>
                <c:pt idx="6">
                  <c:v>0.60</c:v>
                </c:pt>
                <c:pt idx="7">
                  <c:v>0.65</c:v>
                </c:pt>
                <c:pt idx="8">
                  <c:v>0.70</c:v>
                </c:pt>
                <c:pt idx="9">
                  <c:v>0.75</c:v>
                </c:pt>
                <c:pt idx="10">
                  <c:v>0.80</c:v>
                </c:pt>
                <c:pt idx="11">
                  <c:v>0.85</c:v>
                </c:pt>
                <c:pt idx="12">
                  <c:v>0.90</c:v>
                </c:pt>
              </c:strCache>
            </c:strRef>
          </c:cat>
          <c:val>
            <c:numRef>
              <c:f>Sheet1!$D$2:$D$14</c:f>
              <c:numCache>
                <c:formatCode>General</c:formatCode>
                <c:ptCount val="13"/>
                <c:pt idx="0">
                  <c:v>0.27122998880031624</c:v>
                </c:pt>
                <c:pt idx="1">
                  <c:v>0.27733672065205883</c:v>
                </c:pt>
                <c:pt idx="2">
                  <c:v>0.2871759097779328</c:v>
                </c:pt>
                <c:pt idx="3">
                  <c:v>0.3004387851673406</c:v>
                </c:pt>
                <c:pt idx="4">
                  <c:v>0.3141351221849545</c:v>
                </c:pt>
                <c:pt idx="5">
                  <c:v>0.32255989708956423</c:v>
                </c:pt>
                <c:pt idx="6">
                  <c:v>0.3265060240963855</c:v>
                </c:pt>
                <c:pt idx="7">
                  <c:v>0.3294625978935998</c:v>
                </c:pt>
                <c:pt idx="8">
                  <c:v>0.3286938743414327</c:v>
                </c:pt>
                <c:pt idx="9">
                  <c:v>0.3093011563599799</c:v>
                </c:pt>
                <c:pt idx="10">
                  <c:v>0.25672766415500536</c:v>
                </c:pt>
                <c:pt idx="11">
                  <c:v>0.2040748162992652</c:v>
                </c:pt>
                <c:pt idx="12">
                  <c:v>0.1548171524039354</c:v>
                </c:pt>
              </c:numCache>
            </c:numRef>
          </c:val>
          <c:smooth val="0"/>
        </c:ser>
        <c:marker val="1"/>
        <c:smooth val="0"/>
        <c:axId val="2118791784"/>
        <c:axId val="2140495176"/>
      </c:lineChart>
      <c:catAx>
        <c:axId val="2118791784"/>
        <c:scaling>
          <c:orientation val="minMax"/>
        </c:scaling>
        <c:delete val="0"/>
        <c:axPos val="b"/>
        <c:title>
          <c:tx>
            <c:rich>
              <a:bodyPr/>
              <a:lstStyle/>
              <a:p>
                <a:r>
                  <a:rPr sz="1300"/>
                  <a:t>Cutoff (validation set)</a:t>
                </a:r>
              </a:p>
            </c:rich>
          </c:tx>
          <c:layout/>
          <c:overlay val="0"/>
        </c:title>
        <c:majorTickMark val="out"/>
        <c:minorTickMark val="none"/>
        <c:tickLblPos val="nextTo"/>
        <c:crossAx val="2140495176"/>
        <c:crosses val="autoZero"/>
        <c:auto val="1"/>
        <c:lblAlgn val="ctr"/>
        <c:lblOffset val="100"/>
        <c:noMultiLvlLbl val="0"/>
      </c:catAx>
      <c:valAx>
        <c:axId val="2140495176"/>
        <c:scaling>
          <c:max val="1.0"/>
          <c:min val="0.0"/>
        </c:scaling>
        <c:delete val="0"/>
        <c:axPos val="l"/>
        <c:majorGridlines>
          <c:spPr>
            <a:ln>
              <a:solidFill>
                <a:srgbClr val="E3E7E5"/>
              </a:solidFill>
            </a:ln>
          </c:spPr>
        </c:majorGridlines>
        <c:numFmt formatCode="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1300">
          <a:solidFill>
            <a:srgbClr val="1E2A26"/>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MATEEN, about 30 seconds]</a:t>
            </a:r>
          </a:p>
          <a:p>
            <a:r>
              <a:t>Good afternoon. We're Mateen, Tej and Alejandro, and our project asks a simple question: will the city be late?</a:t>
            </a:r>
          </a:p>
          <a:p>
            <a:r>
              <a:t>When a Dallas resident reports a pothole, a loose dog or a missed trash pickup through 311, the city promises a due date. In 2025 it missed about 1 in 9 of those promises.</a:t>
            </a:r>
          </a:p>
          <a:p>
            <a:r>
              <a:t>We built a model that predicts, at the moment a request is filed, whether the city will miss its deadline.</a:t>
            </a:r>
          </a:p>
          <a:p>
            <a:r>
              <a:t>I'll cover the problem, the data and how we prepared it. [Speaker 2] will walk through our baseline and models, and [Speaker 3] will cover the results and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MATEEN, about 1 minute]</a:t>
            </a:r>
          </a:p>
          <a:p>
            <a:r>
              <a:t>Here's how a 311 request works, left to right. A resident reports a problem. It's sent to a department, like Animal Services or Sanitation. The city sets a due date based on the type of request. And eventually it's closed, either on time or late. That last step, on time or late, is what we predict.</a:t>
            </a:r>
          </a:p>
          <a:p>
            <a:r>
              <a:t>In 2025, almost 31,000 requests closed late.</a:t>
            </a:r>
          </a:p>
          <a:p>
            <a:r>
              <a:t>It matters because a late repair means a resident waiting longer than promised. Flagging risky requests on day one lets managers act before the deadline passes. That helps department managers, council members and residents.</a:t>
            </a:r>
          </a:p>
          <a:p>
            <a:r>
              <a:t>We chose this topic because it's real local data, the outcome is a clean yes or no, and the data has real cleaning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MATEEN, about 1.5 minutes]</a:t>
            </a:r>
          </a:p>
          <a:p>
            <a:r>
              <a:t>We looked at what others have done with 311 data. This grid compares three earlier projects with ours, in the yellow column on the right.</a:t>
            </a:r>
          </a:p>
          <a:p>
            <a:r>
              <a:t>Los Angeles, 2021: a student team predicted whether a request would take more or less than a week. They got 94% accuracy, then realized about 90% of requests close within a week anyway, so the model was just guessing "fast." Lesson: accuracy misleads on imbalanced data.</a:t>
            </a:r>
          </a:p>
          <a:p>
            <a:r>
              <a:t>Philadelphia: the closest to ours. They predicted whether a request would resolve late using only information available at intake, trained on one year and tested on the next. Their ROC-AUC fell from 0.71 to 0.61 on the new year. Lesson: models drift over time, and we ran into our own version of that.</a:t>
            </a:r>
          </a:p>
          <a:p>
            <a:r>
              <a:t>MuST2-Learn, a 2025 research paper, uses deep learning to predict exact service time. It's far more complex, but it also finds request type is central.</a:t>
            </a:r>
          </a:p>
          <a:p>
            <a:r>
              <a:t>We applied all three lessons.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MATEEN, about 1 minute]</a:t>
            </a:r>
          </a:p>
          <a:p>
            <a:r>
              <a:t>Here's exactly what we set out to do. Our question: using only what's known when a 311 request is filed, can we predict whether Dallas will miss its deadline?</a:t>
            </a:r>
          </a:p>
          <a:p>
            <a:r>
              <a:t>The key phrase is "when it's filed." We can only use information the city has at that moment, and that rule drives a lot of our choices.</a:t>
            </a:r>
          </a:p>
          <a:p>
            <a:r>
              <a:t>Our target is missed_deadline: 1 if the request closed late, 0 if on time. So this is binary classification, one row per request. Our main metric is F1 for the "missed" class, not accuracy. You'll see why soon.</a:t>
            </a:r>
          </a:p>
          <a:p>
            <a:r>
              <a:t>Along the road at the bottom are our four objectives, in the order we worked: build a baseline first, test which steps actually help, compare model types fairly, and understand what drives missed deadlines, including whether the model works equally well across districts.</a:t>
            </a:r>
          </a:p>
          <a:p>
            <a:r>
              <a:t>Success means clearly beating the baseline, with every improvement explained.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MATEEN, about 1.5 minutes]</a:t>
            </a:r>
          </a:p>
          <a:p>
            <a:r>
              <a:t>Our data comes from Dallas OpenData, the city's public 311 dataset. The funnel on the left shows how we got to our modeling data.</a:t>
            </a:r>
          </a:p>
          <a:p>
            <a:r>
              <a:t>We downloaded every closed request created in 2025, about 400,700 of them. About 124,000 have no due date, almost all "Code Concern" requests, which simply don't get a deadline. With no deadline there's nothing to predict, so they're dropped. That leaves 276,378 requests, which we split by month into training, validation and test sets. More on that split in a moment.</a:t>
            </a:r>
          </a:p>
          <a:p>
            <a:r>
              <a:t>On the right is the most important fact about this data: 89% of requests are on time and 11% are late. That imbalance means a model can be 89% accurate by always guessing "on time," while catching nothing.</a:t>
            </a:r>
          </a:p>
          <a:p>
            <a:r>
              <a:t>The source line at the top: the data is public domain, with 16 columns, of which we kept 13. We explored it with pandas summaries, group rates and charts.</a:t>
            </a:r>
          </a:p>
          <a:p>
            <a:r>
              <a:t>Our features are mostly categorical, like request type, department, priority, how the request came in and council district, plus a few numeric ones: the promised time, the hour it was filed and the location.</a:t>
            </a:r>
          </a:p>
          <a:p>
            <a:r>
              <a:t>On the right are the quality problems we found, which I'll cover on the preprocessing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MATEEN, about 1.5 minutes]</a:t>
            </a:r>
          </a:p>
          <a:p>
            <a:r>
              <a:t>Before modeling, we explored the data. Two charts changed what we did next. Yellow bars are worse than average.</a:t>
            </a:r>
          </a:p>
          <a:p>
            <a:r>
              <a:t>On the left is the missed rate for the 12 most common request types. The spread is huge: Animal Services requests like aggressive behavior and lack of care miss about 30% of the time, while dead animal pickup in the same department almost never misses, and high-volume sanitation requests rarely do. That told us request type would be our most important feature.</a:t>
            </a:r>
          </a:p>
          <a:p>
            <a:r>
              <a:t>On the right we compared council districts fairly. Districts get different mixes of requests, so we calculated how often each district should miss given its request types, and divided actual by expected. A value of 1 means "as expected." Districts 13, 12, 11 and 10 miss 12 to 22% more often than their request mix predicts.</a:t>
            </a:r>
          </a:p>
          <a:p>
            <a:r>
              <a:t>That surprised us, and it's why we added a fairness check at the end: if a model helps prioritize requests, it has to work equally well everywhere.</a:t>
            </a:r>
          </a:p>
          <a:p>
            <a:r>
              <a:t>What we expected but didn't find: we assumed urgent requests would run late. In fact High and Emergency priority requests miss only 7 to 9% of the time, and priority added almost nothing to the model. We also expected seasonal patterns; they exist, but as you'll hear, they caused a problem for the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MATEEN, about 1.5 minutes, then hand off]</a:t>
            </a:r>
          </a:p>
          <a:p>
            <a:r>
              <a:t>The course guidelines stress keeping minimum preprocessing separate from later improvements, so we can measure what each step does. The chain at the top right shows where we are: minimum cleaning.</a:t>
            </a:r>
          </a:p>
          <a:p>
            <a:r>
              <a:t>The table is every issue we found, what we did and why. Rows with no due date were dropped, because there's nothing to predict. About 700 rows were missing a district, priority or intake method; that's too few to matter, so we kept them and filled the gap with "Unknown" instead of guessing. Two requests closed before they were opened, which is impossible, so they were dropped. One department appeared under two names, so we merged them. Categories were one-hot encoded because models need numbers.</a:t>
            </a:r>
          </a:p>
          <a:p>
            <a:r>
              <a:t>The most important row is leakage. Closed date, outcome and status are only known after a request is finished, so using them would be cheating. And everything is fit on training data only, inside a pipeline.</a:t>
            </a:r>
          </a:p>
          <a:p>
            <a:r>
              <a:t>The dashed box is what we deliberately held back, including outliers and scaling, to test one at a time later.</a:t>
            </a:r>
          </a:p>
          <a:p>
            <a:r>
              <a:t>At the bottom is our split. We split by month, not randomly, because the city would train on past requests and predict future ones. A random split would let the model peek at the future. We train on January to July, use August and September to compare and tune, and keep October to December locked away, used once at the very end.</a:t>
            </a:r>
          </a:p>
          <a:p>
            <a:r>
              <a:t>Now I'll hand it to [Speaker 2] for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about 1.5 minutes]</a:t>
            </a:r>
          </a:p>
          <a:p>
            <a:r>
              <a:t>Thanks. The baseline is the most important number in the project, because every later result is measured against it. We built two, and everything on this slide is on the validation set.</a:t>
            </a:r>
          </a:p>
          <a:p>
            <a:r>
              <a:t>Model A always predicts "on time." Look at the two bars: 89% accuracy, and zero missed deadlines caught. It looks great and does nothing, which is exactly why accuracy can't be our metric when only 11% of requests miss.</a:t>
            </a:r>
          </a:p>
          <a:p>
            <a:r>
              <a:t>Model B is a real model: logistic regression using only the five minimum features. On the 0-to-1 F1 scale it lands at 0.104. It catches only about 6% of missed deadlines. Its ROC-AUC of 0.72 means it ranks requests decently, but at the default 0.5 cutoff it almost never becomes confident enough to say "missed," because misses are rare.</a:t>
            </a:r>
          </a:p>
          <a:p>
            <a:r>
              <a:t>That's why we use F1. It balances recall, how many real misses we catch, against precision, how many of our flags are correct, so a model can't score well by ignoring the rare class.</a:t>
            </a:r>
          </a:p>
          <a:p>
            <a:r>
              <a:t>So 0.104 is the number to beat.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about 1.5 minutes]</a:t>
            </a:r>
          </a:p>
          <a:p>
            <a:r>
              <a:t>After the baseline, we added one change at a time and measured F1 on the validation set, so we can say exactly which step did what. This waterfall reads left to right: each bar shows how much a step added or took away.</a:t>
            </a:r>
          </a:p>
          <a:p>
            <a:r>
              <a:t>The giant green bar is class weights, which tripled F1 from 0.104 to 0.304. Class weights tell the model that missing a late request costs about 8 times more, so it stops ignoring the rare class.</a:t>
            </a:r>
          </a:p>
          <a:p>
            <a:r>
              <a:t>The next three steps, grouping rare request types, adding the promised time, and adding weekday and hour, barely moved F1. We report them anyway, because the guidelines are clear that steps that don't help are still results.</a:t>
            </a:r>
          </a:p>
          <a:p>
            <a:r>
              <a:t>The red bar is our engineered workload feature. It actually hurt logistic regression slightly, and the next slide explains why we kept it.</a:t>
            </a:r>
          </a:p>
          <a:p>
            <a:r>
              <a:t>Separately, we tried SMOTE, which creates synthetic examples of the rare class, instead of class weights. It scored 0.295 and was about four times slower, so we kept class weights.</a:t>
            </a:r>
          </a:p>
          <a:p>
            <a:r>
              <a:t>One more preprocessing decision: outliers. The promised time ranges from 1 day to about 630 days, and 10% of requests have deadlines over a month. Those are real deadlines, not errors, so instead of removing them we log-transformed the promised time, which compresses the long tail, and then scaled it for logistic regression. Tree models don't need scaling.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about 1.5 minutes]</a:t>
            </a:r>
          </a:p>
          <a:p>
            <a:r>
              <a:t>Feature engineering: we added one feature and removed one.</a:t>
            </a:r>
          </a:p>
          <a:p>
            <a:r>
              <a:t>Added: department workload. For each request, we count how many requests the same department already had open at that moment. The idea is that a department buried in a backlog is more likely to miss a new deadline. It isn't leakage, because at filing time the city already knows which earlier requests are still open.</a:t>
            </a:r>
          </a:p>
          <a:p>
            <a:r>
              <a:t>The chart shows the missed rate at ten backlog levels. The pattern is real but not a straight line: high, then a dip, then rising again. Logistic regression can only use straight-line effects, which is why it hurt that model. Tree models can split this shape into ranges, and in our final model workload becomes the second most important feature.</a:t>
            </a:r>
          </a:p>
          <a:p>
            <a:r>
              <a:t>Removed: the month the request was filed. The EDA showed seasonal patterns, so it looked useful. But we only have one year, so the test months, October to December, never appear in training, and tree models just treated them like September. Without month, gradient boosting's test PR-AUC went from 0.274 to 0.336. That's data drift: a feature that looks fine in training and breaks on future data. It's one of our biggest lessons.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about 1.5 minutes]</a:t>
            </a:r>
          </a:p>
          <a:p>
            <a:r>
              <a:t>We compared four types of models, placed here from simplest and easiest to explain on the left, to most powerful on the right. That way we can see whether extra complexity actually pays off.</a:t>
            </a:r>
          </a:p>
          <a:p>
            <a:r>
              <a:t>Logistic regression adds up weighted features into a probability. It's fast and explainable, but it only captures straight-line effects, and it needs scaled numbers and one-hot encoded categories.</a:t>
            </a:r>
          </a:p>
          <a:p>
            <a:r>
              <a:t>A decision tree is a flowchart of yes/no questions. It captures combinations, like "Animal Services and a short deadline," but a single tree overfits easily.</a:t>
            </a:r>
          </a:p>
          <a:p>
            <a:r>
              <a:t>A random forest is hundreds of trees voting together, which fixes most of the single tree's overfitting.</a:t>
            </a:r>
          </a:p>
          <a:p>
            <a:r>
              <a:t>Gradient boosting builds trees in sequence, each correcting the previous ones' mistakes. It's usually the strongest on tabular data like ours, but has more settings to tune.</a:t>
            </a:r>
          </a:p>
          <a:p>
            <a:r>
              <a:t>Under each model is what it assumes. Logistic regression assumes effects add up in a straight line, and it struggles when features overlap. In our data, 196 of 197 request types belong to a single department, so those two features overlap almost completely. Trees make no assumptions about distributions; forests assume individual trees' errors average out; boosting assumes mistakes can be fixed step by step without overfitting. And all four assume future requests look like past ones, which is exactly why we test on later months.</a:t>
            </a:r>
          </a:p>
          <a:p>
            <a:r>
              <a:t>Tree models don't need scaling or one-hot encoding. All four use class weights.</a:t>
            </a:r>
          </a:p>
          <a:p>
            <a:r>
              <a:t>We skipped k-nearest neighbors and support vector machines: they compare each request against many others, which is very slow on 172,000 training rows, and they need heavy scaling.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about 1.5 minutes]</a:t>
            </a:r>
          </a:p>
          <a:p>
            <a:r>
              <a:t>Here's how the four models compare on the validation set.</a:t>
            </a:r>
          </a:p>
          <a:p>
            <a:r>
              <a:t>We picked the model by PR-AUC, not F1, and that's deliberate. F1 depends on the 0.5 cutoff, and each model scales its probabilities differently. Random forest, for example, gives more cautious probabilities, so it looks better at 0.5, shown in the line under the chart, even though it doesn't rank requests better. PR-AUC measures how well a model ranks risky requests above safe ones at every possible cutoff, and it focuses on the rare class, so it's the fair comparison.</a:t>
            </a:r>
          </a:p>
          <a:p>
            <a:r>
              <a:t>Gradient boosting, highlighted in yellow, has the best PR-AUC at 0.297, so it's the one we tuned. The single decision tree is weakest, as expected, because one tree overfits.</a:t>
            </a:r>
          </a:p>
          <a:p>
            <a:r>
              <a:t>The honest takeaway: all four are close. Request type carries most of the signal, so handling the imbalance mattered more than which model we picked.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about 1.5 minutes, then hand off]</a:t>
            </a:r>
          </a:p>
          <a:p>
            <a:r>
              <a:t>Finally, tuning. We tuned gradient boosting with a randomized search over 20 combinations of the five settings on the left: how big each correction is, how many trees, how complex each tree can be, the smallest group a split can create, and a penalty against overfitting. The green badges are the values that won.</a:t>
            </a:r>
          </a:p>
          <a:p>
            <a:r>
              <a:t>Every combination was trained on January to July and scored on the validation set only. The test set was never used for any choice.</a:t>
            </a:r>
          </a:p>
          <a:p>
            <a:r>
              <a:t>On the right are the results. Tuning gave only a small gain, PR-AUC from 0.297 to 0.300, and we report that honestly: tuning isn't guaranteed to help.</a:t>
            </a:r>
          </a:p>
          <a:p>
            <a:r>
              <a:t>The bigger lever was the decision cutoff. By default a request is flagged when the model is at least 50% sure. Because of the imbalance, F1 peaked on validation at 67%, which raised validation F1 from 0.314 to 0.331. We fixed that cutoff before ever looking at the test set.</a:t>
            </a:r>
          </a:p>
          <a:p>
            <a:r>
              <a:t>Now [Speaker 3] will show how the final model did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about 1.5 minutes]</a:t>
            </a:r>
          </a:p>
          <a:p>
            <a:r>
              <a:t>Thanks. Every model was retrained on January to September and evaluated once on October to December, data none of them had seen. In this table, darker green means better within each column.</a:t>
            </a:r>
          </a:p>
          <a:p>
            <a:r>
              <a:t>The outlined row is our final model: tuned gradient boosting with the 0.67 cutoff. Its F1 is 0.410, compared with 0.043 for the baseline on this same test set, about nine and a half times higher. It catches 62% of missed deadlines, compared with 2% for the baseline.</a:t>
            </a:r>
          </a:p>
          <a:p>
            <a:r>
              <a:t>Notice the majority-class model has the best accuracy and is the worst model.</a:t>
            </a:r>
          </a:p>
          <a:p>
            <a:r>
              <a:t>One honest point: random forest ties our final model on F1 and has a slightly better PR-AUC. We kept gradient boosting because we chose it on the validation set, before seeing any test results. Switching now would mean picking a model by its test score, which defeats the purpose of a test set. The fair conclusion is that the two perform about equally.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about 1.5 minutes]</a:t>
            </a:r>
          </a:p>
          <a:p>
            <a:r>
              <a:t>This slide shows how the final model behaves and what it relies on.</a:t>
            </a:r>
          </a:p>
          <a:p>
            <a:r>
              <a:t>On the left, think of 100 typical test requests. The model correctly catches about 7 real misses. It lets about 4 late requests slip through. It raises about 15 false alarms. And it correctly says "on time" for the other 74. In total numbers, it caught 3,877 of the 6,228 requests that were actually late, which is 62%, and about 3 in 10 of its flags are real misses.</a:t>
            </a:r>
          </a:p>
          <a:p>
            <a:r>
              <a:t>For the city, a false alarm is cheap; an uncaught miss means a resident waits past the promised date.</a:t>
            </a:r>
          </a:p>
          <a:p>
            <a:r>
              <a:t>On the right is feature importance: how much the model's score drops when we scramble one feature. Request type dominates, about ten times more than anything else. What is requested matters far more than where or when. Our engineered workload feature is second, which shows it earned its place.</a:t>
            </a:r>
          </a:p>
          <a:p>
            <a:r>
              <a:t>Is that ordering plausible? Yes. It matches what the EDA showed. Department adds almost nothing because 196 of 197 request types belong to one department, so once the model knows the request type, it already knows the department.</a:t>
            </a:r>
          </a:p>
          <a:p>
            <a:r>
              <a:t>One caution: importance shows what the model uses, not what causes delays.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about 1.5 minutes]</a:t>
            </a:r>
          </a:p>
          <a:p>
            <a:r>
              <a:t>Where does the model work, and where does it struggle?</a:t>
            </a:r>
          </a:p>
          <a:p>
            <a:r>
              <a:t>The chart shows the share of missed deadlines the model catches in each department. It catches about 85% of Animal Services misses, but only about a third of Transportation and Public Works misses. That makes sense: Animal Services misses are common and predictable from the type of request, while street and pothole repairs probably depend on things the data doesn't capture, like crew availability and weather.</a:t>
            </a:r>
          </a:p>
          <a:p>
            <a:r>
              <a:t>By council district, the model catches between about half and 72% of missed deadlines.</a:t>
            </a:r>
          </a:p>
          <a:p>
            <a:r>
              <a:t>That's the ethics point from the EDA. If the city relied on this model to prioritize requests, residents in some districts would be protected better than others. Any real use would have to be monitored district by district. The model doesn't single out Districts 10 to 13, which miss more than expected, but it isn't designed to fix that gap either.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about 1.5 minutes]</a:t>
            </a:r>
          </a:p>
          <a:p>
            <a:r>
              <a:t>Let's go back to the four objectives as a scorecard.</a:t>
            </a:r>
          </a:p>
          <a:p>
            <a:r>
              <a:t>One, baseline first: met. The majority-class model catches nothing, and logistic regression on the minimum features gets an F1 of 0.043 on the test set.</a:t>
            </a:r>
          </a:p>
          <a:p>
            <a:r>
              <a:t>Two, what actually helps: met. Class weights tripled F1, our workload feature helped the tree models but not logistic regression, and removing month fixed a drift problem.</a:t>
            </a:r>
          </a:p>
          <a:p>
            <a:r>
              <a:t>Three, comparing models fairly: met. Gradient boosting and random forest perform about equally, and our final model reaches an F1 of 0.410, catches 62% of misses, with a ROC-AUC of 0.80.</a:t>
            </a:r>
          </a:p>
          <a:p>
            <a:r>
              <a:t>Four, what drives missed deadlines: partly met. Request type matters most, then the department's backlog, but the model only works well for some departments, like Animal Services, and poorly for street repairs.</a:t>
            </a:r>
          </a:p>
          <a:p>
            <a:r>
              <a:t>So our answer: partly, yes. When a request is filed, we can flag about 6 in 10 that will miss their deadline, mostly from the request type and how busy the department 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about 1 minute]</a:t>
            </a:r>
          </a:p>
          <a:p>
            <a:r>
              <a:t>We want to be clear about what our results support and what they don't.</a:t>
            </a:r>
          </a:p>
          <a:p>
            <a:r>
              <a:t>We can say that request type and department backlog are strongly linked to missed deadlines, that a simple model flags about 6 in 10 late requests at filing time, and that this holds on later months the model never saw.</a:t>
            </a:r>
          </a:p>
          <a:p>
            <a:r>
              <a:t>We can't speak to seasonal effects with one year of data, or to the longest-running cases, since we only have closed requests. We can't explain why requests are late, because staffing, weather and budget aren't in the data, and importance shows association, not cause. Precision is modest: about 7 in 10 flags are false alarms. Deadlines are measured on mixed clocks: business days, calendar days or hours. And we only studied one city and one year, so we can't claim it generalizes elsewhere.</a:t>
            </a:r>
          </a:p>
          <a:p>
            <a:r>
              <a:t>What we did address: the class imbalance, with class weights, imbalance-aware metrics and a tuned cutoff, and potential bias, by checking performance district by district.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about 1 minute]</a:t>
            </a:r>
          </a:p>
          <a:p>
            <a:r>
              <a:t>To wrap up: our model is a day-one early warning for managers, not a crystal ball.</a:t>
            </a:r>
          </a:p>
          <a:p>
            <a:r>
              <a:t>Three numbers sum it up: a test F1 of 0.410 compared with 0.043 for the baseline, 62% of missed deadlines caught, and the type of request as the number one driver.</a:t>
            </a:r>
          </a:p>
          <a:p>
            <a:r>
              <a:t>In practice, this would help managers decide where to look first when requests come in. It doesn't replace their judgment.</a:t>
            </a:r>
          </a:p>
          <a:p>
            <a:r>
              <a:t>Next steps: add 2023 and 2024 data so the model can learn seasonal patterns; add staffing and weather data, which would likely help most with street repairs; choose the cutoff together with the city, based on the real cost of a miss versus a false alarm; and if it were ever deployed, monitor it district by district.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about 15 seconds]</a:t>
            </a:r>
          </a:p>
          <a:p>
            <a:r>
              <a:t>These are our sources in APA style: the three earlier projects, the Dallas OpenData dataset, and the main Python libraries. All of our code and data are on GitHub at the link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leave this slide up during Q&amp;A]</a:t>
            </a:r>
          </a:p>
          <a:p>
            <a:r>
              <a:t>Thank you. We're happy to take questions.</a:t>
            </a:r>
          </a:p>
          <a:p/>
          <a:p>
            <a:r>
              <a:t>LIKELY QUESTIONS, AND WHO ANSWERS:</a:t>
            </a:r>
          </a:p>
          <a:p>
            <a:r>
              <a:t>- "Are you predicting how long a request takes?" (Mateen): No. The city already sets a due date. We predict yes/no whether it will miss that due date. Predicting exact days would be regression, and that's future work.</a:t>
            </a:r>
          </a:p>
          <a:p>
            <a:r>
              <a:t>- "Why not accuracy?" (Speaker 2): Only 11% miss. Always saying "on time" is 89% accurate and catches nothing.</a:t>
            </a:r>
          </a:p>
          <a:p>
            <a:r>
              <a:t>- "How did you prevent leakage?" (Mateen): We only used information known at filing time, removed closed date, days to close, outcome and status, and fit all preprocessing on training data only, inside a pipeline.</a:t>
            </a:r>
          </a:p>
          <a:p>
            <a:r>
              <a:t>- "Why split by month?" (Mateen): The city predicts future requests from past ones. A random split would let the model see the future.</a:t>
            </a:r>
          </a:p>
          <a:p>
            <a:r>
              <a:t>- "Why not pick random forest, since it tied?" (Speaker 3): We chose on validation, before seeing test results. Switching would mean choosing by the test set.</a:t>
            </a:r>
          </a:p>
          <a:p>
            <a:r>
              <a:t>- "Why drop month?" (Speaker 2): The test months never appear in training, so trees guessed wrong about them. Test PR-AUC went from 0.274 to 0.336 without it.</a:t>
            </a:r>
          </a:p>
          <a:p>
            <a:r>
              <a:t>- "Is the workload feature leakage?" (Speaker 2): No. We only count requests created before this one that hadn't closed yet. The city knows that at filing time.</a:t>
            </a:r>
          </a:p>
          <a:p>
            <a:r>
              <a:t>- "Why 0.67?" (Speaker 2): It maximized F1 on the validation set, and we fixed it before testing. The backup slide shows the trade-off.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show only if asked about the 0.67 cutoff]</a:t>
            </a:r>
          </a:p>
          <a:p>
            <a:r>
              <a:t>This shows precision, recall and F1 on the validation set as the cutoff moves. A lower cutoff flags more requests: recall goes up, but precision drops. We chose 0.67 because F1 peaked there on validation, and we fixed it before looking at the test set. In practice the city could choose a different point depending on how costly a missed deadline is compared with a false alarm.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A21"/>
        </a:solidFill>
        <a:effectLst/>
      </p:bgPr>
    </p:bg>
    <p:spTree>
      <p:nvGrpSpPr>
        <p:cNvPr id="1" name=""/>
        <p:cNvGrpSpPr/>
        <p:nvPr/>
      </p:nvGrpSpPr>
      <p:grpSpPr/>
      <p:sp>
        <p:nvSpPr>
          <p:cNvPr id="2" name="TextBox 1"/>
          <p:cNvSpPr txBox="1"/>
          <p:nvPr/>
        </p:nvSpPr>
        <p:spPr>
          <a:xfrm>
            <a:off x="731520" y="777240"/>
            <a:ext cx="6858000" cy="365760"/>
          </a:xfrm>
          <a:prstGeom prst="rect">
            <a:avLst/>
          </a:prstGeom>
          <a:noFill/>
        </p:spPr>
        <p:txBody>
          <a:bodyPr wrap="square" lIns="0" rIns="0" tIns="0" bIns="0" anchor="t">
            <a:spAutoFit/>
          </a:bodyPr>
          <a:lstStyle/>
          <a:p>
            <a:pPr algn="l">
              <a:spcAft>
                <a:spcPts val="400"/>
              </a:spcAft>
            </a:pPr>
            <a:r>
              <a:rPr sz="1300" b="1" i="0">
                <a:solidFill>
                  <a:srgbClr val="B9DDCB"/>
                </a:solidFill>
                <a:latin typeface="Arial"/>
              </a:rPr>
              <a:t>DATA 4380  ·  DATA PROBLEMS  ·  TABULAR PROJECT</a:t>
            </a:r>
          </a:p>
        </p:txBody>
      </p:sp>
      <p:sp>
        <p:nvSpPr>
          <p:cNvPr id="3" name="TextBox 2"/>
          <p:cNvSpPr txBox="1"/>
          <p:nvPr/>
        </p:nvSpPr>
        <p:spPr>
          <a:xfrm>
            <a:off x="731520" y="1417320"/>
            <a:ext cx="6766560" cy="914400"/>
          </a:xfrm>
          <a:prstGeom prst="rect">
            <a:avLst/>
          </a:prstGeom>
          <a:noFill/>
        </p:spPr>
        <p:txBody>
          <a:bodyPr wrap="square" lIns="0" rIns="0" tIns="0" bIns="0" anchor="t">
            <a:spAutoFit/>
          </a:bodyPr>
          <a:lstStyle/>
          <a:p>
            <a:pPr algn="l">
              <a:spcAft>
                <a:spcPts val="400"/>
              </a:spcAft>
            </a:pPr>
            <a:r>
              <a:rPr sz="5000" b="1" i="0">
                <a:solidFill>
                  <a:srgbClr val="FFFFFF"/>
                </a:solidFill>
                <a:latin typeface="Arial"/>
              </a:rPr>
              <a:t>Will the city be late?</a:t>
            </a:r>
          </a:p>
        </p:txBody>
      </p:sp>
      <p:sp>
        <p:nvSpPr>
          <p:cNvPr id="4" name="TextBox 3"/>
          <p:cNvSpPr txBox="1"/>
          <p:nvPr/>
        </p:nvSpPr>
        <p:spPr>
          <a:xfrm>
            <a:off x="731520" y="2514600"/>
            <a:ext cx="6766560" cy="1097280"/>
          </a:xfrm>
          <a:prstGeom prst="rect">
            <a:avLst/>
          </a:prstGeom>
          <a:noFill/>
        </p:spPr>
        <p:txBody>
          <a:bodyPr wrap="square" lIns="0" rIns="0" tIns="0" bIns="0" anchor="t">
            <a:spAutoFit/>
          </a:bodyPr>
          <a:lstStyle/>
          <a:p>
            <a:pPr algn="l">
              <a:spcAft>
                <a:spcPts val="400"/>
              </a:spcAft>
            </a:pPr>
            <a:r>
              <a:rPr sz="2600" b="0" i="0">
                <a:solidFill>
                  <a:srgbClr val="F5B800"/>
                </a:solidFill>
                <a:latin typeface="Arial"/>
              </a:rPr>
              <a:t>Predicting missed 311 service deadlines in Dallas</a:t>
            </a:r>
          </a:p>
        </p:txBody>
      </p:sp>
      <p:sp>
        <p:nvSpPr>
          <p:cNvPr id="5" name="TextBox 4"/>
          <p:cNvSpPr txBox="1"/>
          <p:nvPr/>
        </p:nvSpPr>
        <p:spPr>
          <a:xfrm>
            <a:off x="731520" y="4983480"/>
            <a:ext cx="6766560" cy="1097280"/>
          </a:xfrm>
          <a:prstGeom prst="rect">
            <a:avLst/>
          </a:prstGeom>
          <a:noFill/>
        </p:spPr>
        <p:txBody>
          <a:bodyPr wrap="square" lIns="0" rIns="0" tIns="0" bIns="0" anchor="t">
            <a:spAutoFit/>
          </a:bodyPr>
          <a:lstStyle/>
          <a:p>
            <a:pPr algn="l">
              <a:spcAft>
                <a:spcPts val="600"/>
              </a:spcAft>
            </a:pPr>
            <a:r>
              <a:rPr sz="1500" b="1" i="0">
                <a:solidFill>
                  <a:srgbClr val="FFFFFF"/>
                </a:solidFill>
                <a:latin typeface="Calibri"/>
              </a:rPr>
              <a:t>Mateen Jan  ·  Tej Govindu  ·  Alejandro Alfonso</a:t>
            </a:r>
          </a:p>
          <a:p>
            <a:pPr algn="l">
              <a:spcAft>
                <a:spcPts val="600"/>
              </a:spcAft>
            </a:pPr>
            <a:r>
              <a:rPr sz="1500" b="0" i="0">
                <a:solidFill>
                  <a:srgbClr val="B9DDCB"/>
                </a:solidFill>
                <a:latin typeface="Calibri"/>
              </a:rPr>
              <a:t>Instructor: Dr. Masoud Rostami  ·  UT Arlington  ·  Fall 2026</a:t>
            </a:r>
          </a:p>
        </p:txBody>
      </p:sp>
      <p:sp>
        <p:nvSpPr>
          <p:cNvPr id="6" name="Rectangle 5"/>
          <p:cNvSpPr/>
          <p:nvPr/>
        </p:nvSpPr>
        <p:spPr>
          <a:xfrm>
            <a:off x="9710928" y="2514600"/>
            <a:ext cx="146304" cy="3566160"/>
          </a:xfrm>
          <a:prstGeom prst="rect">
            <a:avLst/>
          </a:prstGeom>
          <a:solidFill>
            <a:srgbClr val="7A86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01000" y="1463040"/>
            <a:ext cx="3566160" cy="1051560"/>
          </a:xfrm>
          <a:prstGeom prst="roundRect">
            <a:avLst>
              <a:gd name="adj" fmla="val 12000"/>
            </a:avLst>
          </a:prstGeom>
          <a:solidFill>
            <a:srgbClr val="006B4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3000" b="1">
                <a:solidFill>
                  <a:srgbClr val="FFFFFF"/>
                </a:solidFill>
                <a:latin typeface="Arial"/>
              </a:rPr>
              <a:t>311  ·  DALLAS</a:t>
            </a:r>
          </a:p>
        </p:txBody>
      </p:sp>
      <p:sp>
        <p:nvSpPr>
          <p:cNvPr id="8" name="Diamond 7"/>
          <p:cNvSpPr/>
          <p:nvPr/>
        </p:nvSpPr>
        <p:spPr>
          <a:xfrm>
            <a:off x="8412480" y="2788920"/>
            <a:ext cx="2743200" cy="2743200"/>
          </a:xfrm>
          <a:prstGeom prst="diamond">
            <a:avLst/>
          </a:prstGeom>
          <a:solidFill>
            <a:srgbClr val="F5B800"/>
          </a:solidFill>
          <a:ln w="19050">
            <a:solidFill>
              <a:srgbClr val="1E2A2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2600" b="1">
                <a:solidFill>
                  <a:srgbClr val="1E2A26"/>
                </a:solidFill>
                <a:latin typeface="Arial"/>
              </a:rPr>
              <a:t>1 IN 9</a:t>
            </a:r>
          </a:p>
          <a:p>
            <a:pPr algn="ctr"/>
            <a:r>
              <a:rPr sz="2600" b="1">
                <a:solidFill>
                  <a:srgbClr val="1E2A26"/>
                </a:solidFill>
                <a:latin typeface="Arial"/>
              </a:rPr>
              <a:t>LATE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371600"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BACKGROUND</a:t>
            </a:r>
          </a:p>
        </p:txBody>
      </p:sp>
      <p:sp>
        <p:nvSpPr>
          <p:cNvPr id="3" name="TextBox 2"/>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Dallas promises a deadline on every 311 request, and misses 1 in 9</a:t>
            </a:r>
          </a:p>
        </p:txBody>
      </p:sp>
      <p:sp>
        <p:nvSpPr>
          <p:cNvPr id="4" name="Oval 3"/>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2</a:t>
            </a:r>
          </a:p>
        </p:txBody>
      </p:sp>
      <p:sp>
        <p:nvSpPr>
          <p:cNvPr id="5" name="Pentagon 4"/>
          <p:cNvSpPr/>
          <p:nvPr/>
        </p:nvSpPr>
        <p:spPr>
          <a:xfrm>
            <a:off x="548640" y="1828800"/>
            <a:ext cx="2880360" cy="1143000"/>
          </a:xfrm>
          <a:prstGeom prst="homePlate">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FFFFFF"/>
                </a:solidFill>
                <a:latin typeface="Calibri"/>
              </a:rPr>
              <a:t>Resident reports</a:t>
            </a:r>
          </a:p>
        </p:txBody>
      </p:sp>
      <p:sp>
        <p:nvSpPr>
          <p:cNvPr id="6" name="TextBox 5"/>
          <p:cNvSpPr txBox="1"/>
          <p:nvPr/>
        </p:nvSpPr>
        <p:spPr>
          <a:xfrm>
            <a:off x="868680" y="3090672"/>
            <a:ext cx="2377440" cy="548640"/>
          </a:xfrm>
          <a:prstGeom prst="rect">
            <a:avLst/>
          </a:prstGeom>
          <a:noFill/>
        </p:spPr>
        <p:txBody>
          <a:bodyPr wrap="square" lIns="0" rIns="0" tIns="0" bIns="0" anchor="t">
            <a:spAutoFit/>
          </a:bodyPr>
          <a:lstStyle/>
          <a:p>
            <a:pPr algn="l">
              <a:spcAft>
                <a:spcPts val="400"/>
              </a:spcAft>
            </a:pPr>
            <a:r>
              <a:rPr sz="1300" b="0" i="1">
                <a:solidFill>
                  <a:srgbClr val="5F6B66"/>
                </a:solidFill>
                <a:latin typeface="Calibri"/>
              </a:rPr>
              <a:t>pothole, loose dog, missed trash</a:t>
            </a:r>
          </a:p>
        </p:txBody>
      </p:sp>
      <p:sp>
        <p:nvSpPr>
          <p:cNvPr id="7" name="Chevron 6"/>
          <p:cNvSpPr/>
          <p:nvPr/>
        </p:nvSpPr>
        <p:spPr>
          <a:xfrm>
            <a:off x="3291840" y="1828800"/>
            <a:ext cx="2880360" cy="1143000"/>
          </a:xfrm>
          <a:prstGeom prst="chevron">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FFFFFF"/>
                </a:solidFill>
                <a:latin typeface="Calibri"/>
              </a:rPr>
              <a:t>Sent to a department</a:t>
            </a:r>
          </a:p>
        </p:txBody>
      </p:sp>
      <p:sp>
        <p:nvSpPr>
          <p:cNvPr id="8" name="TextBox 7"/>
          <p:cNvSpPr txBox="1"/>
          <p:nvPr/>
        </p:nvSpPr>
        <p:spPr>
          <a:xfrm>
            <a:off x="3611880" y="3090672"/>
            <a:ext cx="2377440" cy="548640"/>
          </a:xfrm>
          <a:prstGeom prst="rect">
            <a:avLst/>
          </a:prstGeom>
          <a:noFill/>
        </p:spPr>
        <p:txBody>
          <a:bodyPr wrap="square" lIns="0" rIns="0" tIns="0" bIns="0" anchor="t">
            <a:spAutoFit/>
          </a:bodyPr>
          <a:lstStyle/>
          <a:p>
            <a:pPr algn="l">
              <a:spcAft>
                <a:spcPts val="400"/>
              </a:spcAft>
            </a:pPr>
            <a:r>
              <a:rPr sz="1300" b="0" i="1">
                <a:solidFill>
                  <a:srgbClr val="5F6B66"/>
                </a:solidFill>
                <a:latin typeface="Calibri"/>
              </a:rPr>
              <a:t>Animal Services, Sanitation, ...</a:t>
            </a:r>
          </a:p>
        </p:txBody>
      </p:sp>
      <p:sp>
        <p:nvSpPr>
          <p:cNvPr id="9" name="Chevron 8"/>
          <p:cNvSpPr/>
          <p:nvPr/>
        </p:nvSpPr>
        <p:spPr>
          <a:xfrm>
            <a:off x="6035040" y="1828800"/>
            <a:ext cx="2880360" cy="1143000"/>
          </a:xfrm>
          <a:prstGeom prst="chevron">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FFFFFF"/>
                </a:solidFill>
                <a:latin typeface="Calibri"/>
              </a:rPr>
              <a:t>Due date is set</a:t>
            </a:r>
          </a:p>
        </p:txBody>
      </p:sp>
      <p:sp>
        <p:nvSpPr>
          <p:cNvPr id="10" name="TextBox 9"/>
          <p:cNvSpPr txBox="1"/>
          <p:nvPr/>
        </p:nvSpPr>
        <p:spPr>
          <a:xfrm>
            <a:off x="6355079" y="3090672"/>
            <a:ext cx="2377440" cy="548640"/>
          </a:xfrm>
          <a:prstGeom prst="rect">
            <a:avLst/>
          </a:prstGeom>
          <a:noFill/>
        </p:spPr>
        <p:txBody>
          <a:bodyPr wrap="square" lIns="0" rIns="0" tIns="0" bIns="0" anchor="t">
            <a:spAutoFit/>
          </a:bodyPr>
          <a:lstStyle/>
          <a:p>
            <a:pPr algn="l">
              <a:spcAft>
                <a:spcPts val="400"/>
              </a:spcAft>
            </a:pPr>
            <a:r>
              <a:rPr sz="1300" b="0" i="1">
                <a:solidFill>
                  <a:srgbClr val="5F6B66"/>
                </a:solidFill>
                <a:latin typeface="Calibri"/>
              </a:rPr>
              <a:t>based on the request type</a:t>
            </a:r>
          </a:p>
        </p:txBody>
      </p:sp>
      <p:sp>
        <p:nvSpPr>
          <p:cNvPr id="11" name="Chevron 10"/>
          <p:cNvSpPr/>
          <p:nvPr/>
        </p:nvSpPr>
        <p:spPr>
          <a:xfrm>
            <a:off x="8778240" y="1828800"/>
            <a:ext cx="2880360" cy="1143000"/>
          </a:xfrm>
          <a:prstGeom prst="chevron">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1E2A26"/>
                </a:solidFill>
                <a:latin typeface="Calibri"/>
              </a:rPr>
              <a:t>On time or late?</a:t>
            </a:r>
          </a:p>
        </p:txBody>
      </p:sp>
      <p:sp>
        <p:nvSpPr>
          <p:cNvPr id="12" name="TextBox 11"/>
          <p:cNvSpPr txBox="1"/>
          <p:nvPr/>
        </p:nvSpPr>
        <p:spPr>
          <a:xfrm>
            <a:off x="9098280" y="3090672"/>
            <a:ext cx="2377440" cy="548640"/>
          </a:xfrm>
          <a:prstGeom prst="rect">
            <a:avLst/>
          </a:prstGeom>
          <a:noFill/>
        </p:spPr>
        <p:txBody>
          <a:bodyPr wrap="square" lIns="0" rIns="0" tIns="0" bIns="0" anchor="t">
            <a:spAutoFit/>
          </a:bodyPr>
          <a:lstStyle/>
          <a:p>
            <a:pPr algn="l">
              <a:spcAft>
                <a:spcPts val="400"/>
              </a:spcAft>
            </a:pPr>
            <a:r>
              <a:rPr sz="1300" b="0" i="1">
                <a:solidFill>
                  <a:srgbClr val="5F6B66"/>
                </a:solidFill>
                <a:latin typeface="Calibri"/>
              </a:rPr>
              <a:t>this is what we predict</a:t>
            </a:r>
          </a:p>
        </p:txBody>
      </p:sp>
      <p:sp>
        <p:nvSpPr>
          <p:cNvPr id="13" name="Rounded Rectangle 12"/>
          <p:cNvSpPr/>
          <p:nvPr/>
        </p:nvSpPr>
        <p:spPr>
          <a:xfrm>
            <a:off x="548640" y="3840480"/>
            <a:ext cx="3657600" cy="228600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005072"/>
            <a:ext cx="3200400" cy="365760"/>
          </a:xfrm>
          <a:prstGeom prst="rect">
            <a:avLst/>
          </a:prstGeom>
          <a:noFill/>
        </p:spPr>
        <p:txBody>
          <a:bodyPr wrap="square" lIns="0" rIns="0" tIns="0" bIns="0" anchor="t">
            <a:spAutoFit/>
          </a:bodyPr>
          <a:lstStyle/>
          <a:p>
            <a:pPr algn="l">
              <a:spcAft>
                <a:spcPts val="400"/>
              </a:spcAft>
            </a:pPr>
            <a:r>
              <a:rPr sz="1800" b="1" i="0">
                <a:solidFill>
                  <a:srgbClr val="006B47"/>
                </a:solidFill>
                <a:latin typeface="Arial"/>
              </a:rPr>
              <a:t>Why it matters</a:t>
            </a:r>
          </a:p>
        </p:txBody>
      </p:sp>
      <p:sp>
        <p:nvSpPr>
          <p:cNvPr id="15" name="TextBox 14"/>
          <p:cNvSpPr txBox="1"/>
          <p:nvPr/>
        </p:nvSpPr>
        <p:spPr>
          <a:xfrm>
            <a:off x="777240" y="4434840"/>
            <a:ext cx="3246120" cy="1600200"/>
          </a:xfrm>
          <a:prstGeom prst="rect">
            <a:avLst/>
          </a:prstGeom>
          <a:noFill/>
        </p:spPr>
        <p:txBody>
          <a:bodyPr wrap="square" lIns="0" rIns="0" tIns="0" bIns="0" anchor="t">
            <a:spAutoFit/>
          </a:bodyPr>
          <a:lstStyle/>
          <a:p>
            <a:pPr algn="l">
              <a:spcAft>
                <a:spcPts val="400"/>
              </a:spcAft>
            </a:pPr>
            <a:r>
              <a:rPr sz="1500" b="0" i="0">
                <a:solidFill>
                  <a:srgbClr val="1E2A26"/>
                </a:solidFill>
                <a:latin typeface="Calibri"/>
              </a:rPr>
              <a:t>A late repair means a resident keeps waiting. Flagging risky requests on day one lets managers act before the deadline.</a:t>
            </a:r>
          </a:p>
        </p:txBody>
      </p:sp>
      <p:sp>
        <p:nvSpPr>
          <p:cNvPr id="16" name="Rounded Rectangle 15"/>
          <p:cNvSpPr/>
          <p:nvPr/>
        </p:nvSpPr>
        <p:spPr>
          <a:xfrm>
            <a:off x="4389120" y="3840480"/>
            <a:ext cx="3657600" cy="228600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4005072"/>
            <a:ext cx="3200400" cy="365760"/>
          </a:xfrm>
          <a:prstGeom prst="rect">
            <a:avLst/>
          </a:prstGeom>
          <a:noFill/>
        </p:spPr>
        <p:txBody>
          <a:bodyPr wrap="square" lIns="0" rIns="0" tIns="0" bIns="0" anchor="t">
            <a:spAutoFit/>
          </a:bodyPr>
          <a:lstStyle/>
          <a:p>
            <a:pPr algn="l">
              <a:spcAft>
                <a:spcPts val="400"/>
              </a:spcAft>
            </a:pPr>
            <a:r>
              <a:rPr sz="1800" b="1" i="0">
                <a:solidFill>
                  <a:srgbClr val="006B47"/>
                </a:solidFill>
                <a:latin typeface="Arial"/>
              </a:rPr>
              <a:t>Who benefits</a:t>
            </a:r>
          </a:p>
        </p:txBody>
      </p:sp>
      <p:sp>
        <p:nvSpPr>
          <p:cNvPr id="18" name="TextBox 17"/>
          <p:cNvSpPr txBox="1"/>
          <p:nvPr/>
        </p:nvSpPr>
        <p:spPr>
          <a:xfrm>
            <a:off x="4617720" y="4434840"/>
            <a:ext cx="3246120" cy="1600200"/>
          </a:xfrm>
          <a:prstGeom prst="rect">
            <a:avLst/>
          </a:prstGeom>
          <a:noFill/>
        </p:spPr>
        <p:txBody>
          <a:bodyPr wrap="square" lIns="0" rIns="0" tIns="0" bIns="0" anchor="t">
            <a:spAutoFit/>
          </a:bodyPr>
          <a:lstStyle/>
          <a:p>
            <a:pPr algn="l">
              <a:spcAft>
                <a:spcPts val="400"/>
              </a:spcAft>
            </a:pPr>
            <a:r>
              <a:rPr sz="1500" b="0" i="0">
                <a:solidFill>
                  <a:srgbClr val="1E2A26"/>
                </a:solidFill>
                <a:latin typeface="Calibri"/>
              </a:rPr>
              <a:t>Department managers planning crews, council members tracking their districts, and residents.</a:t>
            </a:r>
          </a:p>
        </p:txBody>
      </p:sp>
      <p:sp>
        <p:nvSpPr>
          <p:cNvPr id="19" name="Rounded Rectangle 18"/>
          <p:cNvSpPr/>
          <p:nvPr/>
        </p:nvSpPr>
        <p:spPr>
          <a:xfrm>
            <a:off x="8229600" y="3840480"/>
            <a:ext cx="3410712" cy="228600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200" y="3959352"/>
            <a:ext cx="3017520" cy="822960"/>
          </a:xfrm>
          <a:prstGeom prst="rect">
            <a:avLst/>
          </a:prstGeom>
          <a:noFill/>
        </p:spPr>
        <p:txBody>
          <a:bodyPr wrap="square" lIns="0" rIns="0" tIns="0" bIns="0" anchor="t">
            <a:spAutoFit/>
          </a:bodyPr>
          <a:lstStyle/>
          <a:p>
            <a:pPr algn="l">
              <a:spcAft>
                <a:spcPts val="400"/>
              </a:spcAft>
            </a:pPr>
            <a:r>
              <a:rPr sz="4400" b="1" i="0">
                <a:solidFill>
                  <a:srgbClr val="9A6600"/>
                </a:solidFill>
                <a:latin typeface="Arial"/>
              </a:rPr>
              <a:t>30,971</a:t>
            </a:r>
          </a:p>
        </p:txBody>
      </p:sp>
      <p:sp>
        <p:nvSpPr>
          <p:cNvPr id="21" name="TextBox 20"/>
          <p:cNvSpPr txBox="1"/>
          <p:nvPr/>
        </p:nvSpPr>
        <p:spPr>
          <a:xfrm>
            <a:off x="8458200" y="4800600"/>
            <a:ext cx="3017520" cy="1234440"/>
          </a:xfrm>
          <a:prstGeom prst="rect">
            <a:avLst/>
          </a:prstGeom>
          <a:noFill/>
        </p:spPr>
        <p:txBody>
          <a:bodyPr wrap="square" lIns="0" rIns="0" tIns="0" bIns="0" anchor="t">
            <a:spAutoFit/>
          </a:bodyPr>
          <a:lstStyle/>
          <a:p>
            <a:pPr algn="l">
              <a:spcAft>
                <a:spcPts val="600"/>
              </a:spcAft>
            </a:pPr>
            <a:r>
              <a:rPr sz="1300" b="0" i="0">
                <a:solidFill>
                  <a:srgbClr val="1E2A26"/>
                </a:solidFill>
                <a:latin typeface="Calibri"/>
              </a:rPr>
              <a:t>requests closed late in 2025</a:t>
            </a:r>
          </a:p>
          <a:p>
            <a:pPr algn="l">
              <a:spcAft>
                <a:spcPts val="600"/>
              </a:spcAft>
            </a:pPr>
            <a:r>
              <a:rPr sz="1300" b="0" i="0">
                <a:solidFill>
                  <a:srgbClr val="1E2A26"/>
                </a:solidFill>
                <a:latin typeface="Calibri"/>
              </a:rPr>
              <a:t>We chose this topic: real local data, a clear yes/no outcome, real cleaning problems.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659636"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PREVIOUS WORK</a:t>
            </a:r>
          </a:p>
        </p:txBody>
      </p:sp>
      <p:sp>
        <p:nvSpPr>
          <p:cNvPr id="3" name="TextBox 2"/>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Three earlier projects shaped how we built ours</a:t>
            </a:r>
          </a:p>
        </p:txBody>
      </p:sp>
      <p:sp>
        <p:nvSpPr>
          <p:cNvPr id="4" name="Oval 3"/>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3</a:t>
            </a:r>
          </a:p>
        </p:txBody>
      </p:sp>
      <p:graphicFrame>
        <p:nvGraphicFramePr>
          <p:cNvPr id="5" name="Table 4"/>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1600200"/>
                <a:gridCol w="2423160"/>
                <a:gridCol w="2423160"/>
                <a:gridCol w="2331720"/>
                <a:gridCol w="2313432"/>
              </a:tblGrid>
              <a:tr h="804672">
                <a:tc>
                  <a:txBody>
                    <a:bodyPr/>
                    <a:lstStyle/>
                    <a:p>
                      <a:pPr algn="l"/>
                      <a:r>
                        <a:rPr sz="1400" b="1">
                          <a:solidFill>
                            <a:srgbClr val="FFFFFF"/>
                          </a:solidFill>
                          <a:latin typeface="Calibri"/>
                        </a:rPr>
                        <a:t/>
                      </a:r>
                    </a:p>
                  </a:txBody>
                  <a:tcPr marL="73152" marR="73152" marT="18288" marB="18288" anchor="ctr">
                    <a:solidFill>
                      <a:srgbClr val="0C2A21"/>
                    </a:solidFill>
                  </a:tcPr>
                </a:tc>
                <a:tc>
                  <a:txBody>
                    <a:bodyPr/>
                    <a:lstStyle/>
                    <a:p>
                      <a:pPr algn="ctr"/>
                      <a:r>
                        <a:rPr sz="1400" b="1">
                          <a:solidFill>
                            <a:srgbClr val="FFFFFF"/>
                          </a:solidFill>
                          <a:latin typeface="Calibri"/>
                        </a:rPr>
                        <a:t>Los Angeles · LACER
(Bopardikar, 2021)</a:t>
                      </a:r>
                    </a:p>
                  </a:txBody>
                  <a:tcPr marL="73152" marR="73152" marT="18288" marB="18288" anchor="ctr">
                    <a:solidFill>
                      <a:srgbClr val="0C2A21"/>
                    </a:solidFill>
                  </a:tcPr>
                </a:tc>
                <a:tc>
                  <a:txBody>
                    <a:bodyPr/>
                    <a:lstStyle/>
                    <a:p>
                      <a:pPr algn="ctr"/>
                      <a:r>
                        <a:rPr sz="1400" b="1">
                          <a:solidFill>
                            <a:srgbClr val="FFFFFF"/>
                          </a:solidFill>
                          <a:latin typeface="Calibri"/>
                        </a:rPr>
                        <a:t>Philadelphia
(GitHub project)</a:t>
                      </a:r>
                    </a:p>
                  </a:txBody>
                  <a:tcPr marL="73152" marR="73152" marT="18288" marB="18288" anchor="ctr">
                    <a:solidFill>
                      <a:srgbClr val="0C2A21"/>
                    </a:solidFill>
                  </a:tcPr>
                </a:tc>
                <a:tc>
                  <a:txBody>
                    <a:bodyPr/>
                    <a:lstStyle/>
                    <a:p>
                      <a:pPr algn="ctr"/>
                      <a:r>
                        <a:rPr sz="1400" b="1">
                          <a:solidFill>
                            <a:srgbClr val="FFFFFF"/>
                          </a:solidFill>
                          <a:latin typeface="Calibri"/>
                        </a:rPr>
                        <a:t>MuST2-Learn
(Asif et al., 2025)</a:t>
                      </a:r>
                    </a:p>
                  </a:txBody>
                  <a:tcPr marL="73152" marR="73152" marT="18288" marB="18288" anchor="ctr">
                    <a:solidFill>
                      <a:srgbClr val="0C2A21"/>
                    </a:solidFill>
                  </a:tcPr>
                </a:tc>
                <a:tc>
                  <a:txBody>
                    <a:bodyPr/>
                    <a:lstStyle/>
                    <a:p>
                      <a:pPr algn="ctr"/>
                      <a:r>
                        <a:rPr sz="1400" b="1">
                          <a:solidFill>
                            <a:srgbClr val="FFFFFF"/>
                          </a:solidFill>
                          <a:latin typeface="Calibri"/>
                        </a:rPr>
                        <a:t>Ours
(Dallas, 2025 data)</a:t>
                      </a:r>
                    </a:p>
                  </a:txBody>
                  <a:tcPr marL="73152" marR="73152" marT="18288" marB="18288" anchor="ctr">
                    <a:solidFill>
                      <a:srgbClr val="006B47"/>
                    </a:solidFill>
                  </a:tcPr>
                </a:tc>
              </a:tr>
              <a:tr h="804672">
                <a:tc>
                  <a:txBody>
                    <a:bodyPr/>
                    <a:lstStyle/>
                    <a:p>
                      <a:pPr algn="l"/>
                      <a:r>
                        <a:rPr sz="1400" b="1">
                          <a:solidFill>
                            <a:srgbClr val="1E2A26"/>
                          </a:solidFill>
                          <a:latin typeface="Calibri"/>
                        </a:rPr>
                        <a:t>Predicts</a:t>
                      </a:r>
                    </a:p>
                  </a:txBody>
                  <a:tcPr marL="73152" marR="73152" marT="18288" marB="18288" anchor="ctr">
                    <a:solidFill>
                      <a:srgbClr val="FFFFFF"/>
                    </a:solidFill>
                  </a:tcPr>
                </a:tc>
                <a:tc>
                  <a:txBody>
                    <a:bodyPr/>
                    <a:lstStyle/>
                    <a:p>
                      <a:pPr algn="ctr"/>
                      <a:r>
                        <a:rPr sz="1400" b="0">
                          <a:solidFill>
                            <a:srgbClr val="1E2A26"/>
                          </a:solidFill>
                          <a:latin typeface="Calibri"/>
                        </a:rPr>
                        <a:t>More or less than a week?</a:t>
                      </a:r>
                    </a:p>
                  </a:txBody>
                  <a:tcPr marL="73152" marR="73152" marT="18288" marB="18288" anchor="ctr">
                    <a:solidFill>
                      <a:srgbClr val="FFFFFF"/>
                    </a:solidFill>
                  </a:tcPr>
                </a:tc>
                <a:tc>
                  <a:txBody>
                    <a:bodyPr/>
                    <a:lstStyle/>
                    <a:p>
                      <a:pPr algn="ctr"/>
                      <a:r>
                        <a:rPr sz="1400" b="0">
                          <a:solidFill>
                            <a:srgbClr val="1E2A26"/>
                          </a:solidFill>
                          <a:latin typeface="Calibri"/>
                        </a:rPr>
                        <a:t>Resolved late?</a:t>
                      </a:r>
                    </a:p>
                  </a:txBody>
                  <a:tcPr marL="73152" marR="73152" marT="18288" marB="18288" anchor="ctr">
                    <a:solidFill>
                      <a:srgbClr val="FFFFFF"/>
                    </a:solidFill>
                  </a:tcPr>
                </a:tc>
                <a:tc>
                  <a:txBody>
                    <a:bodyPr/>
                    <a:lstStyle/>
                    <a:p>
                      <a:pPr algn="ctr"/>
                      <a:r>
                        <a:rPr sz="1400" b="0">
                          <a:solidFill>
                            <a:srgbClr val="1E2A26"/>
                          </a:solidFill>
                          <a:latin typeface="Calibri"/>
                        </a:rPr>
                        <a:t>Exact service time</a:t>
                      </a:r>
                    </a:p>
                  </a:txBody>
                  <a:tcPr marL="73152" marR="73152" marT="18288" marB="18288" anchor="ctr">
                    <a:solidFill>
                      <a:srgbClr val="FFFFFF"/>
                    </a:solidFill>
                  </a:tcPr>
                </a:tc>
                <a:tc>
                  <a:txBody>
                    <a:bodyPr/>
                    <a:lstStyle/>
                    <a:p>
                      <a:pPr algn="ctr"/>
                      <a:r>
                        <a:rPr sz="1400" b="0">
                          <a:solidFill>
                            <a:srgbClr val="1E2A26"/>
                          </a:solidFill>
                          <a:latin typeface="Calibri"/>
                        </a:rPr>
                        <a:t>Deadline missed?</a:t>
                      </a:r>
                    </a:p>
                  </a:txBody>
                  <a:tcPr marL="73152" marR="73152" marT="18288" marB="18288" anchor="ctr">
                    <a:solidFill>
                      <a:srgbClr val="FFF4D1"/>
                    </a:solidFill>
                  </a:tcPr>
                </a:tc>
              </a:tr>
              <a:tr h="804672">
                <a:tc>
                  <a:txBody>
                    <a:bodyPr/>
                    <a:lstStyle/>
                    <a:p>
                      <a:pPr algn="l"/>
                      <a:r>
                        <a:rPr sz="1400" b="1">
                          <a:solidFill>
                            <a:srgbClr val="1E2A26"/>
                          </a:solidFill>
                          <a:latin typeface="Calibri"/>
                        </a:rPr>
                        <a:t>Method</a:t>
                      </a:r>
                    </a:p>
                  </a:txBody>
                  <a:tcPr marL="73152" marR="73152" marT="18288" marB="18288" anchor="ctr">
                    <a:solidFill>
                      <a:srgbClr val="F6F8F7"/>
                    </a:solidFill>
                  </a:tcPr>
                </a:tc>
                <a:tc>
                  <a:txBody>
                    <a:bodyPr/>
                    <a:lstStyle/>
                    <a:p>
                      <a:pPr algn="ctr"/>
                      <a:r>
                        <a:rPr sz="1400" b="0">
                          <a:solidFill>
                            <a:srgbClr val="1E2A26"/>
                          </a:solidFill>
                          <a:latin typeface="Calibri"/>
                        </a:rPr>
                        <a:t>Random forest</a:t>
                      </a:r>
                    </a:p>
                  </a:txBody>
                  <a:tcPr marL="73152" marR="73152" marT="18288" marB="18288" anchor="ctr">
                    <a:solidFill>
                      <a:srgbClr val="F6F8F7"/>
                    </a:solidFill>
                  </a:tcPr>
                </a:tc>
                <a:tc>
                  <a:txBody>
                    <a:bodyPr/>
                    <a:lstStyle/>
                    <a:p>
                      <a:pPr algn="ctr"/>
                      <a:r>
                        <a:rPr sz="1400" b="0">
                          <a:solidFill>
                            <a:srgbClr val="1E2A26"/>
                          </a:solidFill>
                          <a:latin typeface="Calibri"/>
                        </a:rPr>
                        <a:t>Logistic regression, gradient boosting</a:t>
                      </a:r>
                    </a:p>
                  </a:txBody>
                  <a:tcPr marL="73152" marR="73152" marT="18288" marB="18288" anchor="ctr">
                    <a:solidFill>
                      <a:srgbClr val="F6F8F7"/>
                    </a:solidFill>
                  </a:tcPr>
                </a:tc>
                <a:tc>
                  <a:txBody>
                    <a:bodyPr/>
                    <a:lstStyle/>
                    <a:p>
                      <a:pPr algn="ctr"/>
                      <a:r>
                        <a:rPr sz="1400" b="0">
                          <a:solidFill>
                            <a:srgbClr val="1E2A26"/>
                          </a:solidFill>
                          <a:latin typeface="Calibri"/>
                        </a:rPr>
                        <a:t>Deep learning</a:t>
                      </a:r>
                    </a:p>
                  </a:txBody>
                  <a:tcPr marL="73152" marR="73152" marT="18288" marB="18288" anchor="ctr">
                    <a:solidFill>
                      <a:srgbClr val="F6F8F7"/>
                    </a:solidFill>
                  </a:tcPr>
                </a:tc>
                <a:tc>
                  <a:txBody>
                    <a:bodyPr/>
                    <a:lstStyle/>
                    <a:p>
                      <a:pPr algn="ctr"/>
                      <a:r>
                        <a:rPr sz="1400" b="0">
                          <a:solidFill>
                            <a:srgbClr val="1E2A26"/>
                          </a:solidFill>
                          <a:latin typeface="Calibri"/>
                        </a:rPr>
                        <a:t>4 models, class weights</a:t>
                      </a:r>
                    </a:p>
                  </a:txBody>
                  <a:tcPr marL="73152" marR="73152" marT="18288" marB="18288" anchor="ctr">
                    <a:solidFill>
                      <a:srgbClr val="FFF4D1"/>
                    </a:solidFill>
                  </a:tcPr>
                </a:tc>
              </a:tr>
              <a:tr h="804672">
                <a:tc>
                  <a:txBody>
                    <a:bodyPr/>
                    <a:lstStyle/>
                    <a:p>
                      <a:pPr algn="l"/>
                      <a:r>
                        <a:rPr sz="1400" b="1">
                          <a:solidFill>
                            <a:srgbClr val="1E2A26"/>
                          </a:solidFill>
                          <a:latin typeface="Calibri"/>
                        </a:rPr>
                        <a:t>Result</a:t>
                      </a:r>
                    </a:p>
                  </a:txBody>
                  <a:tcPr marL="73152" marR="73152" marT="18288" marB="18288" anchor="ctr">
                    <a:solidFill>
                      <a:srgbClr val="FFFFFF"/>
                    </a:solidFill>
                  </a:tcPr>
                </a:tc>
                <a:tc>
                  <a:txBody>
                    <a:bodyPr/>
                    <a:lstStyle/>
                    <a:p>
                      <a:pPr algn="ctr"/>
                      <a:r>
                        <a:rPr sz="1400" b="0">
                          <a:solidFill>
                            <a:srgbClr val="1E2A26"/>
                          </a:solidFill>
                          <a:latin typeface="Calibri"/>
                        </a:rPr>
                        <a:t>94% accuracy, but useless: ~90% close within a week</a:t>
                      </a:r>
                    </a:p>
                  </a:txBody>
                  <a:tcPr marL="73152" marR="73152" marT="18288" marB="18288" anchor="ctr">
                    <a:solidFill>
                      <a:srgbClr val="FFFFFF"/>
                    </a:solidFill>
                  </a:tcPr>
                </a:tc>
                <a:tc>
                  <a:txBody>
                    <a:bodyPr/>
                    <a:lstStyle/>
                    <a:p>
                      <a:pPr algn="ctr"/>
                      <a:r>
                        <a:rPr sz="1400" b="0">
                          <a:solidFill>
                            <a:srgbClr val="1E2A26"/>
                          </a:solidFill>
                          <a:latin typeface="Calibri"/>
                        </a:rPr>
                        <a:t>ROC-AUC 0.71 fell to 0.61 the next year</a:t>
                      </a:r>
                    </a:p>
                  </a:txBody>
                  <a:tcPr marL="73152" marR="73152" marT="18288" marB="18288" anchor="ctr">
                    <a:solidFill>
                      <a:srgbClr val="FFFFFF"/>
                    </a:solidFill>
                  </a:tcPr>
                </a:tc>
                <a:tc>
                  <a:txBody>
                    <a:bodyPr/>
                    <a:lstStyle/>
                    <a:p>
                      <a:pPr algn="ctr"/>
                      <a:r>
                        <a:rPr sz="1400" b="0">
                          <a:solidFill>
                            <a:srgbClr val="1E2A26"/>
                          </a:solidFill>
                          <a:latin typeface="Calibri"/>
                        </a:rPr>
                        <a:t>≥32.5% lower error than earlier methods</a:t>
                      </a:r>
                    </a:p>
                  </a:txBody>
                  <a:tcPr marL="73152" marR="73152" marT="18288" marB="18288" anchor="ctr">
                    <a:solidFill>
                      <a:srgbClr val="FFFFFF"/>
                    </a:solidFill>
                  </a:tcPr>
                </a:tc>
                <a:tc>
                  <a:txBody>
                    <a:bodyPr/>
                    <a:lstStyle/>
                    <a:p>
                      <a:pPr algn="ctr"/>
                      <a:r>
                        <a:rPr sz="1400" b="0">
                          <a:solidFill>
                            <a:srgbClr val="1E2A26"/>
                          </a:solidFill>
                          <a:latin typeface="Calibri"/>
                        </a:rPr>
                        <a:t>Test F1 0.410 vs. 0.043 baseline</a:t>
                      </a:r>
                    </a:p>
                  </a:txBody>
                  <a:tcPr marL="73152" marR="73152" marT="18288" marB="18288" anchor="ctr">
                    <a:solidFill>
                      <a:srgbClr val="FFF4D1"/>
                    </a:solidFill>
                  </a:tcPr>
                </a:tc>
              </a:tr>
              <a:tr h="804672">
                <a:tc>
                  <a:txBody>
                    <a:bodyPr/>
                    <a:lstStyle/>
                    <a:p>
                      <a:pPr algn="l"/>
                      <a:r>
                        <a:rPr sz="1400" b="1">
                          <a:solidFill>
                            <a:srgbClr val="1E2A26"/>
                          </a:solidFill>
                          <a:latin typeface="Calibri"/>
                        </a:rPr>
                        <a:t>Lesson for us</a:t>
                      </a:r>
                    </a:p>
                  </a:txBody>
                  <a:tcPr marL="73152" marR="73152" marT="18288" marB="18288" anchor="ctr">
                    <a:solidFill>
                      <a:srgbClr val="F6F8F7"/>
                    </a:solidFill>
                  </a:tcPr>
                </a:tc>
                <a:tc>
                  <a:txBody>
                    <a:bodyPr/>
                    <a:lstStyle/>
                    <a:p>
                      <a:pPr algn="ctr"/>
                      <a:r>
                        <a:rPr sz="1400" b="0">
                          <a:solidFill>
                            <a:srgbClr val="1E2A26"/>
                          </a:solidFill>
                          <a:latin typeface="Calibri"/>
                        </a:rPr>
                        <a:t>Accuracy misleads on imbalanced data</a:t>
                      </a:r>
                    </a:p>
                  </a:txBody>
                  <a:tcPr marL="73152" marR="73152" marT="18288" marB="18288" anchor="ctr">
                    <a:solidFill>
                      <a:srgbClr val="F6F8F7"/>
                    </a:solidFill>
                  </a:tcPr>
                </a:tc>
                <a:tc>
                  <a:txBody>
                    <a:bodyPr/>
                    <a:lstStyle/>
                    <a:p>
                      <a:pPr algn="ctr"/>
                      <a:r>
                        <a:rPr sz="1400" b="0">
                          <a:solidFill>
                            <a:srgbClr val="1E2A26"/>
                          </a:solidFill>
                          <a:latin typeface="Calibri"/>
                        </a:rPr>
                        <a:t>Models drift over time</a:t>
                      </a:r>
                    </a:p>
                  </a:txBody>
                  <a:tcPr marL="73152" marR="73152" marT="18288" marB="18288" anchor="ctr">
                    <a:solidFill>
                      <a:srgbClr val="F6F8F7"/>
                    </a:solidFill>
                  </a:tcPr>
                </a:tc>
                <a:tc>
                  <a:txBody>
                    <a:bodyPr/>
                    <a:lstStyle/>
                    <a:p>
                      <a:pPr algn="ctr"/>
                      <a:r>
                        <a:rPr sz="1400" b="0">
                          <a:solidFill>
                            <a:srgbClr val="1E2A26"/>
                          </a:solidFill>
                          <a:latin typeface="Calibri"/>
                        </a:rPr>
                        <a:t>Request type is central</a:t>
                      </a:r>
                    </a:p>
                  </a:txBody>
                  <a:tcPr marL="73152" marR="73152" marT="18288" marB="18288" anchor="ctr">
                    <a:solidFill>
                      <a:srgbClr val="F6F8F7"/>
                    </a:solidFill>
                  </a:tcPr>
                </a:tc>
                <a:tc>
                  <a:txBody>
                    <a:bodyPr/>
                    <a:lstStyle/>
                    <a:p>
                      <a:pPr algn="ctr"/>
                      <a:r>
                        <a:rPr sz="1400" b="0">
                          <a:solidFill>
                            <a:srgbClr val="1E2A26"/>
                          </a:solidFill>
                          <a:latin typeface="Calibri"/>
                        </a:rPr>
                        <a:t>Applied all three lessons</a:t>
                      </a:r>
                    </a:p>
                  </a:txBody>
                  <a:tcPr marL="73152" marR="73152" marT="18288" marB="18288" anchor="ctr">
                    <a:solidFill>
                      <a:srgbClr val="FFF4D1"/>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2043684"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PROBLEM STATEMENT</a:t>
            </a:r>
          </a:p>
        </p:txBody>
      </p:sp>
      <p:sp>
        <p:nvSpPr>
          <p:cNvPr id="3" name="TextBox 2"/>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Our question: will this request miss its deadline?</a:t>
            </a:r>
          </a:p>
        </p:txBody>
      </p:sp>
      <p:sp>
        <p:nvSpPr>
          <p:cNvPr id="4" name="Oval 3"/>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4</a:t>
            </a:r>
          </a:p>
        </p:txBody>
      </p:sp>
      <p:sp>
        <p:nvSpPr>
          <p:cNvPr id="5" name="Rounded Rectangle 4"/>
          <p:cNvSpPr/>
          <p:nvPr/>
        </p:nvSpPr>
        <p:spPr>
          <a:xfrm>
            <a:off x="548640" y="1783080"/>
            <a:ext cx="11091672" cy="868680"/>
          </a:xfrm>
          <a:prstGeom prst="roundRect">
            <a:avLst>
              <a:gd name="adj" fmla="val 5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900" b="0">
                <a:solidFill>
                  <a:srgbClr val="FFFFFF"/>
                </a:solidFill>
                <a:latin typeface="Calibri"/>
              </a:rPr>
              <a:t>"Using only what's known when a 311 request is filed, can we predict whether Dallas will miss its deadline?"</a:t>
            </a:r>
          </a:p>
        </p:txBody>
      </p:sp>
      <p:sp>
        <p:nvSpPr>
          <p:cNvPr id="6" name="Rounded Rectangle 5"/>
          <p:cNvSpPr/>
          <p:nvPr/>
        </p:nvSpPr>
        <p:spPr>
          <a:xfrm>
            <a:off x="548640" y="2834640"/>
            <a:ext cx="2697480" cy="8686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377440" cy="274320"/>
          </a:xfrm>
          <a:prstGeom prst="rect">
            <a:avLst/>
          </a:prstGeom>
          <a:noFill/>
        </p:spPr>
        <p:txBody>
          <a:bodyPr wrap="square" lIns="0" rIns="0" tIns="0" bIns="0" anchor="t">
            <a:spAutoFit/>
          </a:bodyPr>
          <a:lstStyle/>
          <a:p>
            <a:pPr algn="l">
              <a:spcAft>
                <a:spcPts val="400"/>
              </a:spcAft>
            </a:pPr>
            <a:r>
              <a:rPr sz="1100" b="1" i="0">
                <a:solidFill>
                  <a:srgbClr val="006B47"/>
                </a:solidFill>
                <a:latin typeface="Arial"/>
              </a:rPr>
              <a:t>TARGET</a:t>
            </a:r>
          </a:p>
        </p:txBody>
      </p:sp>
      <p:sp>
        <p:nvSpPr>
          <p:cNvPr id="8" name="TextBox 7"/>
          <p:cNvSpPr txBox="1"/>
          <p:nvPr/>
        </p:nvSpPr>
        <p:spPr>
          <a:xfrm>
            <a:off x="731520" y="3200400"/>
            <a:ext cx="2423160" cy="457200"/>
          </a:xfrm>
          <a:prstGeom prst="rect">
            <a:avLst/>
          </a:prstGeom>
          <a:noFill/>
        </p:spPr>
        <p:txBody>
          <a:bodyPr wrap="square" lIns="0" rIns="0" tIns="0" bIns="0" anchor="t">
            <a:spAutoFit/>
          </a:bodyPr>
          <a:lstStyle/>
          <a:p>
            <a:pPr algn="l">
              <a:spcAft>
                <a:spcPts val="400"/>
              </a:spcAft>
            </a:pPr>
            <a:r>
              <a:rPr sz="1500" b="1" i="0">
                <a:solidFill>
                  <a:srgbClr val="1E2A26"/>
                </a:solidFill>
                <a:latin typeface="Calibri"/>
              </a:rPr>
              <a:t>missed_deadline (1 = late)</a:t>
            </a:r>
          </a:p>
        </p:txBody>
      </p:sp>
      <p:sp>
        <p:nvSpPr>
          <p:cNvPr id="9" name="Rounded Rectangle 8"/>
          <p:cNvSpPr/>
          <p:nvPr/>
        </p:nvSpPr>
        <p:spPr>
          <a:xfrm>
            <a:off x="3346704" y="2834640"/>
            <a:ext cx="2697480" cy="8686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9584" y="2907792"/>
            <a:ext cx="2377440" cy="274320"/>
          </a:xfrm>
          <a:prstGeom prst="rect">
            <a:avLst/>
          </a:prstGeom>
          <a:noFill/>
        </p:spPr>
        <p:txBody>
          <a:bodyPr wrap="square" lIns="0" rIns="0" tIns="0" bIns="0" anchor="t">
            <a:spAutoFit/>
          </a:bodyPr>
          <a:lstStyle/>
          <a:p>
            <a:pPr algn="l">
              <a:spcAft>
                <a:spcPts val="400"/>
              </a:spcAft>
            </a:pPr>
            <a:r>
              <a:rPr sz="1100" b="1" i="0">
                <a:solidFill>
                  <a:srgbClr val="006B47"/>
                </a:solidFill>
                <a:latin typeface="Arial"/>
              </a:rPr>
              <a:t>TASK</a:t>
            </a:r>
          </a:p>
        </p:txBody>
      </p:sp>
      <p:sp>
        <p:nvSpPr>
          <p:cNvPr id="11" name="TextBox 10"/>
          <p:cNvSpPr txBox="1"/>
          <p:nvPr/>
        </p:nvSpPr>
        <p:spPr>
          <a:xfrm>
            <a:off x="3529584" y="3200400"/>
            <a:ext cx="2423160" cy="457200"/>
          </a:xfrm>
          <a:prstGeom prst="rect">
            <a:avLst/>
          </a:prstGeom>
          <a:noFill/>
        </p:spPr>
        <p:txBody>
          <a:bodyPr wrap="square" lIns="0" rIns="0" tIns="0" bIns="0" anchor="t">
            <a:spAutoFit/>
          </a:bodyPr>
          <a:lstStyle/>
          <a:p>
            <a:pPr algn="l">
              <a:spcAft>
                <a:spcPts val="400"/>
              </a:spcAft>
            </a:pPr>
            <a:r>
              <a:rPr sz="1500" b="1" i="0">
                <a:solidFill>
                  <a:srgbClr val="1E2A26"/>
                </a:solidFill>
                <a:latin typeface="Calibri"/>
              </a:rPr>
              <a:t>Binary classification</a:t>
            </a:r>
          </a:p>
        </p:txBody>
      </p:sp>
      <p:sp>
        <p:nvSpPr>
          <p:cNvPr id="12" name="Rounded Rectangle 11"/>
          <p:cNvSpPr/>
          <p:nvPr/>
        </p:nvSpPr>
        <p:spPr>
          <a:xfrm>
            <a:off x="6144768" y="2834640"/>
            <a:ext cx="2697480" cy="8686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2907792"/>
            <a:ext cx="2377440" cy="274320"/>
          </a:xfrm>
          <a:prstGeom prst="rect">
            <a:avLst/>
          </a:prstGeom>
          <a:noFill/>
        </p:spPr>
        <p:txBody>
          <a:bodyPr wrap="square" lIns="0" rIns="0" tIns="0" bIns="0" anchor="t">
            <a:spAutoFit/>
          </a:bodyPr>
          <a:lstStyle/>
          <a:p>
            <a:pPr algn="l">
              <a:spcAft>
                <a:spcPts val="400"/>
              </a:spcAft>
            </a:pPr>
            <a:r>
              <a:rPr sz="1100" b="1" i="0">
                <a:solidFill>
                  <a:srgbClr val="006B47"/>
                </a:solidFill>
                <a:latin typeface="Arial"/>
              </a:rPr>
              <a:t>UNIT</a:t>
            </a:r>
          </a:p>
        </p:txBody>
      </p:sp>
      <p:sp>
        <p:nvSpPr>
          <p:cNvPr id="14" name="TextBox 13"/>
          <p:cNvSpPr txBox="1"/>
          <p:nvPr/>
        </p:nvSpPr>
        <p:spPr>
          <a:xfrm>
            <a:off x="6327648" y="3200400"/>
            <a:ext cx="2423160" cy="457200"/>
          </a:xfrm>
          <a:prstGeom prst="rect">
            <a:avLst/>
          </a:prstGeom>
          <a:noFill/>
        </p:spPr>
        <p:txBody>
          <a:bodyPr wrap="square" lIns="0" rIns="0" tIns="0" bIns="0" anchor="t">
            <a:spAutoFit/>
          </a:bodyPr>
          <a:lstStyle/>
          <a:p>
            <a:pPr algn="l">
              <a:spcAft>
                <a:spcPts val="400"/>
              </a:spcAft>
            </a:pPr>
            <a:r>
              <a:rPr sz="1500" b="1" i="0">
                <a:solidFill>
                  <a:srgbClr val="1E2A26"/>
                </a:solidFill>
                <a:latin typeface="Calibri"/>
              </a:rPr>
              <a:t>One request, at filing</a:t>
            </a:r>
          </a:p>
        </p:txBody>
      </p:sp>
      <p:sp>
        <p:nvSpPr>
          <p:cNvPr id="15" name="Rounded Rectangle 14"/>
          <p:cNvSpPr/>
          <p:nvPr/>
        </p:nvSpPr>
        <p:spPr>
          <a:xfrm>
            <a:off x="8942832" y="2834640"/>
            <a:ext cx="2697480" cy="8686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25712" y="2907792"/>
            <a:ext cx="2377440" cy="274320"/>
          </a:xfrm>
          <a:prstGeom prst="rect">
            <a:avLst/>
          </a:prstGeom>
          <a:noFill/>
        </p:spPr>
        <p:txBody>
          <a:bodyPr wrap="square" lIns="0" rIns="0" tIns="0" bIns="0" anchor="t">
            <a:spAutoFit/>
          </a:bodyPr>
          <a:lstStyle/>
          <a:p>
            <a:pPr algn="l">
              <a:spcAft>
                <a:spcPts val="400"/>
              </a:spcAft>
            </a:pPr>
            <a:r>
              <a:rPr sz="1100" b="1" i="0">
                <a:solidFill>
                  <a:srgbClr val="006B47"/>
                </a:solidFill>
                <a:latin typeface="Arial"/>
              </a:rPr>
              <a:t>MAIN METRIC</a:t>
            </a:r>
          </a:p>
        </p:txBody>
      </p:sp>
      <p:sp>
        <p:nvSpPr>
          <p:cNvPr id="17" name="TextBox 16"/>
          <p:cNvSpPr txBox="1"/>
          <p:nvPr/>
        </p:nvSpPr>
        <p:spPr>
          <a:xfrm>
            <a:off x="9125712" y="3200400"/>
            <a:ext cx="2423160" cy="457200"/>
          </a:xfrm>
          <a:prstGeom prst="rect">
            <a:avLst/>
          </a:prstGeom>
          <a:noFill/>
        </p:spPr>
        <p:txBody>
          <a:bodyPr wrap="square" lIns="0" rIns="0" tIns="0" bIns="0" anchor="t">
            <a:spAutoFit/>
          </a:bodyPr>
          <a:lstStyle/>
          <a:p>
            <a:pPr algn="l">
              <a:spcAft>
                <a:spcPts val="400"/>
              </a:spcAft>
            </a:pPr>
            <a:r>
              <a:rPr sz="1500" b="1" i="0">
                <a:solidFill>
                  <a:srgbClr val="1E2A26"/>
                </a:solidFill>
                <a:latin typeface="Calibri"/>
              </a:rPr>
              <a:t>F1 for "missed"</a:t>
            </a:r>
          </a:p>
        </p:txBody>
      </p:sp>
      <p:sp>
        <p:nvSpPr>
          <p:cNvPr id="18" name="Rectangle 17"/>
          <p:cNvSpPr/>
          <p:nvPr/>
        </p:nvSpPr>
        <p:spPr>
          <a:xfrm>
            <a:off x="822960" y="4315968"/>
            <a:ext cx="8778240" cy="109728"/>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48640" y="4050791"/>
            <a:ext cx="640080" cy="640080"/>
          </a:xfrm>
          <a:prstGeom prst="ellipse">
            <a:avLst/>
          </a:prstGeom>
          <a:solidFill>
            <a:srgbClr val="006B4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800" b="1">
                <a:solidFill>
                  <a:srgbClr val="FFFFFF"/>
                </a:solidFill>
                <a:latin typeface="Calibri"/>
              </a:rPr>
              <a:t>1</a:t>
            </a:r>
          </a:p>
        </p:txBody>
      </p:sp>
      <p:sp>
        <p:nvSpPr>
          <p:cNvPr id="20" name="TextBox 19"/>
          <p:cNvSpPr txBox="1"/>
          <p:nvPr/>
        </p:nvSpPr>
        <p:spPr>
          <a:xfrm>
            <a:off x="548640" y="4828032"/>
            <a:ext cx="2651760" cy="91440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Build a baseline before improving</a:t>
            </a:r>
          </a:p>
        </p:txBody>
      </p:sp>
      <p:sp>
        <p:nvSpPr>
          <p:cNvPr id="21" name="Oval 20"/>
          <p:cNvSpPr/>
          <p:nvPr/>
        </p:nvSpPr>
        <p:spPr>
          <a:xfrm>
            <a:off x="3364992" y="4050791"/>
            <a:ext cx="640080" cy="640080"/>
          </a:xfrm>
          <a:prstGeom prst="ellipse">
            <a:avLst/>
          </a:prstGeom>
          <a:solidFill>
            <a:srgbClr val="006B4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800" b="1">
                <a:solidFill>
                  <a:srgbClr val="FFFFFF"/>
                </a:solidFill>
                <a:latin typeface="Calibri"/>
              </a:rPr>
              <a:t>2</a:t>
            </a:r>
          </a:p>
        </p:txBody>
      </p:sp>
      <p:sp>
        <p:nvSpPr>
          <p:cNvPr id="22" name="TextBox 21"/>
          <p:cNvSpPr txBox="1"/>
          <p:nvPr/>
        </p:nvSpPr>
        <p:spPr>
          <a:xfrm>
            <a:off x="3364992" y="4828032"/>
            <a:ext cx="2651760" cy="91440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Test which steps actually help, and report the ones that don't</a:t>
            </a:r>
          </a:p>
        </p:txBody>
      </p:sp>
      <p:sp>
        <p:nvSpPr>
          <p:cNvPr id="23" name="Oval 22"/>
          <p:cNvSpPr/>
          <p:nvPr/>
        </p:nvSpPr>
        <p:spPr>
          <a:xfrm>
            <a:off x="6181344" y="4050791"/>
            <a:ext cx="640080" cy="640080"/>
          </a:xfrm>
          <a:prstGeom prst="ellipse">
            <a:avLst/>
          </a:prstGeom>
          <a:solidFill>
            <a:srgbClr val="006B4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800" b="1">
                <a:solidFill>
                  <a:srgbClr val="FFFFFF"/>
                </a:solidFill>
                <a:latin typeface="Calibri"/>
              </a:rPr>
              <a:t>3</a:t>
            </a:r>
          </a:p>
        </p:txBody>
      </p:sp>
      <p:sp>
        <p:nvSpPr>
          <p:cNvPr id="24" name="TextBox 23"/>
          <p:cNvSpPr txBox="1"/>
          <p:nvPr/>
        </p:nvSpPr>
        <p:spPr>
          <a:xfrm>
            <a:off x="6181344" y="4828032"/>
            <a:ext cx="2651760" cy="91440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Compare model types with fair metrics</a:t>
            </a:r>
          </a:p>
        </p:txBody>
      </p:sp>
      <p:sp>
        <p:nvSpPr>
          <p:cNvPr id="25" name="Oval 24"/>
          <p:cNvSpPr/>
          <p:nvPr/>
        </p:nvSpPr>
        <p:spPr>
          <a:xfrm>
            <a:off x="8997696" y="4050791"/>
            <a:ext cx="640080" cy="640080"/>
          </a:xfrm>
          <a:prstGeom prst="ellipse">
            <a:avLst/>
          </a:prstGeom>
          <a:solidFill>
            <a:srgbClr val="006B4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800" b="1">
                <a:solidFill>
                  <a:srgbClr val="FFFFFF"/>
                </a:solidFill>
                <a:latin typeface="Calibri"/>
              </a:rPr>
              <a:t>4</a:t>
            </a:r>
          </a:p>
        </p:txBody>
      </p:sp>
      <p:sp>
        <p:nvSpPr>
          <p:cNvPr id="26" name="TextBox 25"/>
          <p:cNvSpPr txBox="1"/>
          <p:nvPr/>
        </p:nvSpPr>
        <p:spPr>
          <a:xfrm>
            <a:off x="8997696" y="4828032"/>
            <a:ext cx="2651760" cy="91440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Find what drives misses; check fairness by district</a:t>
            </a:r>
          </a:p>
        </p:txBody>
      </p:sp>
      <p:sp>
        <p:nvSpPr>
          <p:cNvPr id="27" name="TextBox 26"/>
          <p:cNvSpPr txBox="1"/>
          <p:nvPr/>
        </p:nvSpPr>
        <p:spPr>
          <a:xfrm>
            <a:off x="548640" y="5806440"/>
            <a:ext cx="11064240" cy="411480"/>
          </a:xfrm>
          <a:prstGeom prst="rect">
            <a:avLst/>
          </a:prstGeom>
          <a:noFill/>
        </p:spPr>
        <p:txBody>
          <a:bodyPr wrap="square" lIns="0" rIns="0" tIns="0" bIns="0" anchor="t">
            <a:spAutoFit/>
          </a:bodyPr>
          <a:lstStyle/>
          <a:p>
            <a:pPr algn="l">
              <a:spcAft>
                <a:spcPts val="400"/>
              </a:spcAft>
            </a:pPr>
            <a:r>
              <a:rPr sz="1500" b="1" i="0">
                <a:solidFill>
                  <a:srgbClr val="9A6600"/>
                </a:solidFill>
                <a:latin typeface="Calibri"/>
              </a:rPr>
              <a:t>Success = </a:t>
            </a:r>
            <a:r>
              <a:rPr sz="1500" b="0" i="0">
                <a:solidFill>
                  <a:srgbClr val="1E2A26"/>
                </a:solidFill>
                <a:latin typeface="Calibri"/>
              </a:rPr>
              <a:t>clearly beating the baseline's F1, with every gain explained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795528"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DATA</a:t>
            </a:r>
          </a:p>
        </p:txBody>
      </p:sp>
      <p:sp>
        <p:nvSpPr>
          <p:cNvPr id="3" name="Rounded Rectangle 2"/>
          <p:cNvSpPr/>
          <p:nvPr/>
        </p:nvSpPr>
        <p:spPr>
          <a:xfrm>
            <a:off x="5916168" y="365760"/>
            <a:ext cx="566928"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276,378 requests had a deadline, and 11% of them were missed</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5</a:t>
            </a:r>
          </a:p>
        </p:txBody>
      </p:sp>
      <p:sp>
        <p:nvSpPr>
          <p:cNvPr id="16" name="TextBox 15"/>
          <p:cNvSpPr txBox="1"/>
          <p:nvPr/>
        </p:nvSpPr>
        <p:spPr>
          <a:xfrm>
            <a:off x="548640" y="1691640"/>
            <a:ext cx="11091672" cy="292608"/>
          </a:xfrm>
          <a:prstGeom prst="rect">
            <a:avLst/>
          </a:prstGeom>
          <a:noFill/>
        </p:spPr>
        <p:txBody>
          <a:bodyPr wrap="square" lIns="0" rIns="0" tIns="0" bIns="0" anchor="t">
            <a:spAutoFit/>
          </a:bodyPr>
          <a:lstStyle/>
          <a:p>
            <a:pPr algn="l">
              <a:spcAft>
                <a:spcPts val="400"/>
              </a:spcAft>
            </a:pPr>
            <a:r>
              <a:rPr sz="1300" b="1" i="0">
                <a:solidFill>
                  <a:srgbClr val="5F6B66"/>
                </a:solidFill>
                <a:latin typeface="Calibri"/>
              </a:rPr>
              <a:t>Source: </a:t>
            </a:r>
            <a:r>
              <a:rPr sz="1300" b="0" i="0">
                <a:solidFill>
                  <a:srgbClr val="5F6B66"/>
                </a:solidFill>
                <a:latin typeface="Calibri"/>
              </a:rPr>
              <a:t>Dallas OpenData 311 Service Requests · public domain (PDDL) · 16 columns, 13 kept · explored with pandas summaries and charts</a:t>
            </a:r>
          </a:p>
        </p:txBody>
      </p:sp>
      <p:sp>
        <p:nvSpPr>
          <p:cNvPr id="17" name="Rounded Rectangle 16"/>
          <p:cNvSpPr/>
          <p:nvPr/>
        </p:nvSpPr>
        <p:spPr>
          <a:xfrm>
            <a:off x="548640" y="2148840"/>
            <a:ext cx="6035040" cy="731520"/>
          </a:xfrm>
          <a:prstGeom prst="roundRect">
            <a:avLst>
              <a:gd name="adj" fmla="val 15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2200" b="1">
                <a:solidFill>
                  <a:srgbClr val="FFFFFF"/>
                </a:solidFill>
                <a:latin typeface="Arial"/>
              </a:rPr>
              <a:t>400,717</a:t>
            </a:r>
          </a:p>
        </p:txBody>
      </p:sp>
      <p:sp>
        <p:nvSpPr>
          <p:cNvPr id="18" name="TextBox 17"/>
          <p:cNvSpPr txBox="1"/>
          <p:nvPr/>
        </p:nvSpPr>
        <p:spPr>
          <a:xfrm>
            <a:off x="548640" y="2926080"/>
            <a:ext cx="6035040" cy="292608"/>
          </a:xfrm>
          <a:prstGeom prst="rect">
            <a:avLst/>
          </a:prstGeom>
          <a:noFill/>
        </p:spPr>
        <p:txBody>
          <a:bodyPr wrap="square" lIns="0" rIns="0" tIns="0" bIns="0" anchor="t">
            <a:spAutoFit/>
          </a:bodyPr>
          <a:lstStyle/>
          <a:p>
            <a:pPr algn="ctr">
              <a:spcAft>
                <a:spcPts val="400"/>
              </a:spcAft>
            </a:pPr>
            <a:r>
              <a:rPr sz="1300" b="0" i="0">
                <a:solidFill>
                  <a:srgbClr val="5F6B66"/>
                </a:solidFill>
                <a:latin typeface="Calibri"/>
              </a:rPr>
              <a:t>closed 2025 requests downloaded</a:t>
            </a:r>
          </a:p>
        </p:txBody>
      </p:sp>
      <p:sp>
        <p:nvSpPr>
          <p:cNvPr id="19" name="Rounded Rectangle 18"/>
          <p:cNvSpPr/>
          <p:nvPr/>
        </p:nvSpPr>
        <p:spPr>
          <a:xfrm>
            <a:off x="1485900" y="3410712"/>
            <a:ext cx="4160520" cy="731520"/>
          </a:xfrm>
          <a:prstGeom prst="roundRect">
            <a:avLst>
              <a:gd name="adj" fmla="val 15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2200" b="1">
                <a:solidFill>
                  <a:srgbClr val="FFFFFF"/>
                </a:solidFill>
                <a:latin typeface="Arial"/>
              </a:rPr>
              <a:t>276,378</a:t>
            </a:r>
          </a:p>
        </p:txBody>
      </p:sp>
      <p:sp>
        <p:nvSpPr>
          <p:cNvPr id="20" name="TextBox 19"/>
          <p:cNvSpPr txBox="1"/>
          <p:nvPr/>
        </p:nvSpPr>
        <p:spPr>
          <a:xfrm>
            <a:off x="548640" y="4187952"/>
            <a:ext cx="6035040" cy="292608"/>
          </a:xfrm>
          <a:prstGeom prst="rect">
            <a:avLst/>
          </a:prstGeom>
          <a:noFill/>
        </p:spPr>
        <p:txBody>
          <a:bodyPr wrap="square" lIns="0" rIns="0" tIns="0" bIns="0" anchor="t">
            <a:spAutoFit/>
          </a:bodyPr>
          <a:lstStyle/>
          <a:p>
            <a:pPr algn="ctr">
              <a:spcAft>
                <a:spcPts val="400"/>
              </a:spcAft>
            </a:pPr>
            <a:r>
              <a:rPr sz="1300" b="0" i="0">
                <a:solidFill>
                  <a:srgbClr val="5F6B66"/>
                </a:solidFill>
                <a:latin typeface="Calibri"/>
              </a:rPr>
              <a:t>have a due date: our modeling data</a:t>
            </a:r>
          </a:p>
        </p:txBody>
      </p:sp>
      <p:sp>
        <p:nvSpPr>
          <p:cNvPr id="21" name="Rounded Rectangle 20"/>
          <p:cNvSpPr/>
          <p:nvPr/>
        </p:nvSpPr>
        <p:spPr>
          <a:xfrm>
            <a:off x="1485900" y="4672583"/>
            <a:ext cx="4160520" cy="731520"/>
          </a:xfrm>
          <a:prstGeom prst="roundRect">
            <a:avLst>
              <a:gd name="adj" fmla="val 15000"/>
            </a:avLst>
          </a:prstGeom>
          <a:solidFill>
            <a:srgbClr val="13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2200" b="1">
                <a:solidFill>
                  <a:srgbClr val="FFFFFF"/>
                </a:solidFill>
                <a:latin typeface="Arial"/>
              </a:rPr>
              <a:t>172K · 45K · 59K</a:t>
            </a:r>
          </a:p>
        </p:txBody>
      </p:sp>
      <p:sp>
        <p:nvSpPr>
          <p:cNvPr id="22" name="TextBox 21"/>
          <p:cNvSpPr txBox="1"/>
          <p:nvPr/>
        </p:nvSpPr>
        <p:spPr>
          <a:xfrm>
            <a:off x="548640" y="5449823"/>
            <a:ext cx="6035040" cy="292608"/>
          </a:xfrm>
          <a:prstGeom prst="rect">
            <a:avLst/>
          </a:prstGeom>
          <a:noFill/>
        </p:spPr>
        <p:txBody>
          <a:bodyPr wrap="square" lIns="0" rIns="0" tIns="0" bIns="0" anchor="t">
            <a:spAutoFit/>
          </a:bodyPr>
          <a:lstStyle/>
          <a:p>
            <a:pPr algn="ctr">
              <a:spcAft>
                <a:spcPts val="400"/>
              </a:spcAft>
            </a:pPr>
            <a:r>
              <a:rPr sz="1300" b="0" i="0">
                <a:solidFill>
                  <a:srgbClr val="5F6B66"/>
                </a:solidFill>
                <a:latin typeface="Calibri"/>
              </a:rPr>
              <a:t>train (Jan–Jul) · validation (Aug–Sep) · test (Oct–Dec)</a:t>
            </a:r>
          </a:p>
        </p:txBody>
      </p:sp>
      <p:sp>
        <p:nvSpPr>
          <p:cNvPr id="23" name="TextBox 22"/>
          <p:cNvSpPr txBox="1"/>
          <p:nvPr/>
        </p:nvSpPr>
        <p:spPr>
          <a:xfrm>
            <a:off x="548640" y="5897880"/>
            <a:ext cx="6035040" cy="320040"/>
          </a:xfrm>
          <a:prstGeom prst="rect">
            <a:avLst/>
          </a:prstGeom>
          <a:noFill/>
        </p:spPr>
        <p:txBody>
          <a:bodyPr wrap="square" lIns="0" rIns="0" tIns="0" bIns="0" anchor="t">
            <a:spAutoFit/>
          </a:bodyPr>
          <a:lstStyle/>
          <a:p>
            <a:pPr algn="ctr">
              <a:spcAft>
                <a:spcPts val="400"/>
              </a:spcAft>
            </a:pPr>
            <a:r>
              <a:rPr sz="1300" b="1" i="0">
                <a:solidFill>
                  <a:srgbClr val="9A6600"/>
                </a:solidFill>
                <a:latin typeface="Calibri"/>
              </a:rPr>
              <a:t>124,337 dropped: no due date (almost all "Code Concern")</a:t>
            </a:r>
          </a:p>
        </p:txBody>
      </p:sp>
      <p:sp>
        <p:nvSpPr>
          <p:cNvPr id="24" name="TextBox 23"/>
          <p:cNvSpPr txBox="1"/>
          <p:nvPr/>
        </p:nvSpPr>
        <p:spPr>
          <a:xfrm>
            <a:off x="6949440" y="2148840"/>
            <a:ext cx="4663440" cy="320040"/>
          </a:xfrm>
          <a:prstGeom prst="rect">
            <a:avLst/>
          </a:prstGeom>
          <a:noFill/>
        </p:spPr>
        <p:txBody>
          <a:bodyPr wrap="square" lIns="0" rIns="0" tIns="0" bIns="0" anchor="t">
            <a:spAutoFit/>
          </a:bodyPr>
          <a:lstStyle/>
          <a:p>
            <a:pPr algn="l">
              <a:spcAft>
                <a:spcPts val="400"/>
              </a:spcAft>
            </a:pPr>
            <a:r>
              <a:rPr sz="1500" b="1" i="0">
                <a:solidFill>
                  <a:srgbClr val="1E2A26"/>
                </a:solidFill>
                <a:latin typeface="Arial"/>
              </a:rPr>
              <a:t>Class balance (requests with a due date)</a:t>
            </a:r>
          </a:p>
        </p:txBody>
      </p:sp>
      <p:sp>
        <p:nvSpPr>
          <p:cNvPr id="25" name="Rectangle 24"/>
          <p:cNvSpPr/>
          <p:nvPr/>
        </p:nvSpPr>
        <p:spPr>
          <a:xfrm>
            <a:off x="6949440" y="2542032"/>
            <a:ext cx="4140853" cy="566928"/>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500" b="1">
                <a:solidFill>
                  <a:srgbClr val="FFFFFF"/>
                </a:solidFill>
                <a:latin typeface="Calibri"/>
              </a:rPr>
              <a:t>On time  89%</a:t>
            </a:r>
          </a:p>
        </p:txBody>
      </p:sp>
      <p:sp>
        <p:nvSpPr>
          <p:cNvPr id="26" name="Rectangle 25"/>
          <p:cNvSpPr/>
          <p:nvPr/>
        </p:nvSpPr>
        <p:spPr>
          <a:xfrm>
            <a:off x="11090293" y="2542032"/>
            <a:ext cx="522586" cy="566928"/>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1E2A26"/>
                </a:solidFill>
                <a:latin typeface="Calibri"/>
              </a:rPr>
              <a:t>11%</a:t>
            </a:r>
          </a:p>
        </p:txBody>
      </p:sp>
      <p:sp>
        <p:nvSpPr>
          <p:cNvPr id="27" name="TextBox 26"/>
          <p:cNvSpPr txBox="1"/>
          <p:nvPr/>
        </p:nvSpPr>
        <p:spPr>
          <a:xfrm>
            <a:off x="6949440" y="3200400"/>
            <a:ext cx="4663440" cy="320040"/>
          </a:xfrm>
          <a:prstGeom prst="rect">
            <a:avLst/>
          </a:prstGeom>
          <a:noFill/>
        </p:spPr>
        <p:txBody>
          <a:bodyPr wrap="square" lIns="0" rIns="0" tIns="0" bIns="0" anchor="t">
            <a:spAutoFit/>
          </a:bodyPr>
          <a:lstStyle/>
          <a:p>
            <a:pPr algn="l">
              <a:spcAft>
                <a:spcPts val="400"/>
              </a:spcAft>
            </a:pPr>
            <a:r>
              <a:rPr sz="1300" b="0" i="1">
                <a:solidFill>
                  <a:srgbClr val="5F6B66"/>
                </a:solidFill>
                <a:latin typeface="Calibri"/>
              </a:rPr>
              <a:t>Imbalanced: "always on time" is already 89% accurate</a:t>
            </a:r>
          </a:p>
        </p:txBody>
      </p:sp>
      <p:sp>
        <p:nvSpPr>
          <p:cNvPr id="28" name="Rounded Rectangle 27"/>
          <p:cNvSpPr/>
          <p:nvPr/>
        </p:nvSpPr>
        <p:spPr>
          <a:xfrm>
            <a:off x="6949440" y="3657600"/>
            <a:ext cx="2240280" cy="256032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0" y="3767328"/>
            <a:ext cx="1920240" cy="320040"/>
          </a:xfrm>
          <a:prstGeom prst="rect">
            <a:avLst/>
          </a:prstGeom>
          <a:noFill/>
        </p:spPr>
        <p:txBody>
          <a:bodyPr wrap="square" lIns="0" rIns="0" tIns="0" bIns="0" anchor="t">
            <a:spAutoFit/>
          </a:bodyPr>
          <a:lstStyle/>
          <a:p>
            <a:pPr algn="l">
              <a:spcAft>
                <a:spcPts val="400"/>
              </a:spcAft>
            </a:pPr>
            <a:r>
              <a:rPr sz="1500" b="1" i="0">
                <a:solidFill>
                  <a:srgbClr val="006B47"/>
                </a:solidFill>
                <a:latin typeface="Arial"/>
              </a:rPr>
              <a:t>Features</a:t>
            </a:r>
          </a:p>
        </p:txBody>
      </p:sp>
      <p:sp>
        <p:nvSpPr>
          <p:cNvPr id="30" name="TextBox 29"/>
          <p:cNvSpPr txBox="1"/>
          <p:nvPr/>
        </p:nvSpPr>
        <p:spPr>
          <a:xfrm>
            <a:off x="7132320" y="4133087"/>
            <a:ext cx="1938528" cy="2011680"/>
          </a:xfrm>
          <a:prstGeom prst="rect">
            <a:avLst/>
          </a:prstGeom>
          <a:noFill/>
        </p:spPr>
        <p:txBody>
          <a:bodyPr wrap="square" lIns="0" rIns="0" tIns="0" bIns="0" anchor="t">
            <a:spAutoFit/>
          </a:bodyPr>
          <a:lstStyle/>
          <a:p>
            <a:pPr algn="l">
              <a:spcAft>
                <a:spcPts val="800"/>
              </a:spcAft>
            </a:pPr>
            <a:r>
              <a:rPr sz="1300" b="1" i="0">
                <a:solidFill>
                  <a:srgbClr val="1E2A26"/>
                </a:solidFill>
                <a:latin typeface="Calibri"/>
              </a:rPr>
              <a:t>Categorical: </a:t>
            </a:r>
            <a:r>
              <a:rPr sz="1300" b="0" i="0">
                <a:solidFill>
                  <a:srgbClr val="1E2A26"/>
                </a:solidFill>
                <a:latin typeface="Calibri"/>
              </a:rPr>
              <a:t>request type, department, priority, intake method, district</a:t>
            </a:r>
          </a:p>
          <a:p>
            <a:pPr algn="l">
              <a:spcAft>
                <a:spcPts val="800"/>
              </a:spcAft>
            </a:pPr>
            <a:r>
              <a:rPr sz="1300" b="1" i="0">
                <a:solidFill>
                  <a:srgbClr val="1E2A26"/>
                </a:solidFill>
                <a:latin typeface="Calibri"/>
              </a:rPr>
              <a:t>Numeric: </a:t>
            </a:r>
            <a:r>
              <a:rPr sz="1300" b="0" i="0">
                <a:solidFill>
                  <a:srgbClr val="1E2A26"/>
                </a:solidFill>
                <a:latin typeface="Calibri"/>
              </a:rPr>
              <a:t>promised time, hour, location</a:t>
            </a:r>
          </a:p>
        </p:txBody>
      </p:sp>
      <p:sp>
        <p:nvSpPr>
          <p:cNvPr id="31" name="Rounded Rectangle 30"/>
          <p:cNvSpPr/>
          <p:nvPr/>
        </p:nvSpPr>
        <p:spPr>
          <a:xfrm>
            <a:off x="9372600" y="3657600"/>
            <a:ext cx="2267712" cy="256032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55480" y="3767328"/>
            <a:ext cx="1965960" cy="320040"/>
          </a:xfrm>
          <a:prstGeom prst="rect">
            <a:avLst/>
          </a:prstGeom>
          <a:noFill/>
        </p:spPr>
        <p:txBody>
          <a:bodyPr wrap="square" lIns="0" rIns="0" tIns="0" bIns="0" anchor="t">
            <a:spAutoFit/>
          </a:bodyPr>
          <a:lstStyle/>
          <a:p>
            <a:pPr algn="l">
              <a:spcAft>
                <a:spcPts val="400"/>
              </a:spcAft>
            </a:pPr>
            <a:r>
              <a:rPr sz="1500" b="1" i="0">
                <a:solidFill>
                  <a:srgbClr val="9A6600"/>
                </a:solidFill>
                <a:latin typeface="Arial"/>
              </a:rPr>
              <a:t>Quality issues</a:t>
            </a:r>
          </a:p>
        </p:txBody>
      </p:sp>
      <p:sp>
        <p:nvSpPr>
          <p:cNvPr id="33" name="TextBox 32"/>
          <p:cNvSpPr txBox="1"/>
          <p:nvPr/>
        </p:nvSpPr>
        <p:spPr>
          <a:xfrm>
            <a:off x="9555480" y="4133087"/>
            <a:ext cx="1965960" cy="2011680"/>
          </a:xfrm>
          <a:prstGeom prst="rect">
            <a:avLst/>
          </a:prstGeom>
          <a:noFill/>
        </p:spPr>
        <p:txBody>
          <a:bodyPr wrap="square" lIns="0" rIns="0" tIns="0" bIns="0" anchor="t">
            <a:spAutoFit/>
          </a:bodyPr>
          <a:lstStyle/>
          <a:p>
            <a:pPr algn="l">
              <a:spcAft>
                <a:spcPts val="500"/>
              </a:spcAft>
            </a:pPr>
            <a:r>
              <a:rPr sz="1300" b="1" i="0">
                <a:solidFill>
                  <a:srgbClr val="9A6600"/>
                </a:solidFill>
                <a:latin typeface="Calibri"/>
              </a:rPr>
              <a:t>•  </a:t>
            </a:r>
            <a:r>
              <a:rPr sz="1300" b="0" i="0">
                <a:solidFill>
                  <a:srgbClr val="1E2A26"/>
                </a:solidFill>
                <a:latin typeface="Calibri"/>
              </a:rPr>
              <a:t>558 districts, 154 priorities, 61 locations missing</a:t>
            </a:r>
          </a:p>
          <a:p>
            <a:pPr algn="l">
              <a:spcAft>
                <a:spcPts val="500"/>
              </a:spcAft>
            </a:pPr>
            <a:r>
              <a:rPr sz="1300" b="1" i="0">
                <a:solidFill>
                  <a:srgbClr val="9A6600"/>
                </a:solidFill>
                <a:latin typeface="Calibri"/>
              </a:rPr>
              <a:t>•  </a:t>
            </a:r>
            <a:r>
              <a:rPr sz="1300" b="0" i="0">
                <a:solidFill>
                  <a:srgbClr val="1E2A26"/>
                </a:solidFill>
                <a:latin typeface="Calibri"/>
              </a:rPr>
              <a:t>2 closed before created</a:t>
            </a:r>
          </a:p>
          <a:p>
            <a:pPr algn="l">
              <a:spcAft>
                <a:spcPts val="500"/>
              </a:spcAft>
            </a:pPr>
            <a:r>
              <a:rPr sz="1300" b="1" i="0">
                <a:solidFill>
                  <a:srgbClr val="9A6600"/>
                </a:solidFill>
                <a:latin typeface="Calibri"/>
              </a:rPr>
              <a:t>•  </a:t>
            </a:r>
            <a:r>
              <a:rPr sz="1300" b="0" i="0">
                <a:solidFill>
                  <a:srgbClr val="1E2A26"/>
                </a:solidFill>
                <a:latin typeface="Calibri"/>
              </a:rPr>
              <a:t>1 department, 2 names</a:t>
            </a:r>
          </a:p>
          <a:p>
            <a:pPr algn="l">
              <a:spcAft>
                <a:spcPts val="500"/>
              </a:spcAft>
            </a:pPr>
            <a:r>
              <a:rPr sz="1300" b="1" i="0">
                <a:solidFill>
                  <a:srgbClr val="9A6600"/>
                </a:solidFill>
                <a:latin typeface="Calibri"/>
              </a:rPr>
              <a:t>•  </a:t>
            </a:r>
            <a:r>
              <a:rPr sz="1300" b="0" i="0">
                <a:solidFill>
                  <a:srgbClr val="1E2A26"/>
                </a:solidFill>
                <a:latin typeface="Calibri"/>
              </a:rPr>
              <a:t>0 duplicates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467612"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EXPLORATION</a:t>
            </a:r>
          </a:p>
        </p:txBody>
      </p:sp>
      <p:sp>
        <p:nvSpPr>
          <p:cNvPr id="3" name="Rounded Rectangle 2"/>
          <p:cNvSpPr/>
          <p:nvPr/>
        </p:nvSpPr>
        <p:spPr>
          <a:xfrm>
            <a:off x="5916168" y="365760"/>
            <a:ext cx="566928"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Request type matters most, and some districts lag behind</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6</a:t>
            </a:r>
          </a:p>
        </p:txBody>
      </p:sp>
      <p:sp>
        <p:nvSpPr>
          <p:cNvPr id="16" name="TextBox 15"/>
          <p:cNvSpPr txBox="1"/>
          <p:nvPr/>
        </p:nvSpPr>
        <p:spPr>
          <a:xfrm>
            <a:off x="548640" y="1737360"/>
            <a:ext cx="5760720" cy="320040"/>
          </a:xfrm>
          <a:prstGeom prst="rect">
            <a:avLst/>
          </a:prstGeom>
          <a:noFill/>
        </p:spPr>
        <p:txBody>
          <a:bodyPr wrap="square" lIns="0" rIns="0" tIns="0" bIns="0" anchor="t">
            <a:spAutoFit/>
          </a:bodyPr>
          <a:lstStyle/>
          <a:p>
            <a:pPr algn="l">
              <a:spcAft>
                <a:spcPts val="400"/>
              </a:spcAft>
            </a:pPr>
            <a:r>
              <a:rPr sz="1500" b="1" i="0">
                <a:solidFill>
                  <a:srgbClr val="1E2A26"/>
                </a:solidFill>
                <a:latin typeface="Arial"/>
              </a:rPr>
              <a:t>Missed rate, 12 most common request types</a:t>
            </a:r>
          </a:p>
        </p:txBody>
      </p:sp>
      <p:graphicFrame>
        <p:nvGraphicFramePr>
          <p:cNvPr id="17" name="Chart 16"/>
          <p:cNvGraphicFramePr>
            <a:graphicFrameLocks noGrp="1"/>
          </p:cNvGraphicFramePr>
          <p:nvPr/>
        </p:nvGraphicFramePr>
        <p:xfrm>
          <a:off x="411480" y="2057400"/>
          <a:ext cx="6035040" cy="3154680"/>
        </p:xfrm>
        <a:graphic>
          <a:graphicData uri="http://schemas.openxmlformats.org/drawingml/2006/chart">
            <c:chart xmlns:c="http://schemas.openxmlformats.org/drawingml/2006/chart" r:id="rId2"/>
          </a:graphicData>
        </a:graphic>
      </p:graphicFrame>
      <p:sp>
        <p:nvSpPr>
          <p:cNvPr id="18" name="TextBox 17"/>
          <p:cNvSpPr txBox="1"/>
          <p:nvPr/>
        </p:nvSpPr>
        <p:spPr>
          <a:xfrm>
            <a:off x="6720840" y="1737360"/>
            <a:ext cx="4937760" cy="320040"/>
          </a:xfrm>
          <a:prstGeom prst="rect">
            <a:avLst/>
          </a:prstGeom>
          <a:noFill/>
        </p:spPr>
        <p:txBody>
          <a:bodyPr wrap="square" lIns="0" rIns="0" tIns="0" bIns="0" anchor="t">
            <a:spAutoFit/>
          </a:bodyPr>
          <a:lstStyle/>
          <a:p>
            <a:pPr algn="l">
              <a:spcAft>
                <a:spcPts val="400"/>
              </a:spcAft>
            </a:pPr>
            <a:r>
              <a:rPr sz="1500" b="1" i="0">
                <a:solidFill>
                  <a:srgbClr val="1E2A26"/>
                </a:solidFill>
                <a:latin typeface="Arial"/>
              </a:rPr>
              <a:t>Districts: actual ÷ expected missed rate</a:t>
            </a:r>
          </a:p>
        </p:txBody>
      </p:sp>
      <p:graphicFrame>
        <p:nvGraphicFramePr>
          <p:cNvPr id="19" name="Chart 18"/>
          <p:cNvGraphicFramePr>
            <a:graphicFrameLocks noGrp="1"/>
          </p:cNvGraphicFramePr>
          <p:nvPr/>
        </p:nvGraphicFramePr>
        <p:xfrm>
          <a:off x="6583680" y="2057400"/>
          <a:ext cx="5074920" cy="3154680"/>
        </p:xfrm>
        <a:graphic>
          <a:graphicData uri="http://schemas.openxmlformats.org/drawingml/2006/chart">
            <c:chart xmlns:c="http://schemas.openxmlformats.org/drawingml/2006/chart" r:id="rId3"/>
          </a:graphicData>
        </a:graphic>
      </p:graphicFrame>
      <p:sp>
        <p:nvSpPr>
          <p:cNvPr id="20" name="TextBox 19"/>
          <p:cNvSpPr txBox="1"/>
          <p:nvPr/>
        </p:nvSpPr>
        <p:spPr>
          <a:xfrm>
            <a:off x="548640" y="5257800"/>
            <a:ext cx="5760720" cy="548640"/>
          </a:xfrm>
          <a:prstGeom prst="rect">
            <a:avLst/>
          </a:prstGeom>
          <a:noFill/>
        </p:spPr>
        <p:txBody>
          <a:bodyPr wrap="square" lIns="0" rIns="0" tIns="0" bIns="0" anchor="t">
            <a:spAutoFit/>
          </a:bodyPr>
          <a:lstStyle/>
          <a:p>
            <a:pPr algn="l">
              <a:spcAft>
                <a:spcPts val="400"/>
              </a:spcAft>
            </a:pPr>
            <a:r>
              <a:rPr sz="1300" b="1" i="0">
                <a:solidFill>
                  <a:srgbClr val="006B47"/>
                </a:solidFill>
                <a:latin typeface="Calibri"/>
              </a:rPr>
              <a:t>Takeaway: </a:t>
            </a:r>
            <a:r>
              <a:rPr sz="1300" b="0" i="0">
                <a:solidFill>
                  <a:srgbClr val="1E2A26"/>
                </a:solidFill>
                <a:latin typeface="Calibri"/>
              </a:rPr>
              <a:t>Animal Services misses 20–46%, sanitation rarely, so request type became our key feature</a:t>
            </a:r>
          </a:p>
        </p:txBody>
      </p:sp>
      <p:sp>
        <p:nvSpPr>
          <p:cNvPr id="21" name="TextBox 20"/>
          <p:cNvSpPr txBox="1"/>
          <p:nvPr/>
        </p:nvSpPr>
        <p:spPr>
          <a:xfrm>
            <a:off x="6720840" y="5257800"/>
            <a:ext cx="4937760" cy="548640"/>
          </a:xfrm>
          <a:prstGeom prst="rect">
            <a:avLst/>
          </a:prstGeom>
          <a:noFill/>
        </p:spPr>
        <p:txBody>
          <a:bodyPr wrap="square" lIns="0" rIns="0" tIns="0" bIns="0" anchor="t">
            <a:spAutoFit/>
          </a:bodyPr>
          <a:lstStyle/>
          <a:p>
            <a:pPr algn="l">
              <a:spcAft>
                <a:spcPts val="400"/>
              </a:spcAft>
            </a:pPr>
            <a:r>
              <a:rPr sz="1300" b="1" i="0">
                <a:solidFill>
                  <a:srgbClr val="006B47"/>
                </a:solidFill>
                <a:latin typeface="Calibri"/>
              </a:rPr>
              <a:t>Surprise: </a:t>
            </a:r>
            <a:r>
              <a:rPr sz="1300" b="0" i="0">
                <a:solidFill>
                  <a:srgbClr val="1E2A26"/>
                </a:solidFill>
                <a:latin typeface="Calibri"/>
              </a:rPr>
              <a:t>Districts 10–13 miss 12–22% more than expected, so we added a fairness check</a:t>
            </a:r>
          </a:p>
        </p:txBody>
      </p:sp>
      <p:sp>
        <p:nvSpPr>
          <p:cNvPr id="22" name="Rounded Rectangle 21"/>
          <p:cNvSpPr/>
          <p:nvPr/>
        </p:nvSpPr>
        <p:spPr>
          <a:xfrm>
            <a:off x="548640" y="5833872"/>
            <a:ext cx="11091672" cy="45720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879592"/>
            <a:ext cx="10789920" cy="365760"/>
          </a:xfrm>
          <a:prstGeom prst="rect">
            <a:avLst/>
          </a:prstGeom>
          <a:noFill/>
        </p:spPr>
        <p:txBody>
          <a:bodyPr wrap="square" lIns="0" rIns="0" tIns="0" bIns="0" anchor="ctr">
            <a:spAutoFit/>
          </a:bodyPr>
          <a:lstStyle/>
          <a:p>
            <a:pPr algn="l">
              <a:spcAft>
                <a:spcPts val="400"/>
              </a:spcAft>
            </a:pPr>
            <a:r>
              <a:rPr sz="1300" b="1" i="0">
                <a:solidFill>
                  <a:srgbClr val="9A6600"/>
                </a:solidFill>
                <a:latin typeface="Calibri"/>
              </a:rPr>
              <a:t>Expected, but didn't find: </a:t>
            </a:r>
            <a:r>
              <a:rPr sz="1300" b="0" i="0">
                <a:solidFill>
                  <a:srgbClr val="1E2A26"/>
                </a:solidFill>
                <a:latin typeface="Calibri"/>
              </a:rPr>
              <a:t>urgent requests running late. High/Emergency priority misses only 7–9%, and priority added almost nothing to the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659636"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PREPROCESSING</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Minimum cleaning: only what the baseline needed</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7</a:t>
            </a:r>
          </a:p>
        </p:txBody>
      </p:sp>
      <p:graphicFrame>
        <p:nvGraphicFramePr>
          <p:cNvPr id="16" name="Table 15"/>
          <p:cNvGraphicFramePr>
            <a:graphicFrameLocks noGrp="1"/>
          </p:cNvGraphicFramePr>
          <p:nvPr/>
        </p:nvGraphicFramePr>
        <p:xfrm>
          <a:off x="548640" y="1737360"/>
          <a:ext cx="7269480" cy="2816352"/>
        </p:xfrm>
        <a:graphic>
          <a:graphicData uri="http://schemas.openxmlformats.org/drawingml/2006/table">
            <a:tbl>
              <a:tblPr firstRow="1" bandRow="1">
                <a:tableStyleId>{5C22544A-7EE6-4342-B048-85BDC9FD1C3A}</a:tableStyleId>
              </a:tblPr>
              <a:tblGrid>
                <a:gridCol w="2971800"/>
                <a:gridCol w="1600200"/>
                <a:gridCol w="2697480"/>
              </a:tblGrid>
              <a:tr h="402336">
                <a:tc>
                  <a:txBody>
                    <a:bodyPr/>
                    <a:lstStyle/>
                    <a:p>
                      <a:pPr algn="l"/>
                      <a:r>
                        <a:rPr sz="1300" b="1">
                          <a:solidFill>
                            <a:srgbClr val="FFFFFF"/>
                          </a:solidFill>
                          <a:latin typeface="Calibri"/>
                        </a:rPr>
                        <a:t>Issue we found</a:t>
                      </a:r>
                    </a:p>
                  </a:txBody>
                  <a:tcPr marL="73152" marR="73152" marT="18288" marB="18288" anchor="ctr">
                    <a:solidFill>
                      <a:srgbClr val="0C2A21"/>
                    </a:solidFill>
                  </a:tcPr>
                </a:tc>
                <a:tc>
                  <a:txBody>
                    <a:bodyPr/>
                    <a:lstStyle/>
                    <a:p>
                      <a:pPr algn="ctr"/>
                      <a:r>
                        <a:rPr sz="1300" b="1">
                          <a:solidFill>
                            <a:srgbClr val="FFFFFF"/>
                          </a:solidFill>
                          <a:latin typeface="Calibri"/>
                        </a:rPr>
                        <a:t>What we did</a:t>
                      </a:r>
                    </a:p>
                  </a:txBody>
                  <a:tcPr marL="73152" marR="73152" marT="18288" marB="18288" anchor="ctr">
                    <a:solidFill>
                      <a:srgbClr val="0C2A21"/>
                    </a:solidFill>
                  </a:tcPr>
                </a:tc>
                <a:tc>
                  <a:txBody>
                    <a:bodyPr/>
                    <a:lstStyle/>
                    <a:p>
                      <a:pPr algn="ctr"/>
                      <a:r>
                        <a:rPr sz="1300" b="1">
                          <a:solidFill>
                            <a:srgbClr val="FFFFFF"/>
                          </a:solidFill>
                          <a:latin typeface="Calibri"/>
                        </a:rPr>
                        <a:t>Why</a:t>
                      </a:r>
                    </a:p>
                  </a:txBody>
                  <a:tcPr marL="73152" marR="73152" marT="18288" marB="18288" anchor="ctr">
                    <a:solidFill>
                      <a:srgbClr val="0C2A21"/>
                    </a:solidFill>
                  </a:tcPr>
                </a:tc>
              </a:tr>
              <a:tr h="402336">
                <a:tc>
                  <a:txBody>
                    <a:bodyPr/>
                    <a:lstStyle/>
                    <a:p>
                      <a:pPr algn="l"/>
                      <a:r>
                        <a:rPr sz="1300" b="1">
                          <a:solidFill>
                            <a:srgbClr val="1E2A26"/>
                          </a:solidFill>
                          <a:latin typeface="Calibri"/>
                        </a:rPr>
                        <a:t>124,337 rows with no due date</a:t>
                      </a:r>
                    </a:p>
                  </a:txBody>
                  <a:tcPr marL="73152" marR="73152" marT="18288" marB="18288" anchor="ctr">
                    <a:solidFill>
                      <a:srgbClr val="FFFFFF"/>
                    </a:solidFill>
                  </a:tcPr>
                </a:tc>
                <a:tc>
                  <a:txBody>
                    <a:bodyPr/>
                    <a:lstStyle/>
                    <a:p>
                      <a:pPr algn="ctr"/>
                      <a:r>
                        <a:rPr sz="1300" b="0">
                          <a:solidFill>
                            <a:srgbClr val="1E2A26"/>
                          </a:solidFill>
                          <a:latin typeface="Calibri"/>
                        </a:rPr>
                        <a:t>Dropped</a:t>
                      </a:r>
                    </a:p>
                  </a:txBody>
                  <a:tcPr marL="73152" marR="73152" marT="18288" marB="18288" anchor="ctr">
                    <a:solidFill>
                      <a:srgbClr val="FFFFFF"/>
                    </a:solidFill>
                  </a:tcPr>
                </a:tc>
                <a:tc>
                  <a:txBody>
                    <a:bodyPr/>
                    <a:lstStyle/>
                    <a:p>
                      <a:pPr algn="ctr"/>
                      <a:r>
                        <a:rPr sz="1300" b="0">
                          <a:solidFill>
                            <a:srgbClr val="1E2A26"/>
                          </a:solidFill>
                          <a:latin typeface="Calibri"/>
                        </a:rPr>
                        <a:t>No deadline = nothing to predict</a:t>
                      </a:r>
                    </a:p>
                  </a:txBody>
                  <a:tcPr marL="73152" marR="73152" marT="18288" marB="18288" anchor="ctr">
                    <a:solidFill>
                      <a:srgbClr val="FFFFFF"/>
                    </a:solidFill>
                  </a:tcPr>
                </a:tc>
              </a:tr>
              <a:tr h="402336">
                <a:tc>
                  <a:txBody>
                    <a:bodyPr/>
                    <a:lstStyle/>
                    <a:p>
                      <a:pPr algn="l"/>
                      <a:r>
                        <a:rPr sz="1300" b="1">
                          <a:solidFill>
                            <a:srgbClr val="1E2A26"/>
                          </a:solidFill>
                          <a:latin typeface="Calibri"/>
                        </a:rPr>
                        <a:t>~700 missing district / priority / intake</a:t>
                      </a:r>
                    </a:p>
                  </a:txBody>
                  <a:tcPr marL="73152" marR="73152" marT="18288" marB="18288" anchor="ctr">
                    <a:solidFill>
                      <a:srgbClr val="F6F8F7"/>
                    </a:solidFill>
                  </a:tcPr>
                </a:tc>
                <a:tc>
                  <a:txBody>
                    <a:bodyPr/>
                    <a:lstStyle/>
                    <a:p>
                      <a:pPr algn="ctr"/>
                      <a:r>
                        <a:rPr sz="1300" b="0">
                          <a:solidFill>
                            <a:srgbClr val="1E2A26"/>
                          </a:solidFill>
                          <a:latin typeface="Calibri"/>
                        </a:rPr>
                        <a:t>Filled as "Unknown"</a:t>
                      </a:r>
                    </a:p>
                  </a:txBody>
                  <a:tcPr marL="73152" marR="73152" marT="18288" marB="18288" anchor="ctr">
                    <a:solidFill>
                      <a:srgbClr val="F6F8F7"/>
                    </a:solidFill>
                  </a:tcPr>
                </a:tc>
                <a:tc>
                  <a:txBody>
                    <a:bodyPr/>
                    <a:lstStyle/>
                    <a:p>
                      <a:pPr algn="ctr"/>
                      <a:r>
                        <a:rPr sz="1300" b="0">
                          <a:solidFill>
                            <a:srgbClr val="1E2A26"/>
                          </a:solidFill>
                          <a:latin typeface="Calibri"/>
                        </a:rPr>
                        <a:t>Too few to matter; keeps every request</a:t>
                      </a:r>
                    </a:p>
                  </a:txBody>
                  <a:tcPr marL="73152" marR="73152" marT="18288" marB="18288" anchor="ctr">
                    <a:solidFill>
                      <a:srgbClr val="F6F8F7"/>
                    </a:solidFill>
                  </a:tcPr>
                </a:tc>
              </a:tr>
              <a:tr h="402336">
                <a:tc>
                  <a:txBody>
                    <a:bodyPr/>
                    <a:lstStyle/>
                    <a:p>
                      <a:pPr algn="l"/>
                      <a:r>
                        <a:rPr sz="1300" b="1">
                          <a:solidFill>
                            <a:srgbClr val="1E2A26"/>
                          </a:solidFill>
                          <a:latin typeface="Calibri"/>
                        </a:rPr>
                        <a:t>2 requests closed before they opened</a:t>
                      </a:r>
                    </a:p>
                  </a:txBody>
                  <a:tcPr marL="73152" marR="73152" marT="18288" marB="18288" anchor="ctr">
                    <a:solidFill>
                      <a:srgbClr val="FFFFFF"/>
                    </a:solidFill>
                  </a:tcPr>
                </a:tc>
                <a:tc>
                  <a:txBody>
                    <a:bodyPr/>
                    <a:lstStyle/>
                    <a:p>
                      <a:pPr algn="ctr"/>
                      <a:r>
                        <a:rPr sz="1300" b="0">
                          <a:solidFill>
                            <a:srgbClr val="1E2A26"/>
                          </a:solidFill>
                          <a:latin typeface="Calibri"/>
                        </a:rPr>
                        <a:t>Dropped</a:t>
                      </a:r>
                    </a:p>
                  </a:txBody>
                  <a:tcPr marL="73152" marR="73152" marT="18288" marB="18288" anchor="ctr">
                    <a:solidFill>
                      <a:srgbClr val="FFFFFF"/>
                    </a:solidFill>
                  </a:tcPr>
                </a:tc>
                <a:tc>
                  <a:txBody>
                    <a:bodyPr/>
                    <a:lstStyle/>
                    <a:p>
                      <a:pPr algn="ctr"/>
                      <a:r>
                        <a:rPr sz="1300" b="0">
                          <a:solidFill>
                            <a:srgbClr val="1E2A26"/>
                          </a:solidFill>
                          <a:latin typeface="Calibri"/>
                        </a:rPr>
                        <a:t>Impossible values (anomalies)</a:t>
                      </a:r>
                    </a:p>
                  </a:txBody>
                  <a:tcPr marL="73152" marR="73152" marT="18288" marB="18288" anchor="ctr">
                    <a:solidFill>
                      <a:srgbClr val="FFFFFF"/>
                    </a:solidFill>
                  </a:tcPr>
                </a:tc>
              </a:tr>
              <a:tr h="402336">
                <a:tc>
                  <a:txBody>
                    <a:bodyPr/>
                    <a:lstStyle/>
                    <a:p>
                      <a:pPr algn="l"/>
                      <a:r>
                        <a:rPr sz="1300" b="1">
                          <a:solidFill>
                            <a:srgbClr val="1E2A26"/>
                          </a:solidFill>
                          <a:latin typeface="Calibri"/>
                        </a:rPr>
                        <a:t>1 department under 2 names</a:t>
                      </a:r>
                    </a:p>
                  </a:txBody>
                  <a:tcPr marL="73152" marR="73152" marT="18288" marB="18288" anchor="ctr">
                    <a:solidFill>
                      <a:srgbClr val="F6F8F7"/>
                    </a:solidFill>
                  </a:tcPr>
                </a:tc>
                <a:tc>
                  <a:txBody>
                    <a:bodyPr/>
                    <a:lstStyle/>
                    <a:p>
                      <a:pPr algn="ctr"/>
                      <a:r>
                        <a:rPr sz="1300" b="0">
                          <a:solidFill>
                            <a:srgbClr val="1E2A26"/>
                          </a:solidFill>
                          <a:latin typeface="Calibri"/>
                        </a:rPr>
                        <a:t>Merged</a:t>
                      </a:r>
                    </a:p>
                  </a:txBody>
                  <a:tcPr marL="73152" marR="73152" marT="18288" marB="18288" anchor="ctr">
                    <a:solidFill>
                      <a:srgbClr val="F6F8F7"/>
                    </a:solidFill>
                  </a:tcPr>
                </a:tc>
                <a:tc>
                  <a:txBody>
                    <a:bodyPr/>
                    <a:lstStyle/>
                    <a:p>
                      <a:pPr algn="ctr"/>
                      <a:r>
                        <a:rPr sz="1300" b="0">
                          <a:solidFill>
                            <a:srgbClr val="1E2A26"/>
                          </a:solidFill>
                          <a:latin typeface="Calibri"/>
                        </a:rPr>
                        <a:t>Would count as 2 departments</a:t>
                      </a:r>
                    </a:p>
                  </a:txBody>
                  <a:tcPr marL="73152" marR="73152" marT="18288" marB="18288" anchor="ctr">
                    <a:solidFill>
                      <a:srgbClr val="F6F8F7"/>
                    </a:solidFill>
                  </a:tcPr>
                </a:tc>
              </a:tr>
              <a:tr h="402336">
                <a:tc>
                  <a:txBody>
                    <a:bodyPr/>
                    <a:lstStyle/>
                    <a:p>
                      <a:pPr algn="l"/>
                      <a:r>
                        <a:rPr sz="1300" b="1">
                          <a:solidFill>
                            <a:srgbClr val="1E2A26"/>
                          </a:solidFill>
                          <a:latin typeface="Calibri"/>
                        </a:rPr>
                        <a:t>Closed date, outcome, status</a:t>
                      </a:r>
                    </a:p>
                  </a:txBody>
                  <a:tcPr marL="73152" marR="73152" marT="18288" marB="18288" anchor="ctr">
                    <a:solidFill>
                      <a:srgbClr val="FFFFFF"/>
                    </a:solidFill>
                  </a:tcPr>
                </a:tc>
                <a:tc>
                  <a:txBody>
                    <a:bodyPr/>
                    <a:lstStyle/>
                    <a:p>
                      <a:pPr algn="ctr"/>
                      <a:r>
                        <a:rPr sz="1300" b="0">
                          <a:solidFill>
                            <a:srgbClr val="1E2A26"/>
                          </a:solidFill>
                          <a:latin typeface="Calibri"/>
                        </a:rPr>
                        <a:t>Removed</a:t>
                      </a:r>
                    </a:p>
                  </a:txBody>
                  <a:tcPr marL="73152" marR="73152" marT="18288" marB="18288" anchor="ctr">
                    <a:solidFill>
                      <a:srgbClr val="FFFFFF"/>
                    </a:solidFill>
                  </a:tcPr>
                </a:tc>
                <a:tc>
                  <a:txBody>
                    <a:bodyPr/>
                    <a:lstStyle/>
                    <a:p>
                      <a:pPr algn="ctr"/>
                      <a:r>
                        <a:rPr sz="1300" b="0">
                          <a:solidFill>
                            <a:srgbClr val="1E2A26"/>
                          </a:solidFill>
                          <a:latin typeface="Calibri"/>
                        </a:rPr>
                        <a:t>Known only afterward: leakage</a:t>
                      </a:r>
                    </a:p>
                  </a:txBody>
                  <a:tcPr marL="73152" marR="73152" marT="18288" marB="18288" anchor="ctr">
                    <a:solidFill>
                      <a:srgbClr val="FFFFFF"/>
                    </a:solidFill>
                  </a:tcPr>
                </a:tc>
              </a:tr>
              <a:tr h="402336">
                <a:tc>
                  <a:txBody>
                    <a:bodyPr/>
                    <a:lstStyle/>
                    <a:p>
                      <a:pPr algn="l"/>
                      <a:r>
                        <a:rPr sz="1300" b="1">
                          <a:solidFill>
                            <a:srgbClr val="1E2A26"/>
                          </a:solidFill>
                          <a:latin typeface="Calibri"/>
                        </a:rPr>
                        <a:t>Text categories</a:t>
                      </a:r>
                    </a:p>
                  </a:txBody>
                  <a:tcPr marL="73152" marR="73152" marT="18288" marB="18288" anchor="ctr">
                    <a:solidFill>
                      <a:srgbClr val="F6F8F7"/>
                    </a:solidFill>
                  </a:tcPr>
                </a:tc>
                <a:tc>
                  <a:txBody>
                    <a:bodyPr/>
                    <a:lstStyle/>
                    <a:p>
                      <a:pPr algn="ctr"/>
                      <a:r>
                        <a:rPr sz="1300" b="0">
                          <a:solidFill>
                            <a:srgbClr val="1E2A26"/>
                          </a:solidFill>
                          <a:latin typeface="Calibri"/>
                        </a:rPr>
                        <a:t>One-hot encoded</a:t>
                      </a:r>
                    </a:p>
                  </a:txBody>
                  <a:tcPr marL="73152" marR="73152" marT="18288" marB="18288" anchor="ctr">
                    <a:solidFill>
                      <a:srgbClr val="F6F8F7"/>
                    </a:solidFill>
                  </a:tcPr>
                </a:tc>
                <a:tc>
                  <a:txBody>
                    <a:bodyPr/>
                    <a:lstStyle/>
                    <a:p>
                      <a:pPr algn="ctr"/>
                      <a:r>
                        <a:rPr sz="1300" b="0">
                          <a:solidFill>
                            <a:srgbClr val="1E2A26"/>
                          </a:solidFill>
                          <a:latin typeface="Calibri"/>
                        </a:rPr>
                        <a:t>Models need numbers</a:t>
                      </a:r>
                    </a:p>
                  </a:txBody>
                  <a:tcPr marL="73152" marR="73152" marT="18288" marB="18288" anchor="ctr">
                    <a:solidFill>
                      <a:srgbClr val="F6F8F7"/>
                    </a:solidFill>
                  </a:tcPr>
                </a:tc>
              </a:tr>
            </a:tbl>
          </a:graphicData>
        </a:graphic>
      </p:graphicFrame>
      <p:sp>
        <p:nvSpPr>
          <p:cNvPr id="17" name="Rounded Rectangle 16"/>
          <p:cNvSpPr/>
          <p:nvPr/>
        </p:nvSpPr>
        <p:spPr>
          <a:xfrm>
            <a:off x="8001000" y="1737360"/>
            <a:ext cx="3639312" cy="2816352"/>
          </a:xfrm>
          <a:prstGeom prst="roundRect">
            <a:avLst>
              <a:gd name="adj" fmla="val 5000"/>
            </a:avLst>
          </a:prstGeom>
          <a:noFill/>
          <a:ln w="19050">
            <a:solidFill>
              <a:srgbClr val="B5BDB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874519"/>
            <a:ext cx="3246120" cy="320040"/>
          </a:xfrm>
          <a:prstGeom prst="rect">
            <a:avLst/>
          </a:prstGeom>
          <a:noFill/>
        </p:spPr>
        <p:txBody>
          <a:bodyPr wrap="square" lIns="0" rIns="0" tIns="0" bIns="0" anchor="t">
            <a:spAutoFit/>
          </a:bodyPr>
          <a:lstStyle/>
          <a:p>
            <a:pPr algn="l">
              <a:spcAft>
                <a:spcPts val="400"/>
              </a:spcAft>
            </a:pPr>
            <a:r>
              <a:rPr sz="1500" b="1" i="0">
                <a:solidFill>
                  <a:srgbClr val="5F6B66"/>
                </a:solidFill>
                <a:latin typeface="Arial"/>
              </a:rPr>
              <a:t>Held back, tested later</a:t>
            </a:r>
          </a:p>
        </p:txBody>
      </p:sp>
      <p:sp>
        <p:nvSpPr>
          <p:cNvPr id="19" name="TextBox 18"/>
          <p:cNvSpPr txBox="1"/>
          <p:nvPr/>
        </p:nvSpPr>
        <p:spPr>
          <a:xfrm>
            <a:off x="8229600" y="2286000"/>
            <a:ext cx="3246120" cy="2194560"/>
          </a:xfrm>
          <a:prstGeom prst="rect">
            <a:avLst/>
          </a:prstGeom>
          <a:noFill/>
        </p:spPr>
        <p:txBody>
          <a:bodyPr wrap="square" lIns="0" rIns="0" tIns="0" bIns="0" anchor="t">
            <a:spAutoFit/>
          </a:bodyPr>
          <a:lstStyle/>
          <a:p>
            <a:pPr algn="l">
              <a:spcAft>
                <a:spcPts val="300"/>
              </a:spcAft>
            </a:pPr>
            <a:r>
              <a:rPr sz="1300" b="1" i="0">
                <a:solidFill>
                  <a:srgbClr val="B5BDB9"/>
                </a:solidFill>
                <a:latin typeface="Calibri"/>
              </a:rPr>
              <a:t>•  </a:t>
            </a:r>
            <a:r>
              <a:rPr sz="1300" b="0" i="0">
                <a:solidFill>
                  <a:srgbClr val="5F6B66"/>
                </a:solidFill>
                <a:latin typeface="Calibri"/>
              </a:rPr>
              <a:t>Class weights / SMOTE</a:t>
            </a:r>
          </a:p>
          <a:p>
            <a:pPr algn="l">
              <a:spcAft>
                <a:spcPts val="300"/>
              </a:spcAft>
            </a:pPr>
            <a:r>
              <a:rPr sz="1300" b="1" i="0">
                <a:solidFill>
                  <a:srgbClr val="B5BDB9"/>
                </a:solidFill>
                <a:latin typeface="Calibri"/>
              </a:rPr>
              <a:t>•  </a:t>
            </a:r>
            <a:r>
              <a:rPr sz="1300" b="0" i="0">
                <a:solidFill>
                  <a:srgbClr val="5F6B66"/>
                </a:solidFill>
                <a:latin typeface="Calibri"/>
              </a:rPr>
              <a:t>Rare-type grouping</a:t>
            </a:r>
          </a:p>
          <a:p>
            <a:pPr algn="l">
              <a:spcAft>
                <a:spcPts val="300"/>
              </a:spcAft>
            </a:pPr>
            <a:r>
              <a:rPr sz="1300" b="1" i="0">
                <a:solidFill>
                  <a:srgbClr val="B5BDB9"/>
                </a:solidFill>
                <a:latin typeface="Calibri"/>
              </a:rPr>
              <a:t>•  </a:t>
            </a:r>
            <a:r>
              <a:rPr sz="1300" b="0" i="0">
                <a:solidFill>
                  <a:srgbClr val="5F6B66"/>
                </a:solidFill>
                <a:latin typeface="Calibri"/>
              </a:rPr>
              <a:t>Outliers + scaling (promised time)</a:t>
            </a:r>
          </a:p>
          <a:p>
            <a:pPr algn="l">
              <a:spcAft>
                <a:spcPts val="300"/>
              </a:spcAft>
            </a:pPr>
            <a:r>
              <a:rPr sz="1300" b="1" i="0">
                <a:solidFill>
                  <a:srgbClr val="B5BDB9"/>
                </a:solidFill>
                <a:latin typeface="Calibri"/>
              </a:rPr>
              <a:t>•  </a:t>
            </a:r>
            <a:r>
              <a:rPr sz="1300" b="0" i="0">
                <a:solidFill>
                  <a:srgbClr val="5F6B66"/>
                </a:solidFill>
                <a:latin typeface="Calibri"/>
              </a:rPr>
              <a:t>Weekday and hour</a:t>
            </a:r>
          </a:p>
          <a:p>
            <a:pPr algn="l">
              <a:spcAft>
                <a:spcPts val="300"/>
              </a:spcAft>
            </a:pPr>
            <a:r>
              <a:rPr sz="1300" b="1" i="0">
                <a:solidFill>
                  <a:srgbClr val="B5BDB9"/>
                </a:solidFill>
                <a:latin typeface="Calibri"/>
              </a:rPr>
              <a:t>•  </a:t>
            </a:r>
            <a:r>
              <a:rPr sz="1300" b="0" i="0">
                <a:solidFill>
                  <a:srgbClr val="5F6B66"/>
                </a:solidFill>
                <a:latin typeface="Calibri"/>
              </a:rPr>
              <a:t>Workload feature</a:t>
            </a:r>
          </a:p>
          <a:p>
            <a:pPr algn="l">
              <a:spcAft>
                <a:spcPts val="300"/>
              </a:spcAft>
            </a:pPr>
            <a:r>
              <a:rPr sz="1300" b="1" i="0">
                <a:solidFill>
                  <a:srgbClr val="B5BDB9"/>
                </a:solidFill>
                <a:latin typeface="Calibri"/>
              </a:rPr>
              <a:t>•  </a:t>
            </a:r>
            <a:r>
              <a:rPr sz="1300" b="0" i="0">
                <a:solidFill>
                  <a:srgbClr val="5F6B66"/>
                </a:solidFill>
                <a:latin typeface="Calibri"/>
              </a:rPr>
              <a:t>Other models, tuning, cutoff</a:t>
            </a:r>
          </a:p>
        </p:txBody>
      </p:sp>
      <p:sp>
        <p:nvSpPr>
          <p:cNvPr id="20" name="TextBox 19"/>
          <p:cNvSpPr txBox="1"/>
          <p:nvPr/>
        </p:nvSpPr>
        <p:spPr>
          <a:xfrm>
            <a:off x="548640" y="4681728"/>
            <a:ext cx="11064240" cy="320040"/>
          </a:xfrm>
          <a:prstGeom prst="rect">
            <a:avLst/>
          </a:prstGeom>
          <a:noFill/>
        </p:spPr>
        <p:txBody>
          <a:bodyPr wrap="square" lIns="0" rIns="0" tIns="0" bIns="0" anchor="t">
            <a:spAutoFit/>
          </a:bodyPr>
          <a:lstStyle/>
          <a:p>
            <a:pPr algn="l">
              <a:spcAft>
                <a:spcPts val="400"/>
              </a:spcAft>
            </a:pPr>
            <a:r>
              <a:rPr sz="1400" b="1" i="0">
                <a:solidFill>
                  <a:srgbClr val="1E2A26"/>
                </a:solidFill>
                <a:latin typeface="Arial"/>
              </a:rPr>
              <a:t>Split by time, not randomly: the city predicts future requests from past ones. Everything is fit on training data only.</a:t>
            </a:r>
          </a:p>
        </p:txBody>
      </p:sp>
      <p:sp>
        <p:nvSpPr>
          <p:cNvPr id="21" name="Rectangle 20"/>
          <p:cNvSpPr/>
          <p:nvPr/>
        </p:nvSpPr>
        <p:spPr>
          <a:xfrm>
            <a:off x="548640" y="5120640"/>
            <a:ext cx="6856820" cy="914400"/>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193792"/>
            <a:ext cx="6619076" cy="777240"/>
          </a:xfrm>
          <a:prstGeom prst="rect">
            <a:avLst/>
          </a:prstGeom>
          <a:noFill/>
        </p:spPr>
        <p:txBody>
          <a:bodyPr wrap="square" lIns="0" rIns="0" tIns="0" bIns="0" anchor="t">
            <a:spAutoFit/>
          </a:bodyPr>
          <a:lstStyle/>
          <a:p>
            <a:pPr algn="l">
              <a:spcAft>
                <a:spcPts val="200"/>
              </a:spcAft>
            </a:pPr>
            <a:r>
              <a:rPr sz="1400" b="1" i="0">
                <a:solidFill>
                  <a:srgbClr val="FFFFFF"/>
                </a:solidFill>
                <a:latin typeface="Calibri"/>
              </a:rPr>
              <a:t>Train · Jan–Jul</a:t>
            </a:r>
          </a:p>
          <a:p>
            <a:pPr algn="l">
              <a:spcAft>
                <a:spcPts val="200"/>
              </a:spcAft>
            </a:pPr>
            <a:r>
              <a:rPr sz="1400" b="0" i="0">
                <a:solidFill>
                  <a:srgbClr val="FFFFFF"/>
                </a:solidFill>
                <a:latin typeface="Calibri"/>
              </a:rPr>
              <a:t>171,767</a:t>
            </a:r>
          </a:p>
        </p:txBody>
      </p:sp>
      <p:sp>
        <p:nvSpPr>
          <p:cNvPr id="23" name="Rectangle 22"/>
          <p:cNvSpPr/>
          <p:nvPr/>
        </p:nvSpPr>
        <p:spPr>
          <a:xfrm>
            <a:off x="7442036" y="5120640"/>
            <a:ext cx="1784906" cy="914400"/>
          </a:xfrm>
          <a:prstGeom prst="rect">
            <a:avLst/>
          </a:prstGeom>
          <a:solidFill>
            <a:srgbClr val="5F6B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9196" y="5193792"/>
            <a:ext cx="1547162" cy="777240"/>
          </a:xfrm>
          <a:prstGeom prst="rect">
            <a:avLst/>
          </a:prstGeom>
          <a:noFill/>
        </p:spPr>
        <p:txBody>
          <a:bodyPr wrap="square" lIns="0" rIns="0" tIns="0" bIns="0" anchor="t">
            <a:spAutoFit/>
          </a:bodyPr>
          <a:lstStyle/>
          <a:p>
            <a:pPr algn="l">
              <a:spcAft>
                <a:spcPts val="200"/>
              </a:spcAft>
            </a:pPr>
            <a:r>
              <a:rPr sz="1400" b="1" i="0">
                <a:solidFill>
                  <a:srgbClr val="FFFFFF"/>
                </a:solidFill>
                <a:latin typeface="Calibri"/>
              </a:rPr>
              <a:t>Validate · Aug–Sep</a:t>
            </a:r>
          </a:p>
          <a:p>
            <a:pPr algn="l">
              <a:spcAft>
                <a:spcPts val="200"/>
              </a:spcAft>
            </a:pPr>
            <a:r>
              <a:rPr sz="1400" b="0" i="0">
                <a:solidFill>
                  <a:srgbClr val="FFFFFF"/>
                </a:solidFill>
                <a:latin typeface="Calibri"/>
              </a:rPr>
              <a:t>45,387</a:t>
            </a:r>
          </a:p>
        </p:txBody>
      </p:sp>
      <p:sp>
        <p:nvSpPr>
          <p:cNvPr id="25" name="Rectangle 24"/>
          <p:cNvSpPr/>
          <p:nvPr/>
        </p:nvSpPr>
        <p:spPr>
          <a:xfrm>
            <a:off x="9263519" y="5120640"/>
            <a:ext cx="2340216" cy="914400"/>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00679" y="5193792"/>
            <a:ext cx="2102472" cy="777240"/>
          </a:xfrm>
          <a:prstGeom prst="rect">
            <a:avLst/>
          </a:prstGeom>
          <a:noFill/>
        </p:spPr>
        <p:txBody>
          <a:bodyPr wrap="square" lIns="0" rIns="0" tIns="0" bIns="0" anchor="t">
            <a:spAutoFit/>
          </a:bodyPr>
          <a:lstStyle/>
          <a:p>
            <a:pPr algn="l">
              <a:spcAft>
                <a:spcPts val="200"/>
              </a:spcAft>
            </a:pPr>
            <a:r>
              <a:rPr sz="1400" b="1" i="0">
                <a:solidFill>
                  <a:srgbClr val="1E2A26"/>
                </a:solidFill>
                <a:latin typeface="Calibri"/>
              </a:rPr>
              <a:t>Test · Oct–Dec</a:t>
            </a:r>
          </a:p>
          <a:p>
            <a:pPr algn="l">
              <a:spcAft>
                <a:spcPts val="200"/>
              </a:spcAft>
            </a:pPr>
            <a:r>
              <a:rPr sz="1400" b="0" i="0">
                <a:solidFill>
                  <a:srgbClr val="1E2A26"/>
                </a:solidFill>
                <a:latin typeface="Calibri"/>
              </a:rPr>
              <a:t>59,224 · used once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179576"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BASELINE</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Baseline: 89% accurate, and still useless</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8</a:t>
            </a:r>
          </a:p>
        </p:txBody>
      </p:sp>
      <p:sp>
        <p:nvSpPr>
          <p:cNvPr id="16" name="TextBox 15"/>
          <p:cNvSpPr txBox="1"/>
          <p:nvPr/>
        </p:nvSpPr>
        <p:spPr>
          <a:xfrm>
            <a:off x="548640" y="1783080"/>
            <a:ext cx="5486400" cy="320040"/>
          </a:xfrm>
          <a:prstGeom prst="rect">
            <a:avLst/>
          </a:prstGeom>
          <a:noFill/>
        </p:spPr>
        <p:txBody>
          <a:bodyPr wrap="square" lIns="0" rIns="0" tIns="0" bIns="0" anchor="t">
            <a:spAutoFit/>
          </a:bodyPr>
          <a:lstStyle/>
          <a:p>
            <a:pPr algn="l">
              <a:spcAft>
                <a:spcPts val="400"/>
              </a:spcAft>
            </a:pPr>
            <a:r>
              <a:rPr sz="1600" b="1" i="0">
                <a:solidFill>
                  <a:srgbClr val="1E2A26"/>
                </a:solidFill>
                <a:latin typeface="Arial"/>
              </a:rPr>
              <a:t>Model A · always predict "on time"</a:t>
            </a:r>
          </a:p>
        </p:txBody>
      </p:sp>
      <p:sp>
        <p:nvSpPr>
          <p:cNvPr id="17" name="TextBox 16"/>
          <p:cNvSpPr txBox="1"/>
          <p:nvPr/>
        </p:nvSpPr>
        <p:spPr>
          <a:xfrm>
            <a:off x="548640" y="2359152"/>
            <a:ext cx="2011680" cy="45720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Accuracy</a:t>
            </a:r>
          </a:p>
        </p:txBody>
      </p:sp>
      <p:sp>
        <p:nvSpPr>
          <p:cNvPr id="18" name="Rectangle 17"/>
          <p:cNvSpPr/>
          <p:nvPr/>
        </p:nvSpPr>
        <p:spPr>
          <a:xfrm>
            <a:off x="2651760" y="2286000"/>
            <a:ext cx="3108960" cy="548640"/>
          </a:xfrm>
          <a:prstGeom prst="rect">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51760" y="2286000"/>
            <a:ext cx="2776301" cy="548640"/>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7941" y="2377440"/>
            <a:ext cx="868680" cy="411480"/>
          </a:xfrm>
          <a:prstGeom prst="rect">
            <a:avLst/>
          </a:prstGeom>
          <a:noFill/>
        </p:spPr>
        <p:txBody>
          <a:bodyPr wrap="square" lIns="0" rIns="0" tIns="0" bIns="0" anchor="t">
            <a:spAutoFit/>
          </a:bodyPr>
          <a:lstStyle/>
          <a:p>
            <a:pPr algn="r">
              <a:spcAft>
                <a:spcPts val="400"/>
              </a:spcAft>
            </a:pPr>
            <a:r>
              <a:rPr sz="1800" b="1" i="0">
                <a:solidFill>
                  <a:srgbClr val="FFFFFF"/>
                </a:solidFill>
                <a:latin typeface="Arial"/>
              </a:rPr>
              <a:t>89.3%</a:t>
            </a:r>
          </a:p>
        </p:txBody>
      </p:sp>
      <p:sp>
        <p:nvSpPr>
          <p:cNvPr id="21" name="TextBox 20"/>
          <p:cNvSpPr txBox="1"/>
          <p:nvPr/>
        </p:nvSpPr>
        <p:spPr>
          <a:xfrm>
            <a:off x="548640" y="3227832"/>
            <a:ext cx="2011680" cy="45720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Missed deadlines caught</a:t>
            </a:r>
          </a:p>
        </p:txBody>
      </p:sp>
      <p:sp>
        <p:nvSpPr>
          <p:cNvPr id="22" name="Rectangle 21"/>
          <p:cNvSpPr/>
          <p:nvPr/>
        </p:nvSpPr>
        <p:spPr>
          <a:xfrm>
            <a:off x="2651760" y="3154680"/>
            <a:ext cx="3108960" cy="548640"/>
          </a:xfrm>
          <a:prstGeom prst="rect">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0" y="3246120"/>
            <a:ext cx="868680" cy="411480"/>
          </a:xfrm>
          <a:prstGeom prst="rect">
            <a:avLst/>
          </a:prstGeom>
          <a:noFill/>
        </p:spPr>
        <p:txBody>
          <a:bodyPr wrap="square" lIns="0" rIns="0" tIns="0" bIns="0" anchor="t">
            <a:spAutoFit/>
          </a:bodyPr>
          <a:lstStyle/>
          <a:p>
            <a:pPr algn="l">
              <a:spcAft>
                <a:spcPts val="400"/>
              </a:spcAft>
            </a:pPr>
            <a:r>
              <a:rPr sz="1800" b="1" i="0">
                <a:solidFill>
                  <a:srgbClr val="9A6600"/>
                </a:solidFill>
                <a:latin typeface="Arial"/>
              </a:rPr>
              <a:t>0%</a:t>
            </a:r>
          </a:p>
        </p:txBody>
      </p:sp>
      <p:sp>
        <p:nvSpPr>
          <p:cNvPr id="24" name="TextBox 23"/>
          <p:cNvSpPr txBox="1"/>
          <p:nvPr/>
        </p:nvSpPr>
        <p:spPr>
          <a:xfrm>
            <a:off x="548640" y="4114800"/>
            <a:ext cx="5394960" cy="685800"/>
          </a:xfrm>
          <a:prstGeom prst="rect">
            <a:avLst/>
          </a:prstGeom>
          <a:noFill/>
        </p:spPr>
        <p:txBody>
          <a:bodyPr wrap="square" lIns="0" rIns="0" tIns="0" bIns="0" anchor="t">
            <a:spAutoFit/>
          </a:bodyPr>
          <a:lstStyle/>
          <a:p>
            <a:pPr algn="l">
              <a:spcAft>
                <a:spcPts val="400"/>
              </a:spcAft>
            </a:pPr>
            <a:r>
              <a:rPr sz="1500" b="0" i="1">
                <a:solidFill>
                  <a:srgbClr val="5F6B66"/>
                </a:solidFill>
                <a:latin typeface="Calibri"/>
              </a:rPr>
              <a:t>Looks great, does nothing. That's why accuracy can't be our metric.</a:t>
            </a:r>
          </a:p>
        </p:txBody>
      </p:sp>
      <p:sp>
        <p:nvSpPr>
          <p:cNvPr id="25" name="Rounded Rectangle 24"/>
          <p:cNvSpPr/>
          <p:nvPr/>
        </p:nvSpPr>
        <p:spPr>
          <a:xfrm>
            <a:off x="6263640" y="1691640"/>
            <a:ext cx="5376672" cy="324612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1810512"/>
            <a:ext cx="4937760" cy="320040"/>
          </a:xfrm>
          <a:prstGeom prst="rect">
            <a:avLst/>
          </a:prstGeom>
          <a:noFill/>
        </p:spPr>
        <p:txBody>
          <a:bodyPr wrap="square" lIns="0" rIns="0" tIns="0" bIns="0" anchor="t">
            <a:spAutoFit/>
          </a:bodyPr>
          <a:lstStyle/>
          <a:p>
            <a:pPr algn="l">
              <a:spcAft>
                <a:spcPts val="400"/>
              </a:spcAft>
            </a:pPr>
            <a:r>
              <a:rPr sz="1600" b="1" i="0">
                <a:solidFill>
                  <a:srgbClr val="1E2A26"/>
                </a:solidFill>
                <a:latin typeface="Arial"/>
              </a:rPr>
              <a:t>Model B · logistic regression, minimum features</a:t>
            </a:r>
          </a:p>
        </p:txBody>
      </p:sp>
      <p:sp>
        <p:nvSpPr>
          <p:cNvPr id="27" name="TextBox 26"/>
          <p:cNvSpPr txBox="1"/>
          <p:nvPr/>
        </p:nvSpPr>
        <p:spPr>
          <a:xfrm>
            <a:off x="6492240" y="2240280"/>
            <a:ext cx="4937760" cy="274320"/>
          </a:xfrm>
          <a:prstGeom prst="rect">
            <a:avLst/>
          </a:prstGeom>
          <a:noFill/>
        </p:spPr>
        <p:txBody>
          <a:bodyPr wrap="square" lIns="0" rIns="0" tIns="0" bIns="0" anchor="t">
            <a:spAutoFit/>
          </a:bodyPr>
          <a:lstStyle/>
          <a:p>
            <a:pPr algn="l">
              <a:spcAft>
                <a:spcPts val="400"/>
              </a:spcAft>
            </a:pPr>
            <a:r>
              <a:rPr sz="1300" b="0" i="0">
                <a:solidFill>
                  <a:srgbClr val="5F6B66"/>
                </a:solidFill>
                <a:latin typeface="Calibri"/>
              </a:rPr>
              <a:t>F1 for "missed" on a 0–1 scale (validation set)</a:t>
            </a:r>
          </a:p>
        </p:txBody>
      </p:sp>
      <p:sp>
        <p:nvSpPr>
          <p:cNvPr id="28" name="Rectangle 27"/>
          <p:cNvSpPr/>
          <p:nvPr/>
        </p:nvSpPr>
        <p:spPr>
          <a:xfrm>
            <a:off x="6492240" y="2880360"/>
            <a:ext cx="4846320" cy="128016"/>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840809" y="2788920"/>
            <a:ext cx="310896" cy="310896"/>
          </a:xfrm>
          <a:prstGeom prst="ellipse">
            <a:avLst/>
          </a:prstGeom>
          <a:solidFill>
            <a:srgbClr val="F5B800"/>
          </a:solidFill>
          <a:ln w="19050">
            <a:solidFill>
              <a:srgbClr val="1E2A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7617" y="3200400"/>
            <a:ext cx="1280160" cy="457200"/>
          </a:xfrm>
          <a:prstGeom prst="rect">
            <a:avLst/>
          </a:prstGeom>
          <a:noFill/>
        </p:spPr>
        <p:txBody>
          <a:bodyPr wrap="square" lIns="0" rIns="0" tIns="0" bIns="0" anchor="t">
            <a:spAutoFit/>
          </a:bodyPr>
          <a:lstStyle/>
          <a:p>
            <a:pPr algn="ctr">
              <a:spcAft>
                <a:spcPts val="400"/>
              </a:spcAft>
            </a:pPr>
            <a:r>
              <a:rPr sz="2400" b="1" i="0">
                <a:solidFill>
                  <a:srgbClr val="9A6600"/>
                </a:solidFill>
                <a:latin typeface="Arial"/>
              </a:rPr>
              <a:t>0.104</a:t>
            </a:r>
          </a:p>
        </p:txBody>
      </p:sp>
      <p:sp>
        <p:nvSpPr>
          <p:cNvPr id="31" name="TextBox 30"/>
          <p:cNvSpPr txBox="1"/>
          <p:nvPr/>
        </p:nvSpPr>
        <p:spPr>
          <a:xfrm>
            <a:off x="6492240" y="2578608"/>
            <a:ext cx="365760" cy="228600"/>
          </a:xfrm>
          <a:prstGeom prst="rect">
            <a:avLst/>
          </a:prstGeom>
          <a:noFill/>
        </p:spPr>
        <p:txBody>
          <a:bodyPr wrap="square" lIns="0" rIns="0" tIns="0" bIns="0" anchor="t">
            <a:spAutoFit/>
          </a:bodyPr>
          <a:lstStyle/>
          <a:p>
            <a:pPr algn="l">
              <a:spcAft>
                <a:spcPts val="400"/>
              </a:spcAft>
            </a:pPr>
            <a:r>
              <a:rPr sz="1100" b="0" i="0">
                <a:solidFill>
                  <a:srgbClr val="5F6B66"/>
                </a:solidFill>
                <a:latin typeface="Calibri"/>
              </a:rPr>
              <a:t>0</a:t>
            </a:r>
          </a:p>
        </p:txBody>
      </p:sp>
      <p:sp>
        <p:nvSpPr>
          <p:cNvPr id="32" name="TextBox 31"/>
          <p:cNvSpPr txBox="1"/>
          <p:nvPr/>
        </p:nvSpPr>
        <p:spPr>
          <a:xfrm>
            <a:off x="11064240" y="2578608"/>
            <a:ext cx="274320" cy="228600"/>
          </a:xfrm>
          <a:prstGeom prst="rect">
            <a:avLst/>
          </a:prstGeom>
          <a:noFill/>
        </p:spPr>
        <p:txBody>
          <a:bodyPr wrap="square" lIns="0" rIns="0" tIns="0" bIns="0" anchor="t">
            <a:spAutoFit/>
          </a:bodyPr>
          <a:lstStyle/>
          <a:p>
            <a:pPr algn="r">
              <a:spcAft>
                <a:spcPts val="400"/>
              </a:spcAft>
            </a:pPr>
            <a:r>
              <a:rPr sz="1100" b="0" i="0">
                <a:solidFill>
                  <a:srgbClr val="5F6B66"/>
                </a:solidFill>
                <a:latin typeface="Calibri"/>
              </a:rPr>
              <a:t>1</a:t>
            </a:r>
          </a:p>
        </p:txBody>
      </p:sp>
      <p:sp>
        <p:nvSpPr>
          <p:cNvPr id="33" name="TextBox 32"/>
          <p:cNvSpPr txBox="1"/>
          <p:nvPr/>
        </p:nvSpPr>
        <p:spPr>
          <a:xfrm>
            <a:off x="6492240" y="3794760"/>
            <a:ext cx="4937760" cy="105156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Recall 5.6%, ROC-AUC 0.72: it ranks requests decently but at the 0.5 cutoff almost never says "missed". This F1 is the number to beat.</a:t>
            </a:r>
          </a:p>
        </p:txBody>
      </p:sp>
      <p:sp>
        <p:nvSpPr>
          <p:cNvPr id="34" name="Rounded Rectangle 33"/>
          <p:cNvSpPr/>
          <p:nvPr/>
        </p:nvSpPr>
        <p:spPr>
          <a:xfrm>
            <a:off x="548640" y="5120640"/>
            <a:ext cx="11091672" cy="1051560"/>
          </a:xfrm>
          <a:prstGeom prst="roundRect">
            <a:avLst>
              <a:gd name="adj" fmla="val 5000"/>
            </a:avLst>
          </a:prstGeom>
          <a:solidFill>
            <a:srgbClr val="0C2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212080"/>
            <a:ext cx="10607040" cy="868680"/>
          </a:xfrm>
          <a:prstGeom prst="rect">
            <a:avLst/>
          </a:prstGeom>
          <a:noFill/>
        </p:spPr>
        <p:txBody>
          <a:bodyPr wrap="square" lIns="0" rIns="0" tIns="0" bIns="0" anchor="ctr">
            <a:spAutoFit/>
          </a:bodyPr>
          <a:lstStyle/>
          <a:p>
            <a:pPr algn="l">
              <a:spcAft>
                <a:spcPts val="400"/>
              </a:spcAft>
            </a:pPr>
            <a:r>
              <a:rPr sz="1500" b="1" i="0">
                <a:solidFill>
                  <a:srgbClr val="F5B800"/>
                </a:solidFill>
                <a:latin typeface="Calibri"/>
              </a:rPr>
              <a:t>Why F1? </a:t>
            </a:r>
            <a:r>
              <a:rPr sz="1500" b="0" i="0">
                <a:solidFill>
                  <a:srgbClr val="FFFFFF"/>
                </a:solidFill>
                <a:latin typeface="Calibri"/>
              </a:rPr>
              <a:t>It balances recall (how many real misses we catch) and precision (how many of our flags are real), so a model can't score well by ignoring the rare class.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467612"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IMPROVEMENT</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Class weights did the heavy lifting; other steps barely moved F1</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9</a:t>
            </a:r>
          </a:p>
        </p:txBody>
      </p:sp>
      <p:graphicFrame>
        <p:nvGraphicFramePr>
          <p:cNvPr id="16" name="Chart 15"/>
          <p:cNvGraphicFramePr>
            <a:graphicFrameLocks noGrp="1"/>
          </p:cNvGraphicFramePr>
          <p:nvPr/>
        </p:nvGraphicFramePr>
        <p:xfrm>
          <a:off x="457200" y="2057400"/>
          <a:ext cx="7315200" cy="4160520"/>
        </p:xfrm>
        <a:graphic>
          <a:graphicData uri="http://schemas.openxmlformats.org/drawingml/2006/chart">
            <c:chart xmlns:c="http://schemas.openxmlformats.org/drawingml/2006/chart" r:id="rId2"/>
          </a:graphicData>
        </a:graphic>
      </p:graphicFrame>
      <p:sp>
        <p:nvSpPr>
          <p:cNvPr id="17" name="TextBox 16"/>
          <p:cNvSpPr txBox="1"/>
          <p:nvPr/>
        </p:nvSpPr>
        <p:spPr>
          <a:xfrm>
            <a:off x="548640" y="1737360"/>
            <a:ext cx="7132320" cy="274320"/>
          </a:xfrm>
          <a:prstGeom prst="rect">
            <a:avLst/>
          </a:prstGeom>
          <a:noFill/>
        </p:spPr>
        <p:txBody>
          <a:bodyPr wrap="square" lIns="0" rIns="0" tIns="0" bIns="0" anchor="t">
            <a:spAutoFit/>
          </a:bodyPr>
          <a:lstStyle/>
          <a:p>
            <a:pPr algn="l">
              <a:spcAft>
                <a:spcPts val="400"/>
              </a:spcAft>
            </a:pPr>
            <a:r>
              <a:rPr sz="1300" b="0" i="0">
                <a:solidFill>
                  <a:srgbClr val="5F6B66"/>
                </a:solidFill>
                <a:latin typeface="Calibri"/>
              </a:rPr>
              <a:t>Logistic regression F1 on the validation set, one step added at a time</a:t>
            </a:r>
          </a:p>
        </p:txBody>
      </p:sp>
      <p:sp>
        <p:nvSpPr>
          <p:cNvPr id="18" name="Rounded Rectangle 17"/>
          <p:cNvSpPr/>
          <p:nvPr/>
        </p:nvSpPr>
        <p:spPr>
          <a:xfrm>
            <a:off x="8046720" y="1783080"/>
            <a:ext cx="3593592" cy="443484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920240"/>
            <a:ext cx="3200400" cy="4206240"/>
          </a:xfrm>
          <a:prstGeom prst="rect">
            <a:avLst/>
          </a:prstGeom>
          <a:noFill/>
        </p:spPr>
        <p:txBody>
          <a:bodyPr wrap="square" lIns="0" rIns="0" tIns="0" bIns="0" anchor="t">
            <a:spAutoFit/>
          </a:bodyPr>
          <a:lstStyle/>
          <a:p>
            <a:pPr algn="l">
              <a:spcAft>
                <a:spcPts val="900"/>
              </a:spcAft>
            </a:pPr>
            <a:r>
              <a:rPr sz="1300" b="1" i="0">
                <a:solidFill>
                  <a:srgbClr val="006B47"/>
                </a:solidFill>
                <a:latin typeface="Arial"/>
              </a:rPr>
              <a:t>+0.200  </a:t>
            </a:r>
            <a:r>
              <a:rPr sz="1300" b="0" i="0">
                <a:solidFill>
                  <a:srgbClr val="1E2A26"/>
                </a:solidFill>
                <a:latin typeface="Calibri"/>
              </a:rPr>
              <a:t>Class weights: a missed deadline costs ~8× more, so the model stops ignoring them.</a:t>
            </a:r>
          </a:p>
          <a:p>
            <a:pPr algn="l">
              <a:spcAft>
                <a:spcPts val="900"/>
              </a:spcAft>
            </a:pPr>
            <a:r>
              <a:rPr sz="1300" b="1" i="0">
                <a:solidFill>
                  <a:srgbClr val="5F6B66"/>
                </a:solidFill>
                <a:latin typeface="Arial"/>
              </a:rPr>
              <a:t>≈ 0  </a:t>
            </a:r>
            <a:r>
              <a:rPr sz="1300" b="0" i="0">
                <a:solidFill>
                  <a:srgbClr val="1E2A26"/>
                </a:solidFill>
                <a:latin typeface="Calibri"/>
              </a:rPr>
              <a:t>Rare-type grouping, promised time, weekday/hour: tiny gains, reported anyway.</a:t>
            </a:r>
          </a:p>
          <a:p>
            <a:pPr algn="l">
              <a:spcAft>
                <a:spcPts val="900"/>
              </a:spcAft>
            </a:pPr>
            <a:r>
              <a:rPr sz="1300" b="1" i="0">
                <a:solidFill>
                  <a:srgbClr val="C0392B"/>
                </a:solidFill>
                <a:latin typeface="Arial"/>
              </a:rPr>
              <a:t>−0.013  </a:t>
            </a:r>
            <a:r>
              <a:rPr sz="1300" b="0" i="0">
                <a:solidFill>
                  <a:srgbClr val="1E2A26"/>
                </a:solidFill>
                <a:latin typeface="Calibri"/>
              </a:rPr>
              <a:t>Workload hurt here: not a straight-line effect. Trees use it (next slide).</a:t>
            </a:r>
          </a:p>
          <a:p>
            <a:pPr algn="l">
              <a:spcAft>
                <a:spcPts val="900"/>
              </a:spcAft>
            </a:pPr>
            <a:r>
              <a:rPr sz="1300" b="1" i="0">
                <a:solidFill>
                  <a:srgbClr val="5F6B66"/>
                </a:solidFill>
                <a:latin typeface="Arial"/>
              </a:rPr>
              <a:t>SMOTE  </a:t>
            </a:r>
            <a:r>
              <a:rPr sz="1300" b="0" i="0">
                <a:solidFill>
                  <a:srgbClr val="1E2A26"/>
                </a:solidFill>
                <a:latin typeface="Calibri"/>
              </a:rPr>
              <a:t>instead of weights: 0.295, ~4× slower. Kept weights.</a:t>
            </a:r>
          </a:p>
          <a:p>
            <a:pPr algn="l">
              <a:spcAft>
                <a:spcPts val="900"/>
              </a:spcAft>
            </a:pPr>
            <a:r>
              <a:rPr sz="1300" b="1" i="0">
                <a:solidFill>
                  <a:srgbClr val="9A6600"/>
                </a:solidFill>
                <a:latin typeface="Arial"/>
              </a:rPr>
              <a:t>Outliers  </a:t>
            </a:r>
            <a:r>
              <a:rPr sz="1300" b="0" i="0">
                <a:solidFill>
                  <a:srgbClr val="1E2A26"/>
                </a:solidFill>
                <a:latin typeface="Calibri"/>
              </a:rPr>
              <a:t>Promised time runs 1–630 days (10% over a month). Real deadlines, so log-transformed and scaled, not removed.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179576"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FEATURES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One feature added, one removed</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10</a:t>
            </a:r>
          </a:p>
        </p:txBody>
      </p:sp>
      <p:sp>
        <p:nvSpPr>
          <p:cNvPr id="16" name="Oval 15"/>
          <p:cNvSpPr/>
          <p:nvPr/>
        </p:nvSpPr>
        <p:spPr>
          <a:xfrm>
            <a:off x="548640" y="1783080"/>
            <a:ext cx="548640" cy="548640"/>
          </a:xfrm>
          <a:prstGeom prst="ellipse">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2600" b="1">
                <a:solidFill>
                  <a:srgbClr val="FFFFFF"/>
                </a:solidFill>
                <a:latin typeface="Calibri"/>
              </a:rPr>
              <a:t>+</a:t>
            </a:r>
          </a:p>
        </p:txBody>
      </p:sp>
      <p:sp>
        <p:nvSpPr>
          <p:cNvPr id="17" name="TextBox 16"/>
          <p:cNvSpPr txBox="1"/>
          <p:nvPr/>
        </p:nvSpPr>
        <p:spPr>
          <a:xfrm>
            <a:off x="1234440" y="1828800"/>
            <a:ext cx="5943600" cy="457200"/>
          </a:xfrm>
          <a:prstGeom prst="rect">
            <a:avLst/>
          </a:prstGeom>
          <a:noFill/>
        </p:spPr>
        <p:txBody>
          <a:bodyPr wrap="square" lIns="0" rIns="0" tIns="0" bIns="0" anchor="t">
            <a:spAutoFit/>
          </a:bodyPr>
          <a:lstStyle/>
          <a:p>
            <a:pPr algn="l">
              <a:spcAft>
                <a:spcPts val="400"/>
              </a:spcAft>
            </a:pPr>
            <a:r>
              <a:rPr sz="2000" b="1" i="0">
                <a:solidFill>
                  <a:srgbClr val="006B47"/>
                </a:solidFill>
                <a:latin typeface="Arial"/>
              </a:rPr>
              <a:t>Added: department workload</a:t>
            </a:r>
          </a:p>
        </p:txBody>
      </p:sp>
      <p:sp>
        <p:nvSpPr>
          <p:cNvPr id="18" name="TextBox 17"/>
          <p:cNvSpPr txBox="1"/>
          <p:nvPr/>
        </p:nvSpPr>
        <p:spPr>
          <a:xfrm>
            <a:off x="548640" y="2468880"/>
            <a:ext cx="7040880" cy="777240"/>
          </a:xfrm>
          <a:prstGeom prst="rect">
            <a:avLst/>
          </a:prstGeom>
          <a:noFill/>
        </p:spPr>
        <p:txBody>
          <a:bodyPr wrap="square" lIns="0" rIns="0" tIns="0" bIns="0" anchor="t">
            <a:spAutoFit/>
          </a:bodyPr>
          <a:lstStyle/>
          <a:p>
            <a:pPr algn="l">
              <a:spcAft>
                <a:spcPts val="400"/>
              </a:spcAft>
            </a:pPr>
            <a:r>
              <a:rPr sz="1400" b="1" i="0">
                <a:solidFill>
                  <a:srgbClr val="006B47"/>
                </a:solidFill>
                <a:latin typeface="Calibri"/>
              </a:rPr>
              <a:t>•  </a:t>
            </a:r>
            <a:r>
              <a:rPr sz="1400" b="0" i="0">
                <a:solidFill>
                  <a:srgbClr val="1E2A26"/>
                </a:solidFill>
                <a:latin typeface="Calibri"/>
              </a:rPr>
              <a:t>Requests the same department already had open when this one was filed</a:t>
            </a:r>
          </a:p>
          <a:p>
            <a:pPr algn="l">
              <a:spcAft>
                <a:spcPts val="400"/>
              </a:spcAft>
            </a:pPr>
            <a:r>
              <a:rPr sz="1400" b="1" i="0">
                <a:solidFill>
                  <a:srgbClr val="006B47"/>
                </a:solidFill>
                <a:latin typeface="Calibri"/>
              </a:rPr>
              <a:t>•  </a:t>
            </a:r>
            <a:r>
              <a:rPr sz="1400" b="0" i="0">
                <a:solidFill>
                  <a:srgbClr val="1E2A26"/>
                </a:solidFill>
                <a:latin typeface="Calibri"/>
              </a:rPr>
              <a:t>Not leakage: at filing time the city already knows what's still open</a:t>
            </a:r>
          </a:p>
        </p:txBody>
      </p:sp>
      <p:graphicFrame>
        <p:nvGraphicFramePr>
          <p:cNvPr id="19" name="Chart 18"/>
          <p:cNvGraphicFramePr>
            <a:graphicFrameLocks noGrp="1"/>
          </p:cNvGraphicFramePr>
          <p:nvPr/>
        </p:nvGraphicFramePr>
        <p:xfrm>
          <a:off x="457200" y="3246120"/>
          <a:ext cx="7223760" cy="2423160"/>
        </p:xfrm>
        <a:graphic>
          <a:graphicData uri="http://schemas.openxmlformats.org/drawingml/2006/chart">
            <c:chart xmlns:c="http://schemas.openxmlformats.org/drawingml/2006/chart" r:id="rId2"/>
          </a:graphicData>
        </a:graphic>
      </p:graphicFrame>
      <p:sp>
        <p:nvSpPr>
          <p:cNvPr id="20" name="TextBox 19"/>
          <p:cNvSpPr txBox="1"/>
          <p:nvPr/>
        </p:nvSpPr>
        <p:spPr>
          <a:xfrm>
            <a:off x="548640" y="5715000"/>
            <a:ext cx="7040880" cy="5029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Missed rate by backlog size: high, dips, rises again. Not a straight line, so only tree models use it, and it becomes the #2 feature.</a:t>
            </a:r>
          </a:p>
        </p:txBody>
      </p:sp>
      <p:sp>
        <p:nvSpPr>
          <p:cNvPr id="21" name="Rounded Rectangle 20"/>
          <p:cNvSpPr/>
          <p:nvPr/>
        </p:nvSpPr>
        <p:spPr>
          <a:xfrm>
            <a:off x="8001000" y="1783080"/>
            <a:ext cx="3639312" cy="443484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0" y="1965960"/>
            <a:ext cx="548640" cy="548640"/>
          </a:xfrm>
          <a:prstGeom prst="ellipse">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2600" b="1">
                <a:solidFill>
                  <a:srgbClr val="1E2A26"/>
                </a:solidFill>
                <a:latin typeface="Calibri"/>
              </a:rPr>
              <a:t>−</a:t>
            </a:r>
          </a:p>
        </p:txBody>
      </p:sp>
      <p:sp>
        <p:nvSpPr>
          <p:cNvPr id="23" name="TextBox 22"/>
          <p:cNvSpPr txBox="1"/>
          <p:nvPr/>
        </p:nvSpPr>
        <p:spPr>
          <a:xfrm>
            <a:off x="8915400" y="2011680"/>
            <a:ext cx="2606040" cy="457200"/>
          </a:xfrm>
          <a:prstGeom prst="rect">
            <a:avLst/>
          </a:prstGeom>
          <a:noFill/>
        </p:spPr>
        <p:txBody>
          <a:bodyPr wrap="square" lIns="0" rIns="0" tIns="0" bIns="0" anchor="t">
            <a:spAutoFit/>
          </a:bodyPr>
          <a:lstStyle/>
          <a:p>
            <a:pPr algn="l">
              <a:spcAft>
                <a:spcPts val="400"/>
              </a:spcAft>
            </a:pPr>
            <a:r>
              <a:rPr sz="1900" b="1" i="0">
                <a:solidFill>
                  <a:srgbClr val="9A6600"/>
                </a:solidFill>
                <a:latin typeface="Arial"/>
              </a:rPr>
              <a:t>Removed: month filed</a:t>
            </a:r>
          </a:p>
        </p:txBody>
      </p:sp>
      <p:sp>
        <p:nvSpPr>
          <p:cNvPr id="24" name="TextBox 23"/>
          <p:cNvSpPr txBox="1"/>
          <p:nvPr/>
        </p:nvSpPr>
        <p:spPr>
          <a:xfrm>
            <a:off x="8229600" y="2697480"/>
            <a:ext cx="3200400" cy="118872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Test months (Oct–Dec) never appear in training, so trees guessed they act like September</a:t>
            </a:r>
          </a:p>
        </p:txBody>
      </p:sp>
      <p:sp>
        <p:nvSpPr>
          <p:cNvPr id="25" name="TextBox 24"/>
          <p:cNvSpPr txBox="1"/>
          <p:nvPr/>
        </p:nvSpPr>
        <p:spPr>
          <a:xfrm>
            <a:off x="8229600" y="3931920"/>
            <a:ext cx="3200400" cy="274320"/>
          </a:xfrm>
          <a:prstGeom prst="rect">
            <a:avLst/>
          </a:prstGeom>
          <a:noFill/>
        </p:spPr>
        <p:txBody>
          <a:bodyPr wrap="square" lIns="0" rIns="0" tIns="0" bIns="0" anchor="t">
            <a:spAutoFit/>
          </a:bodyPr>
          <a:lstStyle/>
          <a:p>
            <a:pPr algn="l">
              <a:spcAft>
                <a:spcPts val="400"/>
              </a:spcAft>
            </a:pPr>
            <a:r>
              <a:rPr sz="1200" b="1" i="0">
                <a:solidFill>
                  <a:srgbClr val="5F6B66"/>
                </a:solidFill>
                <a:latin typeface="Calibri"/>
              </a:rPr>
              <a:t>Gradient boosting, test PR-AUC</a:t>
            </a:r>
          </a:p>
        </p:txBody>
      </p:sp>
      <p:sp>
        <p:nvSpPr>
          <p:cNvPr id="26" name="TextBox 25"/>
          <p:cNvSpPr txBox="1"/>
          <p:nvPr/>
        </p:nvSpPr>
        <p:spPr>
          <a:xfrm>
            <a:off x="8229600" y="4206240"/>
            <a:ext cx="1463040" cy="548640"/>
          </a:xfrm>
          <a:prstGeom prst="rect">
            <a:avLst/>
          </a:prstGeom>
          <a:noFill/>
        </p:spPr>
        <p:txBody>
          <a:bodyPr wrap="square" lIns="0" rIns="0" tIns="0" bIns="0" anchor="t">
            <a:spAutoFit/>
          </a:bodyPr>
          <a:lstStyle/>
          <a:p>
            <a:pPr algn="l">
              <a:spcAft>
                <a:spcPts val="400"/>
              </a:spcAft>
            </a:pPr>
            <a:r>
              <a:rPr sz="3000" b="1" i="0">
                <a:solidFill>
                  <a:srgbClr val="C0392B"/>
                </a:solidFill>
                <a:latin typeface="Arial"/>
              </a:rPr>
              <a:t>0.274</a:t>
            </a:r>
          </a:p>
        </p:txBody>
      </p:sp>
      <p:sp>
        <p:nvSpPr>
          <p:cNvPr id="27" name="TextBox 26"/>
          <p:cNvSpPr txBox="1"/>
          <p:nvPr/>
        </p:nvSpPr>
        <p:spPr>
          <a:xfrm>
            <a:off x="8229600" y="4754880"/>
            <a:ext cx="146304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with month</a:t>
            </a:r>
          </a:p>
        </p:txBody>
      </p:sp>
      <p:sp>
        <p:nvSpPr>
          <p:cNvPr id="28" name="TextBox 27"/>
          <p:cNvSpPr txBox="1"/>
          <p:nvPr/>
        </p:nvSpPr>
        <p:spPr>
          <a:xfrm>
            <a:off x="9829800" y="4206240"/>
            <a:ext cx="1645920" cy="548640"/>
          </a:xfrm>
          <a:prstGeom prst="rect">
            <a:avLst/>
          </a:prstGeom>
          <a:noFill/>
        </p:spPr>
        <p:txBody>
          <a:bodyPr wrap="square" lIns="0" rIns="0" tIns="0" bIns="0" anchor="t">
            <a:spAutoFit/>
          </a:bodyPr>
          <a:lstStyle/>
          <a:p>
            <a:pPr algn="l">
              <a:spcAft>
                <a:spcPts val="400"/>
              </a:spcAft>
            </a:pPr>
            <a:r>
              <a:rPr sz="3000" b="1" i="0">
                <a:solidFill>
                  <a:srgbClr val="006B47"/>
                </a:solidFill>
                <a:latin typeface="Arial"/>
              </a:rPr>
              <a:t>0.336</a:t>
            </a:r>
          </a:p>
        </p:txBody>
      </p:sp>
      <p:sp>
        <p:nvSpPr>
          <p:cNvPr id="29" name="TextBox 28"/>
          <p:cNvSpPr txBox="1"/>
          <p:nvPr/>
        </p:nvSpPr>
        <p:spPr>
          <a:xfrm>
            <a:off x="9829800" y="4754880"/>
            <a:ext cx="164592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without</a:t>
            </a:r>
          </a:p>
        </p:txBody>
      </p:sp>
      <p:sp>
        <p:nvSpPr>
          <p:cNvPr id="30" name="TextBox 29"/>
          <p:cNvSpPr txBox="1"/>
          <p:nvPr/>
        </p:nvSpPr>
        <p:spPr>
          <a:xfrm>
            <a:off x="8229600" y="5166360"/>
            <a:ext cx="3200400" cy="960120"/>
          </a:xfrm>
          <a:prstGeom prst="rect">
            <a:avLst/>
          </a:prstGeom>
          <a:noFill/>
        </p:spPr>
        <p:txBody>
          <a:bodyPr wrap="square" lIns="0" rIns="0" tIns="0" bIns="0" anchor="t">
            <a:spAutoFit/>
          </a:bodyPr>
          <a:lstStyle/>
          <a:p>
            <a:pPr algn="l">
              <a:spcAft>
                <a:spcPts val="400"/>
              </a:spcAft>
            </a:pPr>
            <a:r>
              <a:rPr sz="1300" b="0" i="1">
                <a:solidFill>
                  <a:srgbClr val="1E2A26"/>
                </a:solidFill>
                <a:latin typeface="Calibri"/>
              </a:rPr>
              <a:t>Data drift: a feature that looks fine in training breaks on future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987552"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MODELS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Four models, from simple and explainable to powerful</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11</a:t>
            </a:r>
          </a:p>
        </p:txBody>
      </p:sp>
      <p:sp>
        <p:nvSpPr>
          <p:cNvPr id="16" name="Right Arrow 15"/>
          <p:cNvSpPr/>
          <p:nvPr/>
        </p:nvSpPr>
        <p:spPr>
          <a:xfrm>
            <a:off x="548640" y="1783080"/>
            <a:ext cx="11091672" cy="457200"/>
          </a:xfrm>
          <a:prstGeom prst="rightArrow">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856231"/>
            <a:ext cx="3657600" cy="320040"/>
          </a:xfrm>
          <a:prstGeom prst="rect">
            <a:avLst/>
          </a:prstGeom>
          <a:noFill/>
        </p:spPr>
        <p:txBody>
          <a:bodyPr wrap="square" lIns="0" rIns="0" tIns="0" bIns="0" anchor="t">
            <a:spAutoFit/>
          </a:bodyPr>
          <a:lstStyle/>
          <a:p>
            <a:pPr algn="l">
              <a:spcAft>
                <a:spcPts val="400"/>
              </a:spcAft>
            </a:pPr>
            <a:r>
              <a:rPr sz="1300" b="1" i="0">
                <a:solidFill>
                  <a:srgbClr val="006B47"/>
                </a:solidFill>
                <a:latin typeface="Calibri"/>
              </a:rPr>
              <a:t>Simpler, easier to explain</a:t>
            </a:r>
          </a:p>
        </p:txBody>
      </p:sp>
      <p:sp>
        <p:nvSpPr>
          <p:cNvPr id="18" name="TextBox 17"/>
          <p:cNvSpPr txBox="1"/>
          <p:nvPr/>
        </p:nvSpPr>
        <p:spPr>
          <a:xfrm>
            <a:off x="6949440" y="1856231"/>
            <a:ext cx="3931920" cy="320040"/>
          </a:xfrm>
          <a:prstGeom prst="rect">
            <a:avLst/>
          </a:prstGeom>
          <a:noFill/>
        </p:spPr>
        <p:txBody>
          <a:bodyPr wrap="square" lIns="0" rIns="0" tIns="0" bIns="0" anchor="t">
            <a:spAutoFit/>
          </a:bodyPr>
          <a:lstStyle/>
          <a:p>
            <a:pPr algn="r">
              <a:spcAft>
                <a:spcPts val="400"/>
              </a:spcAft>
            </a:pPr>
            <a:r>
              <a:rPr sz="1300" b="1" i="0">
                <a:solidFill>
                  <a:srgbClr val="006B47"/>
                </a:solidFill>
                <a:latin typeface="Calibri"/>
              </a:rPr>
              <a:t>More powerful, more to tune</a:t>
            </a:r>
          </a:p>
        </p:txBody>
      </p:sp>
      <p:sp>
        <p:nvSpPr>
          <p:cNvPr id="19" name="Rounded Rectangle 18"/>
          <p:cNvSpPr/>
          <p:nvPr/>
        </p:nvSpPr>
        <p:spPr>
          <a:xfrm>
            <a:off x="548640" y="2468880"/>
            <a:ext cx="2651760" cy="530352"/>
          </a:xfrm>
          <a:prstGeom prst="roundRect">
            <a:avLst>
              <a:gd name="adj" fmla="val 15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FFFFFF"/>
                </a:solidFill>
                <a:latin typeface="Arial"/>
              </a:rPr>
              <a:t>Logistic regression</a:t>
            </a:r>
          </a:p>
        </p:txBody>
      </p:sp>
      <p:sp>
        <p:nvSpPr>
          <p:cNvPr id="20" name="TextBox 19"/>
          <p:cNvSpPr txBox="1"/>
          <p:nvPr/>
        </p:nvSpPr>
        <p:spPr>
          <a:xfrm>
            <a:off x="548640" y="3090672"/>
            <a:ext cx="2651760" cy="548640"/>
          </a:xfrm>
          <a:prstGeom prst="rect">
            <a:avLst/>
          </a:prstGeom>
          <a:noFill/>
        </p:spPr>
        <p:txBody>
          <a:bodyPr wrap="square" lIns="0" rIns="0" tIns="0" bIns="0" anchor="t">
            <a:spAutoFit/>
          </a:bodyPr>
          <a:lstStyle/>
          <a:p>
            <a:pPr algn="l">
              <a:spcAft>
                <a:spcPts val="400"/>
              </a:spcAft>
            </a:pPr>
            <a:r>
              <a:rPr sz="1300" b="0" i="1">
                <a:solidFill>
                  <a:srgbClr val="1E2A26"/>
                </a:solidFill>
                <a:latin typeface="Calibri"/>
              </a:rPr>
              <a:t>Adds up weighted features into a probability</a:t>
            </a:r>
          </a:p>
        </p:txBody>
      </p:sp>
      <p:sp>
        <p:nvSpPr>
          <p:cNvPr id="21" name="TextBox 20"/>
          <p:cNvSpPr txBox="1"/>
          <p:nvPr/>
        </p:nvSpPr>
        <p:spPr>
          <a:xfrm>
            <a:off x="548640" y="3657600"/>
            <a:ext cx="2651760" cy="594360"/>
          </a:xfrm>
          <a:prstGeom prst="rect">
            <a:avLst/>
          </a:prstGeom>
          <a:noFill/>
        </p:spPr>
        <p:txBody>
          <a:bodyPr wrap="square" lIns="0" rIns="0" tIns="0" bIns="0" anchor="t">
            <a:spAutoFit/>
          </a:bodyPr>
          <a:lstStyle/>
          <a:p>
            <a:pPr algn="l">
              <a:spcAft>
                <a:spcPts val="300"/>
              </a:spcAft>
            </a:pPr>
            <a:r>
              <a:rPr sz="1300" b="1" i="0">
                <a:solidFill>
                  <a:srgbClr val="006B47"/>
                </a:solidFill>
                <a:latin typeface="Calibri"/>
              </a:rPr>
              <a:t>+ </a:t>
            </a:r>
            <a:r>
              <a:rPr sz="1300" b="0" i="0">
                <a:solidFill>
                  <a:srgbClr val="1E2A26"/>
                </a:solidFill>
                <a:latin typeface="Calibri"/>
              </a:rPr>
              <a:t>Fast, explainable</a:t>
            </a:r>
          </a:p>
          <a:p>
            <a:pPr algn="l">
              <a:spcAft>
                <a:spcPts val="300"/>
              </a:spcAft>
            </a:pPr>
            <a:r>
              <a:rPr sz="1300" b="1" i="0">
                <a:solidFill>
                  <a:srgbClr val="C0392B"/>
                </a:solidFill>
                <a:latin typeface="Calibri"/>
              </a:rPr>
              <a:t>− </a:t>
            </a:r>
            <a:r>
              <a:rPr sz="1300" b="0" i="0">
                <a:solidFill>
                  <a:srgbClr val="1E2A26"/>
                </a:solidFill>
                <a:latin typeface="Calibri"/>
              </a:rPr>
              <a:t>Straight-line effects only</a:t>
            </a:r>
          </a:p>
        </p:txBody>
      </p:sp>
      <p:sp>
        <p:nvSpPr>
          <p:cNvPr id="22" name="TextBox 21"/>
          <p:cNvSpPr txBox="1"/>
          <p:nvPr/>
        </p:nvSpPr>
        <p:spPr>
          <a:xfrm>
            <a:off x="548640" y="4297680"/>
            <a:ext cx="2651760" cy="777240"/>
          </a:xfrm>
          <a:prstGeom prst="rect">
            <a:avLst/>
          </a:prstGeom>
          <a:noFill/>
        </p:spPr>
        <p:txBody>
          <a:bodyPr wrap="square" lIns="0" rIns="0" tIns="0" bIns="0" anchor="t">
            <a:spAutoFit/>
          </a:bodyPr>
          <a:lstStyle/>
          <a:p>
            <a:pPr algn="l">
              <a:spcAft>
                <a:spcPts val="400"/>
              </a:spcAft>
            </a:pPr>
            <a:r>
              <a:rPr sz="1200" b="1" i="0">
                <a:solidFill>
                  <a:srgbClr val="9A6600"/>
                </a:solidFill>
                <a:latin typeface="Calibri"/>
              </a:rPr>
              <a:t>Assumes: </a:t>
            </a:r>
            <a:r>
              <a:rPr sz="1200" b="0" i="0">
                <a:solidFill>
                  <a:srgbClr val="1E2A26"/>
                </a:solidFill>
                <a:latin typeface="Calibri"/>
              </a:rPr>
              <a:t>effects add up in a straight line; overlapping features (type and department) blur weights</a:t>
            </a:r>
          </a:p>
        </p:txBody>
      </p:sp>
      <p:sp>
        <p:nvSpPr>
          <p:cNvPr id="23" name="Rounded Rectangle 22"/>
          <p:cNvSpPr/>
          <p:nvPr/>
        </p:nvSpPr>
        <p:spPr>
          <a:xfrm>
            <a:off x="548640" y="5120640"/>
            <a:ext cx="2651760" cy="347472"/>
          </a:xfrm>
          <a:prstGeom prst="roundRect">
            <a:avLst>
              <a:gd name="adj" fmla="val 40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0">
                <a:solidFill>
                  <a:srgbClr val="1E2A26"/>
                </a:solidFill>
                <a:latin typeface="Calibri"/>
              </a:rPr>
              <a:t>Needs scaling + one-hot</a:t>
            </a:r>
          </a:p>
        </p:txBody>
      </p:sp>
      <p:sp>
        <p:nvSpPr>
          <p:cNvPr id="24" name="Rounded Rectangle 23"/>
          <p:cNvSpPr/>
          <p:nvPr/>
        </p:nvSpPr>
        <p:spPr>
          <a:xfrm>
            <a:off x="3364992" y="2468880"/>
            <a:ext cx="2651760" cy="530352"/>
          </a:xfrm>
          <a:prstGeom prst="roundRect">
            <a:avLst>
              <a:gd name="adj" fmla="val 15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FFFFFF"/>
                </a:solidFill>
                <a:latin typeface="Arial"/>
              </a:rPr>
              <a:t>Decision tree</a:t>
            </a:r>
          </a:p>
        </p:txBody>
      </p:sp>
      <p:sp>
        <p:nvSpPr>
          <p:cNvPr id="25" name="TextBox 24"/>
          <p:cNvSpPr txBox="1"/>
          <p:nvPr/>
        </p:nvSpPr>
        <p:spPr>
          <a:xfrm>
            <a:off x="3364992" y="3090672"/>
            <a:ext cx="2651760" cy="548640"/>
          </a:xfrm>
          <a:prstGeom prst="rect">
            <a:avLst/>
          </a:prstGeom>
          <a:noFill/>
        </p:spPr>
        <p:txBody>
          <a:bodyPr wrap="square" lIns="0" rIns="0" tIns="0" bIns="0" anchor="t">
            <a:spAutoFit/>
          </a:bodyPr>
          <a:lstStyle/>
          <a:p>
            <a:pPr algn="l">
              <a:spcAft>
                <a:spcPts val="400"/>
              </a:spcAft>
            </a:pPr>
            <a:r>
              <a:rPr sz="1300" b="0" i="1">
                <a:solidFill>
                  <a:srgbClr val="1E2A26"/>
                </a:solidFill>
                <a:latin typeface="Calibri"/>
              </a:rPr>
              <a:t>A flowchart of yes/no questions</a:t>
            </a:r>
          </a:p>
        </p:txBody>
      </p:sp>
      <p:sp>
        <p:nvSpPr>
          <p:cNvPr id="26" name="TextBox 25"/>
          <p:cNvSpPr txBox="1"/>
          <p:nvPr/>
        </p:nvSpPr>
        <p:spPr>
          <a:xfrm>
            <a:off x="3364992" y="3657600"/>
            <a:ext cx="2651760" cy="594360"/>
          </a:xfrm>
          <a:prstGeom prst="rect">
            <a:avLst/>
          </a:prstGeom>
          <a:noFill/>
        </p:spPr>
        <p:txBody>
          <a:bodyPr wrap="square" lIns="0" rIns="0" tIns="0" bIns="0" anchor="t">
            <a:spAutoFit/>
          </a:bodyPr>
          <a:lstStyle/>
          <a:p>
            <a:pPr algn="l">
              <a:spcAft>
                <a:spcPts val="300"/>
              </a:spcAft>
            </a:pPr>
            <a:r>
              <a:rPr sz="1300" b="1" i="0">
                <a:solidFill>
                  <a:srgbClr val="006B47"/>
                </a:solidFill>
                <a:latin typeface="Calibri"/>
              </a:rPr>
              <a:t>+ </a:t>
            </a:r>
            <a:r>
              <a:rPr sz="1300" b="0" i="0">
                <a:solidFill>
                  <a:srgbClr val="1E2A26"/>
                </a:solidFill>
                <a:latin typeface="Calibri"/>
              </a:rPr>
              <a:t>Captures combinations</a:t>
            </a:r>
          </a:p>
          <a:p>
            <a:pPr algn="l">
              <a:spcAft>
                <a:spcPts val="300"/>
              </a:spcAft>
            </a:pPr>
            <a:r>
              <a:rPr sz="1300" b="1" i="0">
                <a:solidFill>
                  <a:srgbClr val="C0392B"/>
                </a:solidFill>
                <a:latin typeface="Calibri"/>
              </a:rPr>
              <a:t>− </a:t>
            </a:r>
            <a:r>
              <a:rPr sz="1300" b="0" i="0">
                <a:solidFill>
                  <a:srgbClr val="1E2A26"/>
                </a:solidFill>
                <a:latin typeface="Calibri"/>
              </a:rPr>
              <a:t>Overfits, unstable</a:t>
            </a:r>
          </a:p>
        </p:txBody>
      </p:sp>
      <p:sp>
        <p:nvSpPr>
          <p:cNvPr id="27" name="TextBox 26"/>
          <p:cNvSpPr txBox="1"/>
          <p:nvPr/>
        </p:nvSpPr>
        <p:spPr>
          <a:xfrm>
            <a:off x="3364992" y="4297680"/>
            <a:ext cx="2651760" cy="777240"/>
          </a:xfrm>
          <a:prstGeom prst="rect">
            <a:avLst/>
          </a:prstGeom>
          <a:noFill/>
        </p:spPr>
        <p:txBody>
          <a:bodyPr wrap="square" lIns="0" rIns="0" tIns="0" bIns="0" anchor="t">
            <a:spAutoFit/>
          </a:bodyPr>
          <a:lstStyle/>
          <a:p>
            <a:pPr algn="l">
              <a:spcAft>
                <a:spcPts val="400"/>
              </a:spcAft>
            </a:pPr>
            <a:r>
              <a:rPr sz="1200" b="1" i="0">
                <a:solidFill>
                  <a:srgbClr val="9A6600"/>
                </a:solidFill>
                <a:latin typeface="Calibri"/>
              </a:rPr>
              <a:t>Assumes: </a:t>
            </a:r>
            <a:r>
              <a:rPr sz="1200" b="0" i="0">
                <a:solidFill>
                  <a:srgbClr val="1E2A26"/>
                </a:solidFill>
                <a:latin typeface="Calibri"/>
              </a:rPr>
              <a:t>nothing about distributions; it just finds cut points</a:t>
            </a:r>
          </a:p>
        </p:txBody>
      </p:sp>
      <p:sp>
        <p:nvSpPr>
          <p:cNvPr id="28" name="Rounded Rectangle 27"/>
          <p:cNvSpPr/>
          <p:nvPr/>
        </p:nvSpPr>
        <p:spPr>
          <a:xfrm>
            <a:off x="3364992" y="5120640"/>
            <a:ext cx="2651760" cy="347472"/>
          </a:xfrm>
          <a:prstGeom prst="roundRect">
            <a:avLst>
              <a:gd name="adj" fmla="val 4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0">
                <a:solidFill>
                  <a:srgbClr val="1E2A26"/>
                </a:solidFill>
                <a:latin typeface="Calibri"/>
              </a:rPr>
              <a:t>No scaling</a:t>
            </a:r>
          </a:p>
        </p:txBody>
      </p:sp>
      <p:sp>
        <p:nvSpPr>
          <p:cNvPr id="29" name="Rounded Rectangle 28"/>
          <p:cNvSpPr/>
          <p:nvPr/>
        </p:nvSpPr>
        <p:spPr>
          <a:xfrm>
            <a:off x="6181344" y="2468880"/>
            <a:ext cx="2651760" cy="530352"/>
          </a:xfrm>
          <a:prstGeom prst="roundRect">
            <a:avLst>
              <a:gd name="adj" fmla="val 15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FFFFFF"/>
                </a:solidFill>
                <a:latin typeface="Arial"/>
              </a:rPr>
              <a:t>Random forest</a:t>
            </a:r>
          </a:p>
        </p:txBody>
      </p:sp>
      <p:sp>
        <p:nvSpPr>
          <p:cNvPr id="30" name="TextBox 29"/>
          <p:cNvSpPr txBox="1"/>
          <p:nvPr/>
        </p:nvSpPr>
        <p:spPr>
          <a:xfrm>
            <a:off x="6181344" y="3090672"/>
            <a:ext cx="2651760" cy="548640"/>
          </a:xfrm>
          <a:prstGeom prst="rect">
            <a:avLst/>
          </a:prstGeom>
          <a:noFill/>
        </p:spPr>
        <p:txBody>
          <a:bodyPr wrap="square" lIns="0" rIns="0" tIns="0" bIns="0" anchor="t">
            <a:spAutoFit/>
          </a:bodyPr>
          <a:lstStyle/>
          <a:p>
            <a:pPr algn="l">
              <a:spcAft>
                <a:spcPts val="400"/>
              </a:spcAft>
            </a:pPr>
            <a:r>
              <a:rPr sz="1300" b="0" i="1">
                <a:solidFill>
                  <a:srgbClr val="1E2A26"/>
                </a:solidFill>
                <a:latin typeface="Calibri"/>
              </a:rPr>
              <a:t>Hundreds of trees voting together</a:t>
            </a:r>
          </a:p>
        </p:txBody>
      </p:sp>
      <p:sp>
        <p:nvSpPr>
          <p:cNvPr id="31" name="TextBox 30"/>
          <p:cNvSpPr txBox="1"/>
          <p:nvPr/>
        </p:nvSpPr>
        <p:spPr>
          <a:xfrm>
            <a:off x="6181344" y="3657600"/>
            <a:ext cx="2651760" cy="594360"/>
          </a:xfrm>
          <a:prstGeom prst="rect">
            <a:avLst/>
          </a:prstGeom>
          <a:noFill/>
        </p:spPr>
        <p:txBody>
          <a:bodyPr wrap="square" lIns="0" rIns="0" tIns="0" bIns="0" anchor="t">
            <a:spAutoFit/>
          </a:bodyPr>
          <a:lstStyle/>
          <a:p>
            <a:pPr algn="l">
              <a:spcAft>
                <a:spcPts val="300"/>
              </a:spcAft>
            </a:pPr>
            <a:r>
              <a:rPr sz="1300" b="1" i="0">
                <a:solidFill>
                  <a:srgbClr val="006B47"/>
                </a:solidFill>
                <a:latin typeface="Calibri"/>
              </a:rPr>
              <a:t>+ </a:t>
            </a:r>
            <a:r>
              <a:rPr sz="1300" b="0" i="0">
                <a:solidFill>
                  <a:srgbClr val="1E2A26"/>
                </a:solidFill>
                <a:latin typeface="Calibri"/>
              </a:rPr>
              <a:t>Robust on mixed data</a:t>
            </a:r>
          </a:p>
          <a:p>
            <a:pPr algn="l">
              <a:spcAft>
                <a:spcPts val="300"/>
              </a:spcAft>
            </a:pPr>
            <a:r>
              <a:rPr sz="1300" b="1" i="0">
                <a:solidFill>
                  <a:srgbClr val="C0392B"/>
                </a:solidFill>
                <a:latin typeface="Calibri"/>
              </a:rPr>
              <a:t>− </a:t>
            </a:r>
            <a:r>
              <a:rPr sz="1300" b="0" i="0">
                <a:solidFill>
                  <a:srgbClr val="1E2A26"/>
                </a:solidFill>
                <a:latin typeface="Calibri"/>
              </a:rPr>
              <a:t>Slower, harder to explain</a:t>
            </a:r>
          </a:p>
        </p:txBody>
      </p:sp>
      <p:sp>
        <p:nvSpPr>
          <p:cNvPr id="32" name="TextBox 31"/>
          <p:cNvSpPr txBox="1"/>
          <p:nvPr/>
        </p:nvSpPr>
        <p:spPr>
          <a:xfrm>
            <a:off x="6181344" y="4297680"/>
            <a:ext cx="2651760" cy="777240"/>
          </a:xfrm>
          <a:prstGeom prst="rect">
            <a:avLst/>
          </a:prstGeom>
          <a:noFill/>
        </p:spPr>
        <p:txBody>
          <a:bodyPr wrap="square" lIns="0" rIns="0" tIns="0" bIns="0" anchor="t">
            <a:spAutoFit/>
          </a:bodyPr>
          <a:lstStyle/>
          <a:p>
            <a:pPr algn="l">
              <a:spcAft>
                <a:spcPts val="400"/>
              </a:spcAft>
            </a:pPr>
            <a:r>
              <a:rPr sz="1200" b="1" i="0">
                <a:solidFill>
                  <a:srgbClr val="9A6600"/>
                </a:solidFill>
                <a:latin typeface="Calibri"/>
              </a:rPr>
              <a:t>Assumes: </a:t>
            </a:r>
            <a:r>
              <a:rPr sz="1200" b="0" i="0">
                <a:solidFill>
                  <a:srgbClr val="1E2A26"/>
                </a:solidFill>
                <a:latin typeface="Calibri"/>
              </a:rPr>
              <a:t>individual trees' errors average out</a:t>
            </a:r>
          </a:p>
        </p:txBody>
      </p:sp>
      <p:sp>
        <p:nvSpPr>
          <p:cNvPr id="33" name="Rounded Rectangle 32"/>
          <p:cNvSpPr/>
          <p:nvPr/>
        </p:nvSpPr>
        <p:spPr>
          <a:xfrm>
            <a:off x="6181344" y="5120640"/>
            <a:ext cx="2651760" cy="347472"/>
          </a:xfrm>
          <a:prstGeom prst="roundRect">
            <a:avLst>
              <a:gd name="adj" fmla="val 4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0">
                <a:solidFill>
                  <a:srgbClr val="1E2A26"/>
                </a:solidFill>
                <a:latin typeface="Calibri"/>
              </a:rPr>
              <a:t>No scaling</a:t>
            </a:r>
          </a:p>
        </p:txBody>
      </p:sp>
      <p:sp>
        <p:nvSpPr>
          <p:cNvPr id="34" name="Rounded Rectangle 33"/>
          <p:cNvSpPr/>
          <p:nvPr/>
        </p:nvSpPr>
        <p:spPr>
          <a:xfrm>
            <a:off x="8997696" y="2468880"/>
            <a:ext cx="2651760" cy="530352"/>
          </a:xfrm>
          <a:prstGeom prst="roundRect">
            <a:avLst>
              <a:gd name="adj" fmla="val 15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600" b="1">
                <a:solidFill>
                  <a:srgbClr val="FFFFFF"/>
                </a:solidFill>
                <a:latin typeface="Arial"/>
              </a:rPr>
              <a:t>Gradient boosting</a:t>
            </a:r>
          </a:p>
        </p:txBody>
      </p:sp>
      <p:sp>
        <p:nvSpPr>
          <p:cNvPr id="35" name="TextBox 34"/>
          <p:cNvSpPr txBox="1"/>
          <p:nvPr/>
        </p:nvSpPr>
        <p:spPr>
          <a:xfrm>
            <a:off x="8997696" y="3090672"/>
            <a:ext cx="2651760" cy="548640"/>
          </a:xfrm>
          <a:prstGeom prst="rect">
            <a:avLst/>
          </a:prstGeom>
          <a:noFill/>
        </p:spPr>
        <p:txBody>
          <a:bodyPr wrap="square" lIns="0" rIns="0" tIns="0" bIns="0" anchor="t">
            <a:spAutoFit/>
          </a:bodyPr>
          <a:lstStyle/>
          <a:p>
            <a:pPr algn="l">
              <a:spcAft>
                <a:spcPts val="400"/>
              </a:spcAft>
            </a:pPr>
            <a:r>
              <a:rPr sz="1300" b="0" i="1">
                <a:solidFill>
                  <a:srgbClr val="1E2A26"/>
                </a:solidFill>
                <a:latin typeface="Calibri"/>
              </a:rPr>
              <a:t>Trees built in sequence, each fixing the last</a:t>
            </a:r>
          </a:p>
        </p:txBody>
      </p:sp>
      <p:sp>
        <p:nvSpPr>
          <p:cNvPr id="36" name="TextBox 35"/>
          <p:cNvSpPr txBox="1"/>
          <p:nvPr/>
        </p:nvSpPr>
        <p:spPr>
          <a:xfrm>
            <a:off x="8997696" y="3657600"/>
            <a:ext cx="2651760" cy="594360"/>
          </a:xfrm>
          <a:prstGeom prst="rect">
            <a:avLst/>
          </a:prstGeom>
          <a:noFill/>
        </p:spPr>
        <p:txBody>
          <a:bodyPr wrap="square" lIns="0" rIns="0" tIns="0" bIns="0" anchor="t">
            <a:spAutoFit/>
          </a:bodyPr>
          <a:lstStyle/>
          <a:p>
            <a:pPr algn="l">
              <a:spcAft>
                <a:spcPts val="300"/>
              </a:spcAft>
            </a:pPr>
            <a:r>
              <a:rPr sz="1300" b="1" i="0">
                <a:solidFill>
                  <a:srgbClr val="006B47"/>
                </a:solidFill>
                <a:latin typeface="Calibri"/>
              </a:rPr>
              <a:t>+ </a:t>
            </a:r>
            <a:r>
              <a:rPr sz="1300" b="0" i="0">
                <a:solidFill>
                  <a:srgbClr val="1E2A26"/>
                </a:solidFill>
                <a:latin typeface="Calibri"/>
              </a:rPr>
              <a:t>Usually strongest on tables</a:t>
            </a:r>
          </a:p>
          <a:p>
            <a:pPr algn="l">
              <a:spcAft>
                <a:spcPts val="300"/>
              </a:spcAft>
            </a:pPr>
            <a:r>
              <a:rPr sz="1300" b="1" i="0">
                <a:solidFill>
                  <a:srgbClr val="C0392B"/>
                </a:solidFill>
                <a:latin typeface="Calibri"/>
              </a:rPr>
              <a:t>− </a:t>
            </a:r>
            <a:r>
              <a:rPr sz="1300" b="0" i="0">
                <a:solidFill>
                  <a:srgbClr val="1E2A26"/>
                </a:solidFill>
                <a:latin typeface="Calibri"/>
              </a:rPr>
              <a:t>More settings to tune</a:t>
            </a:r>
          </a:p>
        </p:txBody>
      </p:sp>
      <p:sp>
        <p:nvSpPr>
          <p:cNvPr id="37" name="TextBox 36"/>
          <p:cNvSpPr txBox="1"/>
          <p:nvPr/>
        </p:nvSpPr>
        <p:spPr>
          <a:xfrm>
            <a:off x="8997696" y="4297680"/>
            <a:ext cx="2651760" cy="777240"/>
          </a:xfrm>
          <a:prstGeom prst="rect">
            <a:avLst/>
          </a:prstGeom>
          <a:noFill/>
        </p:spPr>
        <p:txBody>
          <a:bodyPr wrap="square" lIns="0" rIns="0" tIns="0" bIns="0" anchor="t">
            <a:spAutoFit/>
          </a:bodyPr>
          <a:lstStyle/>
          <a:p>
            <a:pPr algn="l">
              <a:spcAft>
                <a:spcPts val="400"/>
              </a:spcAft>
            </a:pPr>
            <a:r>
              <a:rPr sz="1200" b="1" i="0">
                <a:solidFill>
                  <a:srgbClr val="9A6600"/>
                </a:solidFill>
                <a:latin typeface="Calibri"/>
              </a:rPr>
              <a:t>Assumes: </a:t>
            </a:r>
            <a:r>
              <a:rPr sz="1200" b="0" i="0">
                <a:solidFill>
                  <a:srgbClr val="1E2A26"/>
                </a:solidFill>
                <a:latin typeface="Calibri"/>
              </a:rPr>
              <a:t>mistakes can be fixed step by step without overfitting</a:t>
            </a:r>
          </a:p>
        </p:txBody>
      </p:sp>
      <p:sp>
        <p:nvSpPr>
          <p:cNvPr id="38" name="Rounded Rectangle 37"/>
          <p:cNvSpPr/>
          <p:nvPr/>
        </p:nvSpPr>
        <p:spPr>
          <a:xfrm>
            <a:off x="8997696" y="5120640"/>
            <a:ext cx="2651760" cy="347472"/>
          </a:xfrm>
          <a:prstGeom prst="roundRect">
            <a:avLst>
              <a:gd name="adj" fmla="val 4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200" b="0">
                <a:solidFill>
                  <a:srgbClr val="1E2A26"/>
                </a:solidFill>
                <a:latin typeface="Calibri"/>
              </a:rPr>
              <a:t>No scaling</a:t>
            </a:r>
          </a:p>
        </p:txBody>
      </p:sp>
      <p:sp>
        <p:nvSpPr>
          <p:cNvPr id="39" name="Rounded Rectangle 38"/>
          <p:cNvSpPr/>
          <p:nvPr/>
        </p:nvSpPr>
        <p:spPr>
          <a:xfrm>
            <a:off x="548640" y="5596128"/>
            <a:ext cx="11091672" cy="640080"/>
          </a:xfrm>
          <a:prstGeom prst="roundRect">
            <a:avLst>
              <a:gd name="adj" fmla="val 5000"/>
            </a:avLst>
          </a:prstGeom>
          <a:solidFill>
            <a:srgbClr val="0C2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623560"/>
            <a:ext cx="10698480" cy="585216"/>
          </a:xfrm>
          <a:prstGeom prst="rect">
            <a:avLst/>
          </a:prstGeom>
          <a:noFill/>
        </p:spPr>
        <p:txBody>
          <a:bodyPr wrap="square" lIns="0" rIns="0" tIns="0" bIns="0" anchor="ctr">
            <a:spAutoFit/>
          </a:bodyPr>
          <a:lstStyle/>
          <a:p>
            <a:pPr algn="l">
              <a:spcAft>
                <a:spcPts val="400"/>
              </a:spcAft>
            </a:pPr>
            <a:r>
              <a:rPr sz="1300" b="1" i="0">
                <a:solidFill>
                  <a:srgbClr val="F5B800"/>
                </a:solidFill>
                <a:latin typeface="Calibri"/>
              </a:rPr>
              <a:t>All four assume future requests look like past ones, </a:t>
            </a:r>
            <a:r>
              <a:rPr sz="1300" b="0" i="0">
                <a:solidFill>
                  <a:srgbClr val="FFFFFF"/>
                </a:solidFill>
                <a:latin typeface="Calibri"/>
              </a:rPr>
              <a:t>so we test on later months. All use class weights. Skipped KNN and SVM: too slow on 172K rows.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987552"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MODELS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On validation, gradient boosting ranked risky requests best</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12</a:t>
            </a:r>
          </a:p>
        </p:txBody>
      </p:sp>
      <p:sp>
        <p:nvSpPr>
          <p:cNvPr id="16" name="TextBox 15"/>
          <p:cNvSpPr txBox="1"/>
          <p:nvPr/>
        </p:nvSpPr>
        <p:spPr>
          <a:xfrm>
            <a:off x="548640" y="1737360"/>
            <a:ext cx="6583680" cy="274320"/>
          </a:xfrm>
          <a:prstGeom prst="rect">
            <a:avLst/>
          </a:prstGeom>
          <a:noFill/>
        </p:spPr>
        <p:txBody>
          <a:bodyPr wrap="square" lIns="0" rIns="0" tIns="0" bIns="0" anchor="t">
            <a:spAutoFit/>
          </a:bodyPr>
          <a:lstStyle/>
          <a:p>
            <a:pPr algn="l">
              <a:spcAft>
                <a:spcPts val="400"/>
              </a:spcAft>
            </a:pPr>
            <a:r>
              <a:rPr sz="1300" b="0" i="0">
                <a:solidFill>
                  <a:srgbClr val="5F6B66"/>
                </a:solidFill>
                <a:latin typeface="Calibri"/>
              </a:rPr>
              <a:t>PR-AUC, validation set (higher = better at ranking risky requests)</a:t>
            </a:r>
          </a:p>
        </p:txBody>
      </p:sp>
      <p:graphicFrame>
        <p:nvGraphicFramePr>
          <p:cNvPr id="17" name="Chart 16"/>
          <p:cNvGraphicFramePr>
            <a:graphicFrameLocks noGrp="1"/>
          </p:cNvGraphicFramePr>
          <p:nvPr/>
        </p:nvGraphicFramePr>
        <p:xfrm>
          <a:off x="411480" y="2057400"/>
          <a:ext cx="6766560" cy="3291840"/>
        </p:xfrm>
        <a:graphic>
          <a:graphicData uri="http://schemas.openxmlformats.org/drawingml/2006/chart">
            <c:chart xmlns:c="http://schemas.openxmlformats.org/drawingml/2006/chart" r:id="rId2"/>
          </a:graphicData>
        </a:graphic>
      </p:graphicFrame>
      <p:sp>
        <p:nvSpPr>
          <p:cNvPr id="18" name="TextBox 17"/>
          <p:cNvSpPr txBox="1"/>
          <p:nvPr/>
        </p:nvSpPr>
        <p:spPr>
          <a:xfrm>
            <a:off x="548640" y="5486400"/>
            <a:ext cx="6583680" cy="685800"/>
          </a:xfrm>
          <a:prstGeom prst="rect">
            <a:avLst/>
          </a:prstGeom>
          <a:noFill/>
        </p:spPr>
        <p:txBody>
          <a:bodyPr wrap="square" lIns="0" rIns="0" tIns="0" bIns="0" anchor="t">
            <a:spAutoFit/>
          </a:bodyPr>
          <a:lstStyle/>
          <a:p>
            <a:pPr algn="l">
              <a:spcAft>
                <a:spcPts val="400"/>
              </a:spcAft>
            </a:pPr>
            <a:r>
              <a:rPr sz="1400" b="1" i="0">
                <a:solidFill>
                  <a:srgbClr val="5F6B66"/>
                </a:solidFill>
                <a:latin typeface="Calibri"/>
              </a:rPr>
              <a:t>F1 at the 0.5 cutoff: </a:t>
            </a:r>
            <a:r>
              <a:rPr sz="1400" b="0" i="0">
                <a:solidFill>
                  <a:srgbClr val="5F6B66"/>
                </a:solidFill>
                <a:latin typeface="Calibri"/>
              </a:rPr>
              <a:t>LR 0.296 · tree 0.293 · forest 0.315 · boosting 0.312</a:t>
            </a:r>
          </a:p>
        </p:txBody>
      </p:sp>
      <p:sp>
        <p:nvSpPr>
          <p:cNvPr id="19" name="Rounded Rectangle 18"/>
          <p:cNvSpPr/>
          <p:nvPr/>
        </p:nvSpPr>
        <p:spPr>
          <a:xfrm>
            <a:off x="7498079" y="1783080"/>
            <a:ext cx="4142232" cy="443484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6679" y="1920240"/>
            <a:ext cx="3703320" cy="4206240"/>
          </a:xfrm>
          <a:prstGeom prst="rect">
            <a:avLst/>
          </a:prstGeom>
          <a:noFill/>
        </p:spPr>
        <p:txBody>
          <a:bodyPr wrap="square" lIns="0" rIns="0" tIns="0" bIns="0" anchor="t">
            <a:spAutoFit/>
          </a:bodyPr>
          <a:lstStyle/>
          <a:p>
            <a:pPr algn="l">
              <a:spcAft>
                <a:spcPts val="1200"/>
              </a:spcAft>
            </a:pPr>
            <a:r>
              <a:rPr sz="1400" b="1" i="0">
                <a:solidFill>
                  <a:srgbClr val="006B47"/>
                </a:solidFill>
                <a:latin typeface="Arial"/>
              </a:rPr>
              <a:t>Why PR-AUC and not F1? </a:t>
            </a:r>
          </a:p>
          <a:p>
            <a:pPr algn="l">
              <a:spcAft>
                <a:spcPts val="1200"/>
              </a:spcAft>
            </a:pPr>
            <a:r>
              <a:rPr sz="1400" b="0" i="0">
                <a:solidFill>
                  <a:srgbClr val="1E2A26"/>
                </a:solidFill>
                <a:latin typeface="Calibri"/>
              </a:rPr>
              <a:t>F1 depends on the 0.5 cutoff, and each model scales its probabilities differently. PR-AUC scores ranking at every cutoff, so the comparison is fair.</a:t>
            </a:r>
          </a:p>
          <a:p>
            <a:pPr algn="l">
              <a:spcAft>
                <a:spcPts val="1200"/>
              </a:spcAft>
            </a:pPr>
            <a:r>
              <a:rPr sz="1400" b="1" i="0">
                <a:solidFill>
                  <a:srgbClr val="9A6600"/>
                </a:solidFill>
                <a:latin typeface="Calibri"/>
              </a:rPr>
              <a:t>Winner: </a:t>
            </a:r>
            <a:r>
              <a:rPr sz="1400" b="0" i="0">
                <a:solidFill>
                  <a:srgbClr val="1E2A26"/>
                </a:solidFill>
                <a:latin typeface="Calibri"/>
              </a:rPr>
              <a:t>gradient boosting (0.297), which we then tuned.</a:t>
            </a:r>
          </a:p>
          <a:p>
            <a:pPr algn="l">
              <a:spcAft>
                <a:spcPts val="1200"/>
              </a:spcAft>
            </a:pPr>
            <a:r>
              <a:rPr sz="1400" b="1" i="0">
                <a:solidFill>
                  <a:srgbClr val="1E2A26"/>
                </a:solidFill>
                <a:latin typeface="Calibri"/>
              </a:rPr>
              <a:t>All four are close: </a:t>
            </a:r>
            <a:r>
              <a:rPr sz="1400" b="0" i="0">
                <a:solidFill>
                  <a:srgbClr val="1E2A26"/>
                </a:solidFill>
                <a:latin typeface="Calibri"/>
              </a:rPr>
              <a:t>request type carries most of the signal.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987552"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TUNING</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Tuning helped a little; choosing the cutoff helped more</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13</a:t>
            </a:r>
          </a:p>
        </p:txBody>
      </p:sp>
      <p:sp>
        <p:nvSpPr>
          <p:cNvPr id="16" name="TextBox 15"/>
          <p:cNvSpPr txBox="1"/>
          <p:nvPr/>
        </p:nvSpPr>
        <p:spPr>
          <a:xfrm>
            <a:off x="548640" y="1737360"/>
            <a:ext cx="5852160" cy="274320"/>
          </a:xfrm>
          <a:prstGeom prst="rect">
            <a:avLst/>
          </a:prstGeom>
          <a:noFill/>
        </p:spPr>
        <p:txBody>
          <a:bodyPr wrap="square" lIns="0" rIns="0" tIns="0" bIns="0" anchor="t">
            <a:spAutoFit/>
          </a:bodyPr>
          <a:lstStyle/>
          <a:p>
            <a:pPr algn="l">
              <a:spcAft>
                <a:spcPts val="400"/>
              </a:spcAft>
            </a:pPr>
            <a:r>
              <a:rPr sz="1300" b="0" i="0">
                <a:solidFill>
                  <a:srgbClr val="5F6B66"/>
                </a:solidFill>
                <a:latin typeface="Calibri"/>
              </a:rPr>
              <a:t>Gradient boosting: randomized search, 20 combinations, validation only</a:t>
            </a:r>
          </a:p>
        </p:txBody>
      </p:sp>
      <p:sp>
        <p:nvSpPr>
          <p:cNvPr id="17" name="Rounded Rectangle 16"/>
          <p:cNvSpPr/>
          <p:nvPr/>
        </p:nvSpPr>
        <p:spPr>
          <a:xfrm>
            <a:off x="548640" y="2103120"/>
            <a:ext cx="5852160" cy="6400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167127"/>
            <a:ext cx="4206240" cy="274320"/>
          </a:xfrm>
          <a:prstGeom prst="rect">
            <a:avLst/>
          </a:prstGeom>
          <a:noFill/>
        </p:spPr>
        <p:txBody>
          <a:bodyPr wrap="square" lIns="0" rIns="0" tIns="0" bIns="0" anchor="t">
            <a:spAutoFit/>
          </a:bodyPr>
          <a:lstStyle/>
          <a:p>
            <a:pPr algn="l">
              <a:spcAft>
                <a:spcPts val="400"/>
              </a:spcAft>
            </a:pPr>
            <a:r>
              <a:rPr sz="1400" b="1" i="0">
                <a:solidFill>
                  <a:srgbClr val="1E2A26"/>
                </a:solidFill>
                <a:latin typeface="Arial"/>
              </a:rPr>
              <a:t>learning_rate</a:t>
            </a:r>
          </a:p>
        </p:txBody>
      </p:sp>
      <p:sp>
        <p:nvSpPr>
          <p:cNvPr id="19" name="TextBox 18"/>
          <p:cNvSpPr txBox="1"/>
          <p:nvPr/>
        </p:nvSpPr>
        <p:spPr>
          <a:xfrm>
            <a:off x="731520" y="2441448"/>
            <a:ext cx="420624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size of each tree's correction</a:t>
            </a:r>
          </a:p>
        </p:txBody>
      </p:sp>
      <p:sp>
        <p:nvSpPr>
          <p:cNvPr id="20" name="Rounded Rectangle 19"/>
          <p:cNvSpPr/>
          <p:nvPr/>
        </p:nvSpPr>
        <p:spPr>
          <a:xfrm>
            <a:off x="5257800" y="2231136"/>
            <a:ext cx="960120" cy="384048"/>
          </a:xfrm>
          <a:prstGeom prst="roundRect">
            <a:avLst>
              <a:gd name="adj" fmla="val 40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0.05</a:t>
            </a:r>
          </a:p>
        </p:txBody>
      </p:sp>
      <p:sp>
        <p:nvSpPr>
          <p:cNvPr id="21" name="Rounded Rectangle 20"/>
          <p:cNvSpPr/>
          <p:nvPr/>
        </p:nvSpPr>
        <p:spPr>
          <a:xfrm>
            <a:off x="548640" y="2852927"/>
            <a:ext cx="5852160" cy="6400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916935"/>
            <a:ext cx="4206240" cy="274320"/>
          </a:xfrm>
          <a:prstGeom prst="rect">
            <a:avLst/>
          </a:prstGeom>
          <a:noFill/>
        </p:spPr>
        <p:txBody>
          <a:bodyPr wrap="square" lIns="0" rIns="0" tIns="0" bIns="0" anchor="t">
            <a:spAutoFit/>
          </a:bodyPr>
          <a:lstStyle/>
          <a:p>
            <a:pPr algn="l">
              <a:spcAft>
                <a:spcPts val="400"/>
              </a:spcAft>
            </a:pPr>
            <a:r>
              <a:rPr sz="1400" b="1" i="0">
                <a:solidFill>
                  <a:srgbClr val="1E2A26"/>
                </a:solidFill>
                <a:latin typeface="Arial"/>
              </a:rPr>
              <a:t>max_iter</a:t>
            </a:r>
          </a:p>
        </p:txBody>
      </p:sp>
      <p:sp>
        <p:nvSpPr>
          <p:cNvPr id="23" name="TextBox 22"/>
          <p:cNvSpPr txBox="1"/>
          <p:nvPr/>
        </p:nvSpPr>
        <p:spPr>
          <a:xfrm>
            <a:off x="731520" y="3191256"/>
            <a:ext cx="420624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number of trees</a:t>
            </a:r>
          </a:p>
        </p:txBody>
      </p:sp>
      <p:sp>
        <p:nvSpPr>
          <p:cNvPr id="24" name="Rounded Rectangle 23"/>
          <p:cNvSpPr/>
          <p:nvPr/>
        </p:nvSpPr>
        <p:spPr>
          <a:xfrm>
            <a:off x="5257800" y="2980944"/>
            <a:ext cx="960120" cy="384048"/>
          </a:xfrm>
          <a:prstGeom prst="roundRect">
            <a:avLst>
              <a:gd name="adj" fmla="val 40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400</a:t>
            </a:r>
          </a:p>
        </p:txBody>
      </p:sp>
      <p:sp>
        <p:nvSpPr>
          <p:cNvPr id="25" name="Rounded Rectangle 24"/>
          <p:cNvSpPr/>
          <p:nvPr/>
        </p:nvSpPr>
        <p:spPr>
          <a:xfrm>
            <a:off x="548640" y="3602735"/>
            <a:ext cx="5852160" cy="6400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666744"/>
            <a:ext cx="4206240" cy="274320"/>
          </a:xfrm>
          <a:prstGeom prst="rect">
            <a:avLst/>
          </a:prstGeom>
          <a:noFill/>
        </p:spPr>
        <p:txBody>
          <a:bodyPr wrap="square" lIns="0" rIns="0" tIns="0" bIns="0" anchor="t">
            <a:spAutoFit/>
          </a:bodyPr>
          <a:lstStyle/>
          <a:p>
            <a:pPr algn="l">
              <a:spcAft>
                <a:spcPts val="400"/>
              </a:spcAft>
            </a:pPr>
            <a:r>
              <a:rPr sz="1400" b="1" i="0">
                <a:solidFill>
                  <a:srgbClr val="1E2A26"/>
                </a:solidFill>
                <a:latin typeface="Arial"/>
              </a:rPr>
              <a:t>max_leaf_nodes</a:t>
            </a:r>
          </a:p>
        </p:txBody>
      </p:sp>
      <p:sp>
        <p:nvSpPr>
          <p:cNvPr id="27" name="TextBox 26"/>
          <p:cNvSpPr txBox="1"/>
          <p:nvPr/>
        </p:nvSpPr>
        <p:spPr>
          <a:xfrm>
            <a:off x="731520" y="3941063"/>
            <a:ext cx="420624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complexity of each tree</a:t>
            </a:r>
          </a:p>
        </p:txBody>
      </p:sp>
      <p:sp>
        <p:nvSpPr>
          <p:cNvPr id="28" name="Rounded Rectangle 27"/>
          <p:cNvSpPr/>
          <p:nvPr/>
        </p:nvSpPr>
        <p:spPr>
          <a:xfrm>
            <a:off x="5257800" y="3730751"/>
            <a:ext cx="960120" cy="384048"/>
          </a:xfrm>
          <a:prstGeom prst="roundRect">
            <a:avLst>
              <a:gd name="adj" fmla="val 40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15</a:t>
            </a:r>
          </a:p>
        </p:txBody>
      </p:sp>
      <p:sp>
        <p:nvSpPr>
          <p:cNvPr id="29" name="Rounded Rectangle 28"/>
          <p:cNvSpPr/>
          <p:nvPr/>
        </p:nvSpPr>
        <p:spPr>
          <a:xfrm>
            <a:off x="548640" y="4352544"/>
            <a:ext cx="5852160" cy="6400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416552"/>
            <a:ext cx="4206240" cy="274320"/>
          </a:xfrm>
          <a:prstGeom prst="rect">
            <a:avLst/>
          </a:prstGeom>
          <a:noFill/>
        </p:spPr>
        <p:txBody>
          <a:bodyPr wrap="square" lIns="0" rIns="0" tIns="0" bIns="0" anchor="t">
            <a:spAutoFit/>
          </a:bodyPr>
          <a:lstStyle/>
          <a:p>
            <a:pPr algn="l">
              <a:spcAft>
                <a:spcPts val="400"/>
              </a:spcAft>
            </a:pPr>
            <a:r>
              <a:rPr sz="1400" b="1" i="0">
                <a:solidFill>
                  <a:srgbClr val="1E2A26"/>
                </a:solidFill>
                <a:latin typeface="Arial"/>
              </a:rPr>
              <a:t>min_samples_leaf</a:t>
            </a:r>
          </a:p>
        </p:txBody>
      </p:sp>
      <p:sp>
        <p:nvSpPr>
          <p:cNvPr id="31" name="TextBox 30"/>
          <p:cNvSpPr txBox="1"/>
          <p:nvPr/>
        </p:nvSpPr>
        <p:spPr>
          <a:xfrm>
            <a:off x="731520" y="4690872"/>
            <a:ext cx="420624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smallest group a split can make</a:t>
            </a:r>
          </a:p>
        </p:txBody>
      </p:sp>
      <p:sp>
        <p:nvSpPr>
          <p:cNvPr id="32" name="Rounded Rectangle 31"/>
          <p:cNvSpPr/>
          <p:nvPr/>
        </p:nvSpPr>
        <p:spPr>
          <a:xfrm>
            <a:off x="5257800" y="4480559"/>
            <a:ext cx="960120" cy="384048"/>
          </a:xfrm>
          <a:prstGeom prst="roundRect">
            <a:avLst>
              <a:gd name="adj" fmla="val 40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50</a:t>
            </a:r>
          </a:p>
        </p:txBody>
      </p:sp>
      <p:sp>
        <p:nvSpPr>
          <p:cNvPr id="33" name="Rounded Rectangle 32"/>
          <p:cNvSpPr/>
          <p:nvPr/>
        </p:nvSpPr>
        <p:spPr>
          <a:xfrm>
            <a:off x="548640" y="5102352"/>
            <a:ext cx="5852160" cy="6400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166360"/>
            <a:ext cx="4206240" cy="274320"/>
          </a:xfrm>
          <a:prstGeom prst="rect">
            <a:avLst/>
          </a:prstGeom>
          <a:noFill/>
        </p:spPr>
        <p:txBody>
          <a:bodyPr wrap="square" lIns="0" rIns="0" tIns="0" bIns="0" anchor="t">
            <a:spAutoFit/>
          </a:bodyPr>
          <a:lstStyle/>
          <a:p>
            <a:pPr algn="l">
              <a:spcAft>
                <a:spcPts val="400"/>
              </a:spcAft>
            </a:pPr>
            <a:r>
              <a:rPr sz="1400" b="1" i="0">
                <a:solidFill>
                  <a:srgbClr val="1E2A26"/>
                </a:solidFill>
                <a:latin typeface="Arial"/>
              </a:rPr>
              <a:t>l2_regularization</a:t>
            </a:r>
          </a:p>
        </p:txBody>
      </p:sp>
      <p:sp>
        <p:nvSpPr>
          <p:cNvPr id="35" name="TextBox 34"/>
          <p:cNvSpPr txBox="1"/>
          <p:nvPr/>
        </p:nvSpPr>
        <p:spPr>
          <a:xfrm>
            <a:off x="731520" y="5440680"/>
            <a:ext cx="420624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penalty against overfitting</a:t>
            </a:r>
          </a:p>
        </p:txBody>
      </p:sp>
      <p:sp>
        <p:nvSpPr>
          <p:cNvPr id="36" name="Rounded Rectangle 35"/>
          <p:cNvSpPr/>
          <p:nvPr/>
        </p:nvSpPr>
        <p:spPr>
          <a:xfrm>
            <a:off x="5257800" y="5230368"/>
            <a:ext cx="960120" cy="384048"/>
          </a:xfrm>
          <a:prstGeom prst="roundRect">
            <a:avLst>
              <a:gd name="adj" fmla="val 40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400" b="1">
                <a:solidFill>
                  <a:srgbClr val="FFFFFF"/>
                </a:solidFill>
                <a:latin typeface="Calibri"/>
              </a:rPr>
              <a:t>0.1</a:t>
            </a:r>
          </a:p>
        </p:txBody>
      </p:sp>
      <p:sp>
        <p:nvSpPr>
          <p:cNvPr id="37" name="TextBox 36"/>
          <p:cNvSpPr txBox="1"/>
          <p:nvPr/>
        </p:nvSpPr>
        <p:spPr>
          <a:xfrm>
            <a:off x="548640" y="5897880"/>
            <a:ext cx="5852160" cy="320040"/>
          </a:xfrm>
          <a:prstGeom prst="rect">
            <a:avLst/>
          </a:prstGeom>
          <a:noFill/>
        </p:spPr>
        <p:txBody>
          <a:bodyPr wrap="square" lIns="0" rIns="0" tIns="0" bIns="0" anchor="t">
            <a:spAutoFit/>
          </a:bodyPr>
          <a:lstStyle/>
          <a:p>
            <a:pPr algn="l">
              <a:spcAft>
                <a:spcPts val="400"/>
              </a:spcAft>
            </a:pPr>
            <a:r>
              <a:rPr sz="1300" b="1" i="0">
                <a:solidFill>
                  <a:srgbClr val="9A6600"/>
                </a:solidFill>
                <a:latin typeface="Calibri"/>
              </a:rPr>
              <a:t>The test set was never used for any choice</a:t>
            </a:r>
          </a:p>
        </p:txBody>
      </p:sp>
      <p:sp>
        <p:nvSpPr>
          <p:cNvPr id="38" name="Rounded Rectangle 37"/>
          <p:cNvSpPr/>
          <p:nvPr/>
        </p:nvSpPr>
        <p:spPr>
          <a:xfrm>
            <a:off x="6720840" y="1783080"/>
            <a:ext cx="4919472" cy="13258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0" y="1874519"/>
            <a:ext cx="4526280" cy="274320"/>
          </a:xfrm>
          <a:prstGeom prst="rect">
            <a:avLst/>
          </a:prstGeom>
          <a:noFill/>
        </p:spPr>
        <p:txBody>
          <a:bodyPr wrap="square" lIns="0" rIns="0" tIns="0" bIns="0" anchor="t">
            <a:spAutoFit/>
          </a:bodyPr>
          <a:lstStyle/>
          <a:p>
            <a:pPr algn="l">
              <a:spcAft>
                <a:spcPts val="400"/>
              </a:spcAft>
            </a:pPr>
            <a:r>
              <a:rPr sz="1300" b="1" i="0">
                <a:solidFill>
                  <a:srgbClr val="5F6B66"/>
                </a:solidFill>
                <a:latin typeface="Calibri"/>
              </a:rPr>
              <a:t>Tuning · validation PR-AUC</a:t>
            </a:r>
          </a:p>
        </p:txBody>
      </p:sp>
      <p:sp>
        <p:nvSpPr>
          <p:cNvPr id="40" name="TextBox 39"/>
          <p:cNvSpPr txBox="1"/>
          <p:nvPr/>
        </p:nvSpPr>
        <p:spPr>
          <a:xfrm>
            <a:off x="6949440" y="2167128"/>
            <a:ext cx="4526280" cy="548640"/>
          </a:xfrm>
          <a:prstGeom prst="rect">
            <a:avLst/>
          </a:prstGeom>
          <a:noFill/>
        </p:spPr>
        <p:txBody>
          <a:bodyPr wrap="square" lIns="0" rIns="0" tIns="0" bIns="0" anchor="t">
            <a:spAutoFit/>
          </a:bodyPr>
          <a:lstStyle/>
          <a:p>
            <a:pPr algn="l">
              <a:spcAft>
                <a:spcPts val="400"/>
              </a:spcAft>
            </a:pPr>
            <a:r>
              <a:rPr sz="2800" b="1" i="0">
                <a:solidFill>
                  <a:srgbClr val="5F6B66"/>
                </a:solidFill>
                <a:latin typeface="Arial"/>
              </a:rPr>
              <a:t>0.297</a:t>
            </a:r>
            <a:r>
              <a:rPr sz="2800" b="1" i="0">
                <a:solidFill>
                  <a:srgbClr val="5F6B66"/>
                </a:solidFill>
                <a:latin typeface="Arial"/>
              </a:rPr>
              <a:t>  →  </a:t>
            </a:r>
            <a:r>
              <a:rPr sz="2800" b="1" i="0">
                <a:solidFill>
                  <a:srgbClr val="006B47"/>
                </a:solidFill>
                <a:latin typeface="Arial"/>
              </a:rPr>
              <a:t>0.300</a:t>
            </a:r>
          </a:p>
        </p:txBody>
      </p:sp>
      <p:sp>
        <p:nvSpPr>
          <p:cNvPr id="41" name="TextBox 40"/>
          <p:cNvSpPr txBox="1"/>
          <p:nvPr/>
        </p:nvSpPr>
        <p:spPr>
          <a:xfrm>
            <a:off x="6949440" y="2724912"/>
            <a:ext cx="4526280" cy="320040"/>
          </a:xfrm>
          <a:prstGeom prst="rect">
            <a:avLst/>
          </a:prstGeom>
          <a:noFill/>
        </p:spPr>
        <p:txBody>
          <a:bodyPr wrap="square" lIns="0" rIns="0" tIns="0" bIns="0" anchor="t">
            <a:spAutoFit/>
          </a:bodyPr>
          <a:lstStyle/>
          <a:p>
            <a:pPr algn="l">
              <a:spcAft>
                <a:spcPts val="400"/>
              </a:spcAft>
            </a:pPr>
            <a:r>
              <a:rPr sz="1200" b="0" i="1">
                <a:solidFill>
                  <a:srgbClr val="5F6B66"/>
                </a:solidFill>
                <a:latin typeface="Calibri"/>
              </a:rPr>
              <a:t>small gain: tuning isn't guaranteed to help</a:t>
            </a:r>
          </a:p>
        </p:txBody>
      </p:sp>
      <p:sp>
        <p:nvSpPr>
          <p:cNvPr id="42" name="Rounded Rectangle 41"/>
          <p:cNvSpPr/>
          <p:nvPr/>
        </p:nvSpPr>
        <p:spPr>
          <a:xfrm>
            <a:off x="6720840" y="3264408"/>
            <a:ext cx="4919472" cy="132588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49440" y="3355848"/>
            <a:ext cx="4526280" cy="274320"/>
          </a:xfrm>
          <a:prstGeom prst="rect">
            <a:avLst/>
          </a:prstGeom>
          <a:noFill/>
        </p:spPr>
        <p:txBody>
          <a:bodyPr wrap="square" lIns="0" rIns="0" tIns="0" bIns="0" anchor="t">
            <a:spAutoFit/>
          </a:bodyPr>
          <a:lstStyle/>
          <a:p>
            <a:pPr algn="l">
              <a:spcAft>
                <a:spcPts val="400"/>
              </a:spcAft>
            </a:pPr>
            <a:r>
              <a:rPr sz="1300" b="1" i="0">
                <a:solidFill>
                  <a:srgbClr val="5F6B66"/>
                </a:solidFill>
                <a:latin typeface="Calibri"/>
              </a:rPr>
              <a:t>Cutoff · flag "missed" when the model is at least</a:t>
            </a:r>
          </a:p>
        </p:txBody>
      </p:sp>
      <p:sp>
        <p:nvSpPr>
          <p:cNvPr id="44" name="TextBox 43"/>
          <p:cNvSpPr txBox="1"/>
          <p:nvPr/>
        </p:nvSpPr>
        <p:spPr>
          <a:xfrm>
            <a:off x="6949440" y="3648456"/>
            <a:ext cx="4526280" cy="548640"/>
          </a:xfrm>
          <a:prstGeom prst="rect">
            <a:avLst/>
          </a:prstGeom>
          <a:noFill/>
        </p:spPr>
        <p:txBody>
          <a:bodyPr wrap="square" lIns="0" rIns="0" tIns="0" bIns="0" anchor="t">
            <a:spAutoFit/>
          </a:bodyPr>
          <a:lstStyle/>
          <a:p>
            <a:pPr algn="l">
              <a:spcAft>
                <a:spcPts val="400"/>
              </a:spcAft>
            </a:pPr>
            <a:r>
              <a:rPr sz="2800" b="1" i="0">
                <a:solidFill>
                  <a:srgbClr val="5F6B66"/>
                </a:solidFill>
                <a:latin typeface="Arial"/>
              </a:rPr>
              <a:t>50%</a:t>
            </a:r>
            <a:r>
              <a:rPr sz="2800" b="1" i="0">
                <a:solidFill>
                  <a:srgbClr val="5F6B66"/>
                </a:solidFill>
                <a:latin typeface="Arial"/>
              </a:rPr>
              <a:t>  →  </a:t>
            </a:r>
            <a:r>
              <a:rPr sz="2800" b="1" i="0">
                <a:solidFill>
                  <a:srgbClr val="9A6600"/>
                </a:solidFill>
                <a:latin typeface="Arial"/>
              </a:rPr>
              <a:t>67%</a:t>
            </a:r>
          </a:p>
        </p:txBody>
      </p:sp>
      <p:sp>
        <p:nvSpPr>
          <p:cNvPr id="45" name="TextBox 44"/>
          <p:cNvSpPr txBox="1"/>
          <p:nvPr/>
        </p:nvSpPr>
        <p:spPr>
          <a:xfrm>
            <a:off x="6949440" y="4206240"/>
            <a:ext cx="4526280" cy="320040"/>
          </a:xfrm>
          <a:prstGeom prst="rect">
            <a:avLst/>
          </a:prstGeom>
          <a:noFill/>
        </p:spPr>
        <p:txBody>
          <a:bodyPr wrap="square" lIns="0" rIns="0" tIns="0" bIns="0" anchor="t">
            <a:spAutoFit/>
          </a:bodyPr>
          <a:lstStyle/>
          <a:p>
            <a:pPr algn="l">
              <a:spcAft>
                <a:spcPts val="400"/>
              </a:spcAft>
            </a:pPr>
            <a:r>
              <a:rPr sz="1200" b="0" i="1">
                <a:solidFill>
                  <a:srgbClr val="5F6B66"/>
                </a:solidFill>
                <a:latin typeface="Calibri"/>
              </a:rPr>
              <a:t>chosen where F1 peaked on validation</a:t>
            </a:r>
          </a:p>
        </p:txBody>
      </p:sp>
      <p:sp>
        <p:nvSpPr>
          <p:cNvPr id="46" name="Rounded Rectangle 45"/>
          <p:cNvSpPr/>
          <p:nvPr/>
        </p:nvSpPr>
        <p:spPr>
          <a:xfrm>
            <a:off x="6720840" y="4745736"/>
            <a:ext cx="4919472" cy="132588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49440" y="4837176"/>
            <a:ext cx="4526280" cy="274320"/>
          </a:xfrm>
          <a:prstGeom prst="rect">
            <a:avLst/>
          </a:prstGeom>
          <a:noFill/>
        </p:spPr>
        <p:txBody>
          <a:bodyPr wrap="square" lIns="0" rIns="0" tIns="0" bIns="0" anchor="t">
            <a:spAutoFit/>
          </a:bodyPr>
          <a:lstStyle/>
          <a:p>
            <a:pPr algn="l">
              <a:spcAft>
                <a:spcPts val="400"/>
              </a:spcAft>
            </a:pPr>
            <a:r>
              <a:rPr sz="1300" b="1" i="0">
                <a:solidFill>
                  <a:srgbClr val="5F6B66"/>
                </a:solidFill>
                <a:latin typeface="Calibri"/>
              </a:rPr>
              <a:t>Result · validation F1</a:t>
            </a:r>
          </a:p>
        </p:txBody>
      </p:sp>
      <p:sp>
        <p:nvSpPr>
          <p:cNvPr id="48" name="TextBox 47"/>
          <p:cNvSpPr txBox="1"/>
          <p:nvPr/>
        </p:nvSpPr>
        <p:spPr>
          <a:xfrm>
            <a:off x="6949440" y="5129784"/>
            <a:ext cx="4526280" cy="548640"/>
          </a:xfrm>
          <a:prstGeom prst="rect">
            <a:avLst/>
          </a:prstGeom>
          <a:noFill/>
        </p:spPr>
        <p:txBody>
          <a:bodyPr wrap="square" lIns="0" rIns="0" tIns="0" bIns="0" anchor="t">
            <a:spAutoFit/>
          </a:bodyPr>
          <a:lstStyle/>
          <a:p>
            <a:pPr algn="l">
              <a:spcAft>
                <a:spcPts val="400"/>
              </a:spcAft>
            </a:pPr>
            <a:r>
              <a:rPr sz="2800" b="1" i="0">
                <a:solidFill>
                  <a:srgbClr val="5F6B66"/>
                </a:solidFill>
                <a:latin typeface="Arial"/>
              </a:rPr>
              <a:t>0.314</a:t>
            </a:r>
            <a:r>
              <a:rPr sz="2800" b="1" i="0">
                <a:solidFill>
                  <a:srgbClr val="5F6B66"/>
                </a:solidFill>
                <a:latin typeface="Arial"/>
              </a:rPr>
              <a:t>  →  </a:t>
            </a:r>
            <a:r>
              <a:rPr sz="2800" b="1" i="0">
                <a:solidFill>
                  <a:srgbClr val="006B47"/>
                </a:solidFill>
                <a:latin typeface="Arial"/>
              </a:rPr>
              <a:t>0.331</a:t>
            </a:r>
          </a:p>
        </p:txBody>
      </p:sp>
      <p:sp>
        <p:nvSpPr>
          <p:cNvPr id="49" name="TextBox 48"/>
          <p:cNvSpPr txBox="1"/>
          <p:nvPr/>
        </p:nvSpPr>
        <p:spPr>
          <a:xfrm>
            <a:off x="6949440" y="5687568"/>
            <a:ext cx="4526280" cy="320040"/>
          </a:xfrm>
          <a:prstGeom prst="rect">
            <a:avLst/>
          </a:prstGeom>
          <a:noFill/>
        </p:spPr>
        <p:txBody>
          <a:bodyPr wrap="square" lIns="0" rIns="0" tIns="0" bIns="0" anchor="t">
            <a:spAutoFit/>
          </a:bodyPr>
          <a:lstStyle/>
          <a:p>
            <a:pPr algn="l">
              <a:spcAft>
                <a:spcPts val="400"/>
              </a:spcAft>
            </a:pPr>
            <a:r>
              <a:rPr sz="1200" b="0" i="1">
                <a:solidFill>
                  <a:srgbClr val="5F6B66"/>
                </a:solidFill>
                <a:latin typeface="Calibri"/>
              </a:rPr>
              <a:t>from the new cutoff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083564"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RESULTS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On unseen Oct–Dec requests, F1 rose from 0.043 to 0.410</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14</a:t>
            </a:r>
          </a:p>
        </p:txBody>
      </p:sp>
      <p:graphicFrame>
        <p:nvGraphicFramePr>
          <p:cNvPr id="16" name="Table 15"/>
          <p:cNvGraphicFramePr>
            <a:graphicFrameLocks noGrp="1"/>
          </p:cNvGraphicFramePr>
          <p:nvPr/>
        </p:nvGraphicFramePr>
        <p:xfrm>
          <a:off x="548640" y="1783080"/>
          <a:ext cx="8119872" cy="4279392"/>
        </p:xfrm>
        <a:graphic>
          <a:graphicData uri="http://schemas.openxmlformats.org/drawingml/2006/table">
            <a:tbl>
              <a:tblPr firstRow="1" bandRow="1">
                <a:tableStyleId>{5C22544A-7EE6-4342-B048-85BDC9FD1C3A}</a:tableStyleId>
              </a:tblPr>
              <a:tblGrid>
                <a:gridCol w="2743200"/>
                <a:gridCol w="896112"/>
                <a:gridCol w="896112"/>
                <a:gridCol w="896112"/>
                <a:gridCol w="896112"/>
                <a:gridCol w="896112"/>
                <a:gridCol w="896112"/>
              </a:tblGrid>
              <a:tr h="475488">
                <a:tc>
                  <a:txBody>
                    <a:bodyPr/>
                    <a:lstStyle/>
                    <a:p>
                      <a:pPr algn="l"/>
                      <a:r>
                        <a:rPr sz="1300" b="1">
                          <a:solidFill>
                            <a:srgbClr val="FFFFFF"/>
                          </a:solidFill>
                          <a:latin typeface="Calibri"/>
                        </a:rPr>
                        <a:t>Model (test set)</a:t>
                      </a:r>
                    </a:p>
                  </a:txBody>
                  <a:tcPr marL="73152" marR="73152" marT="18288" marB="18288" anchor="ctr">
                    <a:solidFill>
                      <a:srgbClr val="0C2A21"/>
                    </a:solidFill>
                  </a:tcPr>
                </a:tc>
                <a:tc>
                  <a:txBody>
                    <a:bodyPr/>
                    <a:lstStyle/>
                    <a:p>
                      <a:pPr algn="ctr"/>
                      <a:r>
                        <a:rPr sz="1300" b="1">
                          <a:solidFill>
                            <a:srgbClr val="FFFFFF"/>
                          </a:solidFill>
                          <a:latin typeface="Calibri"/>
                        </a:rPr>
                        <a:t>Accuracy</a:t>
                      </a:r>
                    </a:p>
                  </a:txBody>
                  <a:tcPr marL="73152" marR="73152" marT="18288" marB="18288" anchor="ctr">
                    <a:solidFill>
                      <a:srgbClr val="0C2A21"/>
                    </a:solidFill>
                  </a:tcPr>
                </a:tc>
                <a:tc>
                  <a:txBody>
                    <a:bodyPr/>
                    <a:lstStyle/>
                    <a:p>
                      <a:pPr algn="ctr"/>
                      <a:r>
                        <a:rPr sz="1300" b="1">
                          <a:solidFill>
                            <a:srgbClr val="FFFFFF"/>
                          </a:solidFill>
                          <a:latin typeface="Calibri"/>
                        </a:rPr>
                        <a:t>Precision</a:t>
                      </a:r>
                    </a:p>
                  </a:txBody>
                  <a:tcPr marL="73152" marR="73152" marT="18288" marB="18288" anchor="ctr">
                    <a:solidFill>
                      <a:srgbClr val="0C2A21"/>
                    </a:solidFill>
                  </a:tcPr>
                </a:tc>
                <a:tc>
                  <a:txBody>
                    <a:bodyPr/>
                    <a:lstStyle/>
                    <a:p>
                      <a:pPr algn="ctr"/>
                      <a:r>
                        <a:rPr sz="1300" b="1">
                          <a:solidFill>
                            <a:srgbClr val="FFFFFF"/>
                          </a:solidFill>
                          <a:latin typeface="Calibri"/>
                        </a:rPr>
                        <a:t>Recall</a:t>
                      </a:r>
                    </a:p>
                  </a:txBody>
                  <a:tcPr marL="73152" marR="73152" marT="18288" marB="18288" anchor="ctr">
                    <a:solidFill>
                      <a:srgbClr val="0C2A21"/>
                    </a:solidFill>
                  </a:tcPr>
                </a:tc>
                <a:tc>
                  <a:txBody>
                    <a:bodyPr/>
                    <a:lstStyle/>
                    <a:p>
                      <a:pPr algn="ctr"/>
                      <a:r>
                        <a:rPr sz="1300" b="1">
                          <a:solidFill>
                            <a:srgbClr val="FFFFFF"/>
                          </a:solidFill>
                          <a:latin typeface="Calibri"/>
                        </a:rPr>
                        <a:t>F1</a:t>
                      </a:r>
                    </a:p>
                  </a:txBody>
                  <a:tcPr marL="73152" marR="73152" marT="18288" marB="18288" anchor="ctr">
                    <a:solidFill>
                      <a:srgbClr val="0C2A21"/>
                    </a:solidFill>
                  </a:tcPr>
                </a:tc>
                <a:tc>
                  <a:txBody>
                    <a:bodyPr/>
                    <a:lstStyle/>
                    <a:p>
                      <a:pPr algn="ctr"/>
                      <a:r>
                        <a:rPr sz="1300" b="1">
                          <a:solidFill>
                            <a:srgbClr val="FFFFFF"/>
                          </a:solidFill>
                          <a:latin typeface="Calibri"/>
                        </a:rPr>
                        <a:t>ROC-AUC</a:t>
                      </a:r>
                    </a:p>
                  </a:txBody>
                  <a:tcPr marL="73152" marR="73152" marT="18288" marB="18288" anchor="ctr">
                    <a:solidFill>
                      <a:srgbClr val="0C2A21"/>
                    </a:solidFill>
                  </a:tcPr>
                </a:tc>
                <a:tc>
                  <a:txBody>
                    <a:bodyPr/>
                    <a:lstStyle/>
                    <a:p>
                      <a:pPr algn="ctr"/>
                      <a:r>
                        <a:rPr sz="1300" b="1">
                          <a:solidFill>
                            <a:srgbClr val="FFFFFF"/>
                          </a:solidFill>
                          <a:latin typeface="Calibri"/>
                        </a:rPr>
                        <a:t>PR-AUC</a:t>
                      </a:r>
                    </a:p>
                  </a:txBody>
                  <a:tcPr marL="73152" marR="73152" marT="18288" marB="18288" anchor="ctr">
                    <a:solidFill>
                      <a:srgbClr val="0C2A21"/>
                    </a:solidFill>
                  </a:tcPr>
                </a:tc>
              </a:tr>
              <a:tr h="475488">
                <a:tc>
                  <a:txBody>
                    <a:bodyPr/>
                    <a:lstStyle/>
                    <a:p>
                      <a:pPr algn="l"/>
                      <a:r>
                        <a:rPr sz="1300" b="1">
                          <a:solidFill>
                            <a:srgbClr val="1E2A26"/>
                          </a:solidFill>
                          <a:latin typeface="Calibri"/>
                        </a:rPr>
                        <a:t>Majority class</a:t>
                      </a:r>
                    </a:p>
                  </a:txBody>
                  <a:tcPr marL="73152" marR="73152" marT="18288" marB="18288" anchor="ctr">
                    <a:solidFill>
                      <a:srgbClr val="FFFFFF"/>
                    </a:solidFill>
                  </a:tcPr>
                </a:tc>
                <a:tc>
                  <a:txBody>
                    <a:bodyPr/>
                    <a:lstStyle/>
                    <a:p>
                      <a:pPr algn="ctr"/>
                      <a:r>
                        <a:rPr sz="1300" b="0">
                          <a:solidFill>
                            <a:srgbClr val="FFFFFF"/>
                          </a:solidFill>
                          <a:latin typeface="Calibri"/>
                        </a:rPr>
                        <a:t>0.895</a:t>
                      </a:r>
                    </a:p>
                  </a:txBody>
                  <a:tcPr marL="73152" marR="73152" marT="18288" marB="18288" anchor="ctr">
                    <a:solidFill>
                      <a:srgbClr val="248061"/>
                    </a:solidFill>
                  </a:tcPr>
                </a:tc>
                <a:tc>
                  <a:txBody>
                    <a:bodyPr/>
                    <a:lstStyle/>
                    <a:p>
                      <a:pPr algn="ctr"/>
                      <a:r>
                        <a:rPr sz="1300" b="0">
                          <a:solidFill>
                            <a:srgbClr val="1E2A26"/>
                          </a:solidFill>
                          <a:latin typeface="Calibri"/>
                        </a:rPr>
                        <a:t>0.000</a:t>
                      </a:r>
                    </a:p>
                  </a:txBody>
                  <a:tcPr marL="73152" marR="73152" marT="18288" marB="18288" anchor="ctr">
                    <a:solidFill>
                      <a:srgbClr val="F4F8F6"/>
                    </a:solidFill>
                  </a:tcPr>
                </a:tc>
                <a:tc>
                  <a:txBody>
                    <a:bodyPr/>
                    <a:lstStyle/>
                    <a:p>
                      <a:pPr algn="ctr"/>
                      <a:r>
                        <a:rPr sz="1300" b="0">
                          <a:solidFill>
                            <a:srgbClr val="1E2A26"/>
                          </a:solidFill>
                          <a:latin typeface="Calibri"/>
                        </a:rPr>
                        <a:t>0.000</a:t>
                      </a:r>
                    </a:p>
                  </a:txBody>
                  <a:tcPr marL="73152" marR="73152" marT="18288" marB="18288" anchor="ctr">
                    <a:solidFill>
                      <a:srgbClr val="F4F8F6"/>
                    </a:solidFill>
                  </a:tcPr>
                </a:tc>
                <a:tc>
                  <a:txBody>
                    <a:bodyPr/>
                    <a:lstStyle/>
                    <a:p>
                      <a:pPr algn="ctr"/>
                      <a:r>
                        <a:rPr sz="1300" b="0">
                          <a:solidFill>
                            <a:srgbClr val="1E2A26"/>
                          </a:solidFill>
                          <a:latin typeface="Calibri"/>
                        </a:rPr>
                        <a:t>0.000</a:t>
                      </a:r>
                    </a:p>
                  </a:txBody>
                  <a:tcPr marL="73152" marR="73152" marT="18288" marB="18288" anchor="ctr">
                    <a:solidFill>
                      <a:srgbClr val="F4F8F6"/>
                    </a:solidFill>
                  </a:tcPr>
                </a:tc>
                <a:tc>
                  <a:txBody>
                    <a:bodyPr/>
                    <a:lstStyle/>
                    <a:p>
                      <a:pPr algn="ctr"/>
                      <a:r>
                        <a:rPr sz="1300" b="0">
                          <a:solidFill>
                            <a:srgbClr val="1E2A26"/>
                          </a:solidFill>
                          <a:latin typeface="Calibri"/>
                        </a:rPr>
                        <a:t>0.500</a:t>
                      </a:r>
                    </a:p>
                  </a:txBody>
                  <a:tcPr marL="73152" marR="73152" marT="18288" marB="18288" anchor="ctr">
                    <a:solidFill>
                      <a:srgbClr val="F4F8F6"/>
                    </a:solidFill>
                  </a:tcPr>
                </a:tc>
                <a:tc>
                  <a:txBody>
                    <a:bodyPr/>
                    <a:lstStyle/>
                    <a:p>
                      <a:pPr algn="ctr"/>
                      <a:r>
                        <a:rPr sz="1300" b="0">
                          <a:solidFill>
                            <a:srgbClr val="1E2A26"/>
                          </a:solidFill>
                          <a:latin typeface="Calibri"/>
                        </a:rPr>
                        <a:t>0.105</a:t>
                      </a:r>
                    </a:p>
                  </a:txBody>
                  <a:tcPr marL="73152" marR="73152" marT="18288" marB="18288" anchor="ctr">
                    <a:solidFill>
                      <a:srgbClr val="F4F8F6"/>
                    </a:solidFill>
                  </a:tcPr>
                </a:tc>
              </a:tr>
              <a:tr h="475488">
                <a:tc>
                  <a:txBody>
                    <a:bodyPr/>
                    <a:lstStyle/>
                    <a:p>
                      <a:pPr algn="l"/>
                      <a:r>
                        <a:rPr sz="1300" b="1">
                          <a:solidFill>
                            <a:srgbClr val="1E2A26"/>
                          </a:solidFill>
                          <a:latin typeface="Calibri"/>
                        </a:rPr>
                        <a:t>Logistic regression (baseline)</a:t>
                      </a:r>
                    </a:p>
                  </a:txBody>
                  <a:tcPr marL="73152" marR="73152" marT="18288" marB="18288" anchor="ctr">
                    <a:solidFill>
                      <a:srgbClr val="F6F8F7"/>
                    </a:solidFill>
                  </a:tcPr>
                </a:tc>
                <a:tc>
                  <a:txBody>
                    <a:bodyPr/>
                    <a:lstStyle/>
                    <a:p>
                      <a:pPr algn="ctr"/>
                      <a:r>
                        <a:rPr sz="1300" b="0">
                          <a:solidFill>
                            <a:srgbClr val="FFFFFF"/>
                          </a:solidFill>
                          <a:latin typeface="Calibri"/>
                        </a:rPr>
                        <a:t>0.893</a:t>
                      </a:r>
                    </a:p>
                  </a:txBody>
                  <a:tcPr marL="73152" marR="73152" marT="18288" marB="18288" anchor="ctr">
                    <a:solidFill>
                      <a:srgbClr val="268162"/>
                    </a:solidFill>
                  </a:tcPr>
                </a:tc>
                <a:tc>
                  <a:txBody>
                    <a:bodyPr/>
                    <a:lstStyle/>
                    <a:p>
                      <a:pPr algn="ctr"/>
                      <a:r>
                        <a:rPr sz="1300" b="0">
                          <a:solidFill>
                            <a:srgbClr val="FFFFFF"/>
                          </a:solidFill>
                          <a:latin typeface="Calibri"/>
                        </a:rPr>
                        <a:t>0.350</a:t>
                      </a:r>
                    </a:p>
                  </a:txBody>
                  <a:tcPr marL="73152" marR="73152" marT="18288" marB="18288" anchor="ctr">
                    <a:solidFill>
                      <a:srgbClr val="248061"/>
                    </a:solidFill>
                  </a:tcPr>
                </a:tc>
                <a:tc>
                  <a:txBody>
                    <a:bodyPr/>
                    <a:lstStyle/>
                    <a:p>
                      <a:pPr algn="ctr"/>
                      <a:r>
                        <a:rPr sz="1300" b="0">
                          <a:solidFill>
                            <a:srgbClr val="1E2A26"/>
                          </a:solidFill>
                          <a:latin typeface="Calibri"/>
                        </a:rPr>
                        <a:t>0.023</a:t>
                      </a:r>
                    </a:p>
                  </a:txBody>
                  <a:tcPr marL="73152" marR="73152" marT="18288" marB="18288" anchor="ctr">
                    <a:solidFill>
                      <a:srgbClr val="EDF4F1"/>
                    </a:solidFill>
                  </a:tcPr>
                </a:tc>
                <a:tc>
                  <a:txBody>
                    <a:bodyPr/>
                    <a:lstStyle/>
                    <a:p>
                      <a:pPr algn="ctr"/>
                      <a:r>
                        <a:rPr sz="1300" b="0">
                          <a:solidFill>
                            <a:srgbClr val="1E2A26"/>
                          </a:solidFill>
                          <a:latin typeface="Calibri"/>
                        </a:rPr>
                        <a:t>0.043</a:t>
                      </a:r>
                    </a:p>
                  </a:txBody>
                  <a:tcPr marL="73152" marR="73152" marT="18288" marB="18288" anchor="ctr">
                    <a:solidFill>
                      <a:srgbClr val="DEEBE6"/>
                    </a:solidFill>
                  </a:tcPr>
                </a:tc>
                <a:tc>
                  <a:txBody>
                    <a:bodyPr/>
                    <a:lstStyle/>
                    <a:p>
                      <a:pPr algn="ctr"/>
                      <a:r>
                        <a:rPr sz="1300" b="0">
                          <a:solidFill>
                            <a:srgbClr val="FFFFFF"/>
                          </a:solidFill>
                          <a:latin typeface="Calibri"/>
                        </a:rPr>
                        <a:t>0.781</a:t>
                      </a:r>
                    </a:p>
                  </a:txBody>
                  <a:tcPr marL="73152" marR="73152" marT="18288" marB="18288" anchor="ctr">
                    <a:solidFill>
                      <a:srgbClr val="2F8669"/>
                    </a:solidFill>
                  </a:tcPr>
                </a:tc>
                <a:tc>
                  <a:txBody>
                    <a:bodyPr/>
                    <a:lstStyle/>
                    <a:p>
                      <a:pPr algn="ctr"/>
                      <a:r>
                        <a:rPr sz="1300" b="0">
                          <a:solidFill>
                            <a:srgbClr val="FFFFFF"/>
                          </a:solidFill>
                          <a:latin typeface="Calibri"/>
                        </a:rPr>
                        <a:t>0.320</a:t>
                      </a:r>
                    </a:p>
                  </a:txBody>
                  <a:tcPr marL="73152" marR="73152" marT="18288" marB="18288" anchor="ctr">
                    <a:solidFill>
                      <a:srgbClr val="3E8F73"/>
                    </a:solidFill>
                  </a:tcPr>
                </a:tc>
              </a:tr>
              <a:tr h="475488">
                <a:tc>
                  <a:txBody>
                    <a:bodyPr/>
                    <a:lstStyle/>
                    <a:p>
                      <a:pPr algn="l"/>
                      <a:r>
                        <a:rPr sz="1300" b="1">
                          <a:solidFill>
                            <a:srgbClr val="1E2A26"/>
                          </a:solidFill>
                          <a:latin typeface="Calibri"/>
                        </a:rPr>
                        <a:t>Logistic regression</a:t>
                      </a:r>
                    </a:p>
                  </a:txBody>
                  <a:tcPr marL="73152" marR="73152" marT="18288" marB="18288" anchor="ctr">
                    <a:solidFill>
                      <a:srgbClr val="FFFFFF"/>
                    </a:solidFill>
                  </a:tcPr>
                </a:tc>
                <a:tc>
                  <a:txBody>
                    <a:bodyPr/>
                    <a:lstStyle/>
                    <a:p>
                      <a:pPr algn="ctr"/>
                      <a:r>
                        <a:rPr sz="1300" b="0">
                          <a:solidFill>
                            <a:srgbClr val="1E2A26"/>
                          </a:solidFill>
                          <a:latin typeface="Calibri"/>
                        </a:rPr>
                        <a:t>0.715</a:t>
                      </a:r>
                    </a:p>
                  </a:txBody>
                  <a:tcPr marL="73152" marR="73152" marT="18288" marB="18288" anchor="ctr">
                    <a:solidFill>
                      <a:srgbClr val="C4DCD3"/>
                    </a:solidFill>
                  </a:tcPr>
                </a:tc>
                <a:tc>
                  <a:txBody>
                    <a:bodyPr/>
                    <a:lstStyle/>
                    <a:p>
                      <a:pPr algn="ctr"/>
                      <a:r>
                        <a:rPr sz="1300" b="0">
                          <a:solidFill>
                            <a:srgbClr val="FFFFFF"/>
                          </a:solidFill>
                          <a:latin typeface="Calibri"/>
                        </a:rPr>
                        <a:t>0.233</a:t>
                      </a:r>
                    </a:p>
                  </a:txBody>
                  <a:tcPr marL="73152" marR="73152" marT="18288" marB="18288" anchor="ctr">
                    <a:solidFill>
                      <a:srgbClr val="69A892"/>
                    </a:solidFill>
                  </a:tcPr>
                </a:tc>
                <a:tc>
                  <a:txBody>
                    <a:bodyPr/>
                    <a:lstStyle/>
                    <a:p>
                      <a:pPr algn="ctr"/>
                      <a:r>
                        <a:rPr sz="1300" b="0">
                          <a:solidFill>
                            <a:srgbClr val="FFFFFF"/>
                          </a:solidFill>
                          <a:latin typeface="Calibri"/>
                        </a:rPr>
                        <a:t>0.744</a:t>
                      </a:r>
                    </a:p>
                  </a:txBody>
                  <a:tcPr marL="73152" marR="73152" marT="18288" marB="18288" anchor="ctr">
                    <a:solidFill>
                      <a:srgbClr val="258061"/>
                    </a:solidFill>
                  </a:tcPr>
                </a:tc>
                <a:tc>
                  <a:txBody>
                    <a:bodyPr/>
                    <a:lstStyle/>
                    <a:p>
                      <a:pPr algn="ctr"/>
                      <a:r>
                        <a:rPr sz="1300" b="0">
                          <a:solidFill>
                            <a:srgbClr val="FFFFFF"/>
                          </a:solidFill>
                          <a:latin typeface="Calibri"/>
                        </a:rPr>
                        <a:t>0.355</a:t>
                      </a:r>
                    </a:p>
                  </a:txBody>
                  <a:tcPr marL="73152" marR="73152" marT="18288" marB="18288" anchor="ctr">
                    <a:solidFill>
                      <a:srgbClr val="409075"/>
                    </a:solidFill>
                  </a:tcPr>
                </a:tc>
                <a:tc>
                  <a:txBody>
                    <a:bodyPr/>
                    <a:lstStyle/>
                    <a:p>
                      <a:pPr algn="ctr"/>
                      <a:r>
                        <a:rPr sz="1300" b="0">
                          <a:solidFill>
                            <a:srgbClr val="FFFFFF"/>
                          </a:solidFill>
                          <a:latin typeface="Calibri"/>
                        </a:rPr>
                        <a:t>0.795</a:t>
                      </a:r>
                    </a:p>
                  </a:txBody>
                  <a:tcPr marL="73152" marR="73152" marT="18288" marB="18288" anchor="ctr">
                    <a:solidFill>
                      <a:srgbClr val="258062"/>
                    </a:solidFill>
                  </a:tcPr>
                </a:tc>
                <a:tc>
                  <a:txBody>
                    <a:bodyPr/>
                    <a:lstStyle/>
                    <a:p>
                      <a:pPr algn="ctr"/>
                      <a:r>
                        <a:rPr sz="1300" b="0">
                          <a:solidFill>
                            <a:srgbClr val="FFFFFF"/>
                          </a:solidFill>
                          <a:latin typeface="Calibri"/>
                        </a:rPr>
                        <a:t>0.335</a:t>
                      </a:r>
                    </a:p>
                  </a:txBody>
                  <a:tcPr marL="73152" marR="73152" marT="18288" marB="18288" anchor="ctr">
                    <a:solidFill>
                      <a:srgbClr val="32876A"/>
                    </a:solidFill>
                  </a:tcPr>
                </a:tc>
              </a:tr>
              <a:tr h="475488">
                <a:tc>
                  <a:txBody>
                    <a:bodyPr/>
                    <a:lstStyle/>
                    <a:p>
                      <a:pPr algn="l"/>
                      <a:r>
                        <a:rPr sz="1300" b="1">
                          <a:solidFill>
                            <a:srgbClr val="1E2A26"/>
                          </a:solidFill>
                          <a:latin typeface="Calibri"/>
                        </a:rPr>
                        <a:t>Decision tree</a:t>
                      </a:r>
                    </a:p>
                  </a:txBody>
                  <a:tcPr marL="73152" marR="73152" marT="18288" marB="18288" anchor="ctr">
                    <a:solidFill>
                      <a:srgbClr val="F6F8F7"/>
                    </a:solidFill>
                  </a:tcPr>
                </a:tc>
                <a:tc>
                  <a:txBody>
                    <a:bodyPr/>
                    <a:lstStyle/>
                    <a:p>
                      <a:pPr algn="ctr"/>
                      <a:r>
                        <a:rPr sz="1300" b="0">
                          <a:solidFill>
                            <a:srgbClr val="1E2A26"/>
                          </a:solidFill>
                          <a:latin typeface="Calibri"/>
                        </a:rPr>
                        <a:t>0.661</a:t>
                      </a:r>
                    </a:p>
                  </a:txBody>
                  <a:tcPr marL="73152" marR="73152" marT="18288" marB="18288" anchor="ctr">
                    <a:solidFill>
                      <a:srgbClr val="F4F8F6"/>
                    </a:solidFill>
                  </a:tcPr>
                </a:tc>
                <a:tc>
                  <a:txBody>
                    <a:bodyPr/>
                    <a:lstStyle/>
                    <a:p>
                      <a:pPr algn="ctr"/>
                      <a:r>
                        <a:rPr sz="1300" b="0">
                          <a:solidFill>
                            <a:srgbClr val="1E2A26"/>
                          </a:solidFill>
                          <a:latin typeface="Calibri"/>
                        </a:rPr>
                        <a:t>0.199</a:t>
                      </a:r>
                    </a:p>
                  </a:txBody>
                  <a:tcPr marL="73152" marR="73152" marT="18288" marB="18288" anchor="ctr">
                    <a:solidFill>
                      <a:srgbClr val="7EB3A1"/>
                    </a:solidFill>
                  </a:tcPr>
                </a:tc>
                <a:tc>
                  <a:txBody>
                    <a:bodyPr/>
                    <a:lstStyle/>
                    <a:p>
                      <a:pPr algn="ctr"/>
                      <a:r>
                        <a:rPr sz="1300" b="0">
                          <a:solidFill>
                            <a:srgbClr val="FFFFFF"/>
                          </a:solidFill>
                          <a:latin typeface="Calibri"/>
                        </a:rPr>
                        <a:t>0.733</a:t>
                      </a:r>
                    </a:p>
                  </a:txBody>
                  <a:tcPr marL="73152" marR="73152" marT="18288" marB="18288" anchor="ctr">
                    <a:solidFill>
                      <a:srgbClr val="288264"/>
                    </a:solidFill>
                  </a:tcPr>
                </a:tc>
                <a:tc>
                  <a:txBody>
                    <a:bodyPr/>
                    <a:lstStyle/>
                    <a:p>
                      <a:pPr algn="ctr"/>
                      <a:r>
                        <a:rPr sz="1300" b="0">
                          <a:solidFill>
                            <a:srgbClr val="FFFFFF"/>
                          </a:solidFill>
                          <a:latin typeface="Calibri"/>
                        </a:rPr>
                        <a:t>0.313</a:t>
                      </a:r>
                    </a:p>
                  </a:txBody>
                  <a:tcPr marL="73152" marR="73152" marT="18288" marB="18288" anchor="ctr">
                    <a:solidFill>
                      <a:srgbClr val="559C84"/>
                    </a:solidFill>
                  </a:tcPr>
                </a:tc>
                <a:tc>
                  <a:txBody>
                    <a:bodyPr/>
                    <a:lstStyle/>
                    <a:p>
                      <a:pPr algn="ctr"/>
                      <a:r>
                        <a:rPr sz="1300" b="0">
                          <a:solidFill>
                            <a:srgbClr val="FFFFFF"/>
                          </a:solidFill>
                          <a:latin typeface="Calibri"/>
                        </a:rPr>
                        <a:t>0.749</a:t>
                      </a:r>
                    </a:p>
                  </a:txBody>
                  <a:tcPr marL="73152" marR="73152" marT="18288" marB="18288" anchor="ctr">
                    <a:solidFill>
                      <a:srgbClr val="469379"/>
                    </a:solidFill>
                  </a:tcPr>
                </a:tc>
                <a:tc>
                  <a:txBody>
                    <a:bodyPr/>
                    <a:lstStyle/>
                    <a:p>
                      <a:pPr algn="ctr"/>
                      <a:r>
                        <a:rPr sz="1300" b="0">
                          <a:solidFill>
                            <a:srgbClr val="FFFFFF"/>
                          </a:solidFill>
                          <a:latin typeface="Calibri"/>
                        </a:rPr>
                        <a:t>0.304</a:t>
                      </a:r>
                    </a:p>
                  </a:txBody>
                  <a:tcPr marL="73152" marR="73152" marT="18288" marB="18288" anchor="ctr">
                    <a:solidFill>
                      <a:srgbClr val="4C977D"/>
                    </a:solidFill>
                  </a:tcPr>
                </a:tc>
              </a:tr>
              <a:tr h="475488">
                <a:tc>
                  <a:txBody>
                    <a:bodyPr/>
                    <a:lstStyle/>
                    <a:p>
                      <a:pPr algn="l"/>
                      <a:r>
                        <a:rPr sz="1300" b="1">
                          <a:solidFill>
                            <a:srgbClr val="1E2A26"/>
                          </a:solidFill>
                          <a:latin typeface="Calibri"/>
                        </a:rPr>
                        <a:t>Random forest</a:t>
                      </a:r>
                    </a:p>
                  </a:txBody>
                  <a:tcPr marL="73152" marR="73152" marT="18288" marB="18288" anchor="ctr">
                    <a:solidFill>
                      <a:srgbClr val="FFFFFF"/>
                    </a:solidFill>
                  </a:tcPr>
                </a:tc>
                <a:tc>
                  <a:txBody>
                    <a:bodyPr/>
                    <a:lstStyle/>
                    <a:p>
                      <a:pPr algn="ctr"/>
                      <a:r>
                        <a:rPr sz="1300" b="0">
                          <a:solidFill>
                            <a:srgbClr val="FFFFFF"/>
                          </a:solidFill>
                          <a:latin typeface="Calibri"/>
                        </a:rPr>
                        <a:t>0.816</a:t>
                      </a:r>
                    </a:p>
                  </a:txBody>
                  <a:tcPr marL="73152" marR="73152" marT="18288" marB="18288" anchor="ctr">
                    <a:solidFill>
                      <a:srgbClr val="6AA893"/>
                    </a:solidFill>
                  </a:tcPr>
                </a:tc>
                <a:tc>
                  <a:txBody>
                    <a:bodyPr/>
                    <a:lstStyle/>
                    <a:p>
                      <a:pPr algn="ctr"/>
                      <a:r>
                        <a:rPr sz="1300" b="0">
                          <a:solidFill>
                            <a:srgbClr val="FFFFFF"/>
                          </a:solidFill>
                          <a:latin typeface="Calibri"/>
                        </a:rPr>
                        <a:t>0.310</a:t>
                      </a:r>
                    </a:p>
                  </a:txBody>
                  <a:tcPr marL="73152" marR="73152" marT="18288" marB="18288" anchor="ctr">
                    <a:solidFill>
                      <a:srgbClr val="3C8D72"/>
                    </a:solidFill>
                  </a:tcPr>
                </a:tc>
                <a:tc>
                  <a:txBody>
                    <a:bodyPr/>
                    <a:lstStyle/>
                    <a:p>
                      <a:pPr algn="ctr"/>
                      <a:r>
                        <a:rPr sz="1300" b="0">
                          <a:solidFill>
                            <a:srgbClr val="FFFFFF"/>
                          </a:solidFill>
                          <a:latin typeface="Calibri"/>
                        </a:rPr>
                        <a:t>0.609</a:t>
                      </a:r>
                    </a:p>
                  </a:txBody>
                  <a:tcPr marL="73152" marR="73152" marT="18288" marB="18288" anchor="ctr">
                    <a:solidFill>
                      <a:srgbClr val="4A967C"/>
                    </a:solidFill>
                  </a:tcPr>
                </a:tc>
                <a:tc>
                  <a:txBody>
                    <a:bodyPr/>
                    <a:lstStyle/>
                    <a:p>
                      <a:pPr algn="ctr"/>
                      <a:r>
                        <a:rPr sz="1300" b="0">
                          <a:solidFill>
                            <a:srgbClr val="FFFFFF"/>
                          </a:solidFill>
                          <a:latin typeface="Calibri"/>
                        </a:rPr>
                        <a:t>0.410</a:t>
                      </a:r>
                    </a:p>
                  </a:txBody>
                  <a:tcPr marL="73152" marR="73152" marT="18288" marB="18288" anchor="ctr">
                    <a:solidFill>
                      <a:srgbClr val="248061"/>
                    </a:solidFill>
                  </a:tcPr>
                </a:tc>
                <a:tc>
                  <a:txBody>
                    <a:bodyPr/>
                    <a:lstStyle/>
                    <a:p>
                      <a:pPr algn="ctr"/>
                      <a:r>
                        <a:rPr sz="1300" b="0">
                          <a:solidFill>
                            <a:srgbClr val="FFFFFF"/>
                          </a:solidFill>
                          <a:latin typeface="Calibri"/>
                        </a:rPr>
                        <a:t>0.790</a:t>
                      </a:r>
                    </a:p>
                  </a:txBody>
                  <a:tcPr marL="73152" marR="73152" marT="18288" marB="18288" anchor="ctr">
                    <a:solidFill>
                      <a:srgbClr val="298264"/>
                    </a:solidFill>
                  </a:tcPr>
                </a:tc>
                <a:tc>
                  <a:txBody>
                    <a:bodyPr/>
                    <a:lstStyle/>
                    <a:p>
                      <a:pPr algn="ctr"/>
                      <a:r>
                        <a:rPr sz="1300" b="0">
                          <a:solidFill>
                            <a:srgbClr val="FFFFFF"/>
                          </a:solidFill>
                          <a:latin typeface="Calibri"/>
                        </a:rPr>
                        <a:t>0.351</a:t>
                      </a:r>
                    </a:p>
                  </a:txBody>
                  <a:tcPr marL="73152" marR="73152" marT="18288" marB="18288" anchor="ctr">
                    <a:solidFill>
                      <a:srgbClr val="248061"/>
                    </a:solidFill>
                  </a:tcPr>
                </a:tc>
              </a:tr>
              <a:tr h="475488">
                <a:tc>
                  <a:txBody>
                    <a:bodyPr/>
                    <a:lstStyle/>
                    <a:p>
                      <a:pPr algn="l"/>
                      <a:r>
                        <a:rPr sz="1300" b="1">
                          <a:solidFill>
                            <a:srgbClr val="1E2A26"/>
                          </a:solidFill>
                          <a:latin typeface="Calibri"/>
                        </a:rPr>
                        <a:t>Gradient boosting</a:t>
                      </a:r>
                    </a:p>
                  </a:txBody>
                  <a:tcPr marL="73152" marR="73152" marT="18288" marB="18288" anchor="ctr">
                    <a:solidFill>
                      <a:srgbClr val="F6F8F7"/>
                    </a:solidFill>
                  </a:tcPr>
                </a:tc>
                <a:tc>
                  <a:txBody>
                    <a:bodyPr/>
                    <a:lstStyle/>
                    <a:p>
                      <a:pPr algn="ctr"/>
                      <a:r>
                        <a:rPr sz="1300" b="0">
                          <a:solidFill>
                            <a:srgbClr val="1E2A26"/>
                          </a:solidFill>
                          <a:latin typeface="Calibri"/>
                        </a:rPr>
                        <a:t>0.725</a:t>
                      </a:r>
                    </a:p>
                  </a:txBody>
                  <a:tcPr marL="73152" marR="73152" marT="18288" marB="18288" anchor="ctr">
                    <a:solidFill>
                      <a:srgbClr val="BBD7CD"/>
                    </a:solidFill>
                  </a:tcPr>
                </a:tc>
                <a:tc>
                  <a:txBody>
                    <a:bodyPr/>
                    <a:lstStyle/>
                    <a:p>
                      <a:pPr algn="ctr"/>
                      <a:r>
                        <a:rPr sz="1300" b="0">
                          <a:solidFill>
                            <a:srgbClr val="FFFFFF"/>
                          </a:solidFill>
                          <a:latin typeface="Calibri"/>
                        </a:rPr>
                        <a:t>0.239</a:t>
                      </a:r>
                    </a:p>
                  </a:txBody>
                  <a:tcPr marL="73152" marR="73152" marT="18288" marB="18288" anchor="ctr">
                    <a:solidFill>
                      <a:srgbClr val="66A690"/>
                    </a:solidFill>
                  </a:tcPr>
                </a:tc>
                <a:tc>
                  <a:txBody>
                    <a:bodyPr/>
                    <a:lstStyle/>
                    <a:p>
                      <a:pPr algn="ctr"/>
                      <a:r>
                        <a:rPr sz="1300" b="0">
                          <a:solidFill>
                            <a:srgbClr val="FFFFFF"/>
                          </a:solidFill>
                          <a:latin typeface="Calibri"/>
                        </a:rPr>
                        <a:t>0.740</a:t>
                      </a:r>
                    </a:p>
                  </a:txBody>
                  <a:tcPr marL="73152" marR="73152" marT="18288" marB="18288" anchor="ctr">
                    <a:solidFill>
                      <a:srgbClr val="268162"/>
                    </a:solidFill>
                  </a:tcPr>
                </a:tc>
                <a:tc>
                  <a:txBody>
                    <a:bodyPr/>
                    <a:lstStyle/>
                    <a:p>
                      <a:pPr algn="ctr"/>
                      <a:r>
                        <a:rPr sz="1300" b="0">
                          <a:solidFill>
                            <a:srgbClr val="FFFFFF"/>
                          </a:solidFill>
                          <a:latin typeface="Calibri"/>
                        </a:rPr>
                        <a:t>0.361</a:t>
                      </a:r>
                    </a:p>
                  </a:txBody>
                  <a:tcPr marL="73152" marR="73152" marT="18288" marB="18288" anchor="ctr">
                    <a:solidFill>
                      <a:srgbClr val="3D8E73"/>
                    </a:solidFill>
                  </a:tcPr>
                </a:tc>
                <a:tc>
                  <a:txBody>
                    <a:bodyPr/>
                    <a:lstStyle/>
                    <a:p>
                      <a:pPr algn="ctr"/>
                      <a:r>
                        <a:rPr sz="1300" b="0">
                          <a:solidFill>
                            <a:srgbClr val="FFFFFF"/>
                          </a:solidFill>
                          <a:latin typeface="Calibri"/>
                        </a:rPr>
                        <a:t>0.797</a:t>
                      </a:r>
                    </a:p>
                  </a:txBody>
                  <a:tcPr marL="73152" marR="73152" marT="18288" marB="18288" anchor="ctr">
                    <a:solidFill>
                      <a:srgbClr val="248061"/>
                    </a:solidFill>
                  </a:tcPr>
                </a:tc>
                <a:tc>
                  <a:txBody>
                    <a:bodyPr/>
                    <a:lstStyle/>
                    <a:p>
                      <a:pPr algn="ctr"/>
                      <a:r>
                        <a:rPr sz="1300" b="0">
                          <a:solidFill>
                            <a:srgbClr val="FFFFFF"/>
                          </a:solidFill>
                          <a:latin typeface="Calibri"/>
                        </a:rPr>
                        <a:t>0.336</a:t>
                      </a:r>
                    </a:p>
                  </a:txBody>
                  <a:tcPr marL="73152" marR="73152" marT="18288" marB="18288" anchor="ctr">
                    <a:solidFill>
                      <a:srgbClr val="31876A"/>
                    </a:solidFill>
                  </a:tcPr>
                </a:tc>
              </a:tr>
              <a:tr h="475488">
                <a:tc>
                  <a:txBody>
                    <a:bodyPr/>
                    <a:lstStyle/>
                    <a:p>
                      <a:pPr algn="l"/>
                      <a:r>
                        <a:rPr sz="1300" b="1">
                          <a:solidFill>
                            <a:srgbClr val="1E2A26"/>
                          </a:solidFill>
                          <a:latin typeface="Calibri"/>
                        </a:rPr>
                        <a:t>Gradient boosting, tuned</a:t>
                      </a:r>
                    </a:p>
                  </a:txBody>
                  <a:tcPr marL="73152" marR="73152" marT="18288" marB="18288" anchor="ctr">
                    <a:solidFill>
                      <a:srgbClr val="FFFFFF"/>
                    </a:solidFill>
                  </a:tcPr>
                </a:tc>
                <a:tc>
                  <a:txBody>
                    <a:bodyPr/>
                    <a:lstStyle/>
                    <a:p>
                      <a:pPr algn="ctr"/>
                      <a:r>
                        <a:rPr sz="1300" b="0">
                          <a:solidFill>
                            <a:srgbClr val="1E2A26"/>
                          </a:solidFill>
                          <a:latin typeface="Calibri"/>
                        </a:rPr>
                        <a:t>0.717</a:t>
                      </a:r>
                    </a:p>
                  </a:txBody>
                  <a:tcPr marL="73152" marR="73152" marT="18288" marB="18288" anchor="ctr">
                    <a:solidFill>
                      <a:srgbClr val="C2DBD2"/>
                    </a:solidFill>
                  </a:tcPr>
                </a:tc>
                <a:tc>
                  <a:txBody>
                    <a:bodyPr/>
                    <a:lstStyle/>
                    <a:p>
                      <a:pPr algn="ctr"/>
                      <a:r>
                        <a:rPr sz="1300" b="0">
                          <a:solidFill>
                            <a:srgbClr val="FFFFFF"/>
                          </a:solidFill>
                          <a:latin typeface="Calibri"/>
                        </a:rPr>
                        <a:t>0.234</a:t>
                      </a:r>
                    </a:p>
                  </a:txBody>
                  <a:tcPr marL="73152" marR="73152" marT="18288" marB="18288" anchor="ctr">
                    <a:solidFill>
                      <a:srgbClr val="69A792"/>
                    </a:solidFill>
                  </a:tcPr>
                </a:tc>
                <a:tc>
                  <a:txBody>
                    <a:bodyPr/>
                    <a:lstStyle/>
                    <a:p>
                      <a:pPr algn="ctr"/>
                      <a:r>
                        <a:rPr sz="1300" b="0">
                          <a:solidFill>
                            <a:srgbClr val="FFFFFF"/>
                          </a:solidFill>
                          <a:latin typeface="Calibri"/>
                        </a:rPr>
                        <a:t>0.747</a:t>
                      </a:r>
                    </a:p>
                  </a:txBody>
                  <a:tcPr marL="73152" marR="73152" marT="18288" marB="18288" anchor="ctr">
                    <a:solidFill>
                      <a:srgbClr val="248061"/>
                    </a:solidFill>
                  </a:tcPr>
                </a:tc>
                <a:tc>
                  <a:txBody>
                    <a:bodyPr/>
                    <a:lstStyle/>
                    <a:p>
                      <a:pPr algn="ctr"/>
                      <a:r>
                        <a:rPr sz="1300" b="0">
                          <a:solidFill>
                            <a:srgbClr val="FFFFFF"/>
                          </a:solidFill>
                          <a:latin typeface="Calibri"/>
                        </a:rPr>
                        <a:t>0.357</a:t>
                      </a:r>
                    </a:p>
                  </a:txBody>
                  <a:tcPr marL="73152" marR="73152" marT="18288" marB="18288" anchor="ctr">
                    <a:solidFill>
                      <a:srgbClr val="3F8F74"/>
                    </a:solidFill>
                  </a:tcPr>
                </a:tc>
                <a:tc>
                  <a:txBody>
                    <a:bodyPr/>
                    <a:lstStyle/>
                    <a:p>
                      <a:pPr algn="ctr"/>
                      <a:r>
                        <a:rPr sz="1300" b="0">
                          <a:solidFill>
                            <a:srgbClr val="FFFFFF"/>
                          </a:solidFill>
                          <a:latin typeface="Calibri"/>
                        </a:rPr>
                        <a:t>0.795</a:t>
                      </a:r>
                    </a:p>
                  </a:txBody>
                  <a:tcPr marL="73152" marR="73152" marT="18288" marB="18288" anchor="ctr">
                    <a:solidFill>
                      <a:srgbClr val="258062"/>
                    </a:solidFill>
                  </a:tcPr>
                </a:tc>
                <a:tc>
                  <a:txBody>
                    <a:bodyPr/>
                    <a:lstStyle/>
                    <a:p>
                      <a:pPr algn="ctr"/>
                      <a:r>
                        <a:rPr sz="1300" b="0">
                          <a:solidFill>
                            <a:srgbClr val="FFFFFF"/>
                          </a:solidFill>
                          <a:latin typeface="Calibri"/>
                        </a:rPr>
                        <a:t>0.331</a:t>
                      </a:r>
                    </a:p>
                  </a:txBody>
                  <a:tcPr marL="73152" marR="73152" marT="18288" marB="18288" anchor="ctr">
                    <a:solidFill>
                      <a:srgbClr val="35896D"/>
                    </a:solidFill>
                  </a:tcPr>
                </a:tc>
              </a:tr>
              <a:tr h="475488">
                <a:tc>
                  <a:txBody>
                    <a:bodyPr/>
                    <a:lstStyle/>
                    <a:p>
                      <a:pPr algn="l"/>
                      <a:r>
                        <a:rPr sz="1300" b="1">
                          <a:solidFill>
                            <a:srgbClr val="1E2A26"/>
                          </a:solidFill>
                          <a:latin typeface="Calibri"/>
                        </a:rPr>
                        <a:t>Final: tuned, cutoff 0.67</a:t>
                      </a:r>
                    </a:p>
                  </a:txBody>
                  <a:tcPr marL="73152" marR="73152" marT="18288" marB="18288" anchor="ctr">
                    <a:solidFill>
                      <a:srgbClr val="F6F8F7"/>
                    </a:solidFill>
                  </a:tcPr>
                </a:tc>
                <a:tc>
                  <a:txBody>
                    <a:bodyPr/>
                    <a:lstStyle/>
                    <a:p>
                      <a:pPr algn="ctr"/>
                      <a:r>
                        <a:rPr sz="1300" b="0">
                          <a:solidFill>
                            <a:srgbClr val="FFFFFF"/>
                          </a:solidFill>
                          <a:latin typeface="Calibri"/>
                        </a:rPr>
                        <a:t>0.811</a:t>
                      </a:r>
                    </a:p>
                  </a:txBody>
                  <a:tcPr marL="73152" marR="73152" marT="18288" marB="18288" anchor="ctr">
                    <a:solidFill>
                      <a:srgbClr val="6FAB96"/>
                    </a:solidFill>
                  </a:tcPr>
                </a:tc>
                <a:tc>
                  <a:txBody>
                    <a:bodyPr/>
                    <a:lstStyle/>
                    <a:p>
                      <a:pPr algn="ctr"/>
                      <a:r>
                        <a:rPr sz="1300" b="0">
                          <a:solidFill>
                            <a:srgbClr val="FFFFFF"/>
                          </a:solidFill>
                          <a:latin typeface="Calibri"/>
                        </a:rPr>
                        <a:t>0.305</a:t>
                      </a:r>
                    </a:p>
                  </a:txBody>
                  <a:tcPr marL="73152" marR="73152" marT="18288" marB="18288" anchor="ctr">
                    <a:solidFill>
                      <a:srgbClr val="3F8F74"/>
                    </a:solidFill>
                  </a:tcPr>
                </a:tc>
                <a:tc>
                  <a:txBody>
                    <a:bodyPr/>
                    <a:lstStyle/>
                    <a:p>
                      <a:pPr algn="ctr"/>
                      <a:r>
                        <a:rPr sz="1300" b="0">
                          <a:solidFill>
                            <a:srgbClr val="FFFFFF"/>
                          </a:solidFill>
                          <a:latin typeface="Calibri"/>
                        </a:rPr>
                        <a:t>0.623</a:t>
                      </a:r>
                    </a:p>
                  </a:txBody>
                  <a:tcPr marL="73152" marR="73152" marT="18288" marB="18288" anchor="ctr">
                    <a:solidFill>
                      <a:srgbClr val="479479"/>
                    </a:solidFill>
                  </a:tcPr>
                </a:tc>
                <a:tc>
                  <a:txBody>
                    <a:bodyPr/>
                    <a:lstStyle/>
                    <a:p>
                      <a:pPr algn="ctr"/>
                      <a:r>
                        <a:rPr sz="1300" b="0">
                          <a:solidFill>
                            <a:srgbClr val="FFFFFF"/>
                          </a:solidFill>
                          <a:latin typeface="Calibri"/>
                        </a:rPr>
                        <a:t>0.410</a:t>
                      </a:r>
                    </a:p>
                  </a:txBody>
                  <a:tcPr marL="73152" marR="73152" marT="18288" marB="18288" anchor="ctr">
                    <a:solidFill>
                      <a:srgbClr val="248061"/>
                    </a:solidFill>
                  </a:tcPr>
                </a:tc>
                <a:tc>
                  <a:txBody>
                    <a:bodyPr/>
                    <a:lstStyle/>
                    <a:p>
                      <a:pPr algn="ctr"/>
                      <a:r>
                        <a:rPr sz="1300" b="0">
                          <a:solidFill>
                            <a:srgbClr val="FFFFFF"/>
                          </a:solidFill>
                          <a:latin typeface="Calibri"/>
                        </a:rPr>
                        <a:t>0.795</a:t>
                      </a:r>
                    </a:p>
                  </a:txBody>
                  <a:tcPr marL="73152" marR="73152" marT="18288" marB="18288" anchor="ctr">
                    <a:solidFill>
                      <a:srgbClr val="258062"/>
                    </a:solidFill>
                  </a:tcPr>
                </a:tc>
                <a:tc>
                  <a:txBody>
                    <a:bodyPr/>
                    <a:lstStyle/>
                    <a:p>
                      <a:pPr algn="ctr"/>
                      <a:r>
                        <a:rPr sz="1300" b="0">
                          <a:solidFill>
                            <a:srgbClr val="FFFFFF"/>
                          </a:solidFill>
                          <a:latin typeface="Calibri"/>
                        </a:rPr>
                        <a:t>0.331</a:t>
                      </a:r>
                    </a:p>
                  </a:txBody>
                  <a:tcPr marL="73152" marR="73152" marT="18288" marB="18288" anchor="ctr">
                    <a:solidFill>
                      <a:srgbClr val="35896D"/>
                    </a:solidFill>
                  </a:tcPr>
                </a:tc>
              </a:tr>
            </a:tbl>
          </a:graphicData>
        </a:graphic>
      </p:graphicFrame>
      <p:sp>
        <p:nvSpPr>
          <p:cNvPr id="17" name="Rectangle 16"/>
          <p:cNvSpPr/>
          <p:nvPr/>
        </p:nvSpPr>
        <p:spPr>
          <a:xfrm>
            <a:off x="548640" y="5586984"/>
            <a:ext cx="8119872" cy="475488"/>
          </a:xfrm>
          <a:prstGeom prst="rect">
            <a:avLst/>
          </a:prstGeom>
          <a:noFill/>
          <a:ln w="38100">
            <a:solidFill>
              <a:srgbClr val="F5B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126480"/>
            <a:ext cx="8138160" cy="274320"/>
          </a:xfrm>
          <a:prstGeom prst="rect">
            <a:avLst/>
          </a:prstGeom>
          <a:noFill/>
        </p:spPr>
        <p:txBody>
          <a:bodyPr wrap="square" lIns="0" rIns="0" tIns="0" bIns="0" anchor="t">
            <a:spAutoFit/>
          </a:bodyPr>
          <a:lstStyle/>
          <a:p>
            <a:pPr algn="l">
              <a:spcAft>
                <a:spcPts val="400"/>
              </a:spcAft>
            </a:pPr>
            <a:r>
              <a:rPr sz="1100" b="0" i="1">
                <a:solidFill>
                  <a:srgbClr val="5F6B66"/>
                </a:solidFill>
                <a:latin typeface="Calibri"/>
              </a:rPr>
              <a:t>Darker green = better within each column; final model outlined</a:t>
            </a:r>
          </a:p>
        </p:txBody>
      </p:sp>
      <p:sp>
        <p:nvSpPr>
          <p:cNvPr id="19" name="Rounded Rectangle 18"/>
          <p:cNvSpPr/>
          <p:nvPr/>
        </p:nvSpPr>
        <p:spPr>
          <a:xfrm>
            <a:off x="8961120" y="1783080"/>
            <a:ext cx="2679192" cy="201168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0" y="1874519"/>
            <a:ext cx="2331720" cy="320040"/>
          </a:xfrm>
          <a:prstGeom prst="rect">
            <a:avLst/>
          </a:prstGeom>
          <a:noFill/>
        </p:spPr>
        <p:txBody>
          <a:bodyPr wrap="square" lIns="0" rIns="0" tIns="0" bIns="0" anchor="t">
            <a:spAutoFit/>
          </a:bodyPr>
          <a:lstStyle/>
          <a:p>
            <a:pPr algn="l">
              <a:spcAft>
                <a:spcPts val="400"/>
              </a:spcAft>
            </a:pPr>
            <a:r>
              <a:rPr sz="1300" b="1" i="0">
                <a:solidFill>
                  <a:srgbClr val="5F6B66"/>
                </a:solidFill>
                <a:latin typeface="Calibri"/>
              </a:rPr>
              <a:t>Final vs. baseline</a:t>
            </a:r>
          </a:p>
        </p:txBody>
      </p:sp>
      <p:sp>
        <p:nvSpPr>
          <p:cNvPr id="21" name="TextBox 20"/>
          <p:cNvSpPr txBox="1"/>
          <p:nvPr/>
        </p:nvSpPr>
        <p:spPr>
          <a:xfrm>
            <a:off x="9144000" y="2194560"/>
            <a:ext cx="2331720" cy="548640"/>
          </a:xfrm>
          <a:prstGeom prst="rect">
            <a:avLst/>
          </a:prstGeom>
          <a:noFill/>
        </p:spPr>
        <p:txBody>
          <a:bodyPr wrap="square" lIns="0" rIns="0" tIns="0" bIns="0" anchor="t">
            <a:spAutoFit/>
          </a:bodyPr>
          <a:lstStyle/>
          <a:p>
            <a:pPr algn="l">
              <a:spcAft>
                <a:spcPts val="400"/>
              </a:spcAft>
            </a:pPr>
            <a:r>
              <a:rPr sz="3000" b="1" i="0">
                <a:solidFill>
                  <a:srgbClr val="9A6600"/>
                </a:solidFill>
                <a:latin typeface="Arial"/>
              </a:rPr>
              <a:t>F1 ×9.5</a:t>
            </a:r>
          </a:p>
        </p:txBody>
      </p:sp>
      <p:sp>
        <p:nvSpPr>
          <p:cNvPr id="22" name="TextBox 21"/>
          <p:cNvSpPr txBox="1"/>
          <p:nvPr/>
        </p:nvSpPr>
        <p:spPr>
          <a:xfrm>
            <a:off x="9144000" y="2788920"/>
            <a:ext cx="2331720" cy="914400"/>
          </a:xfrm>
          <a:prstGeom prst="rect">
            <a:avLst/>
          </a:prstGeom>
          <a:noFill/>
        </p:spPr>
        <p:txBody>
          <a:bodyPr wrap="square" lIns="0" rIns="0" tIns="0" bIns="0" anchor="t">
            <a:spAutoFit/>
          </a:bodyPr>
          <a:lstStyle/>
          <a:p>
            <a:pPr algn="l">
              <a:spcAft>
                <a:spcPts val="200"/>
              </a:spcAft>
            </a:pPr>
            <a:r>
              <a:rPr sz="1400" b="0" i="0">
                <a:solidFill>
                  <a:srgbClr val="1E2A26"/>
                </a:solidFill>
                <a:latin typeface="Calibri"/>
              </a:rPr>
              <a:t>0.043 → 0.410</a:t>
            </a:r>
          </a:p>
          <a:p>
            <a:pPr algn="l">
              <a:spcAft>
                <a:spcPts val="200"/>
              </a:spcAft>
            </a:pPr>
            <a:r>
              <a:rPr sz="1400" b="0" i="0">
                <a:solidFill>
                  <a:srgbClr val="1E2A26"/>
                </a:solidFill>
                <a:latin typeface="Calibri"/>
              </a:rPr>
              <a:t>recall 2% → 62%</a:t>
            </a:r>
          </a:p>
        </p:txBody>
      </p:sp>
      <p:sp>
        <p:nvSpPr>
          <p:cNvPr id="23" name="Rounded Rectangle 22"/>
          <p:cNvSpPr/>
          <p:nvPr/>
        </p:nvSpPr>
        <p:spPr>
          <a:xfrm>
            <a:off x="8961120" y="3977639"/>
            <a:ext cx="2679192" cy="219456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4069080"/>
            <a:ext cx="2377440" cy="2057400"/>
          </a:xfrm>
          <a:prstGeom prst="rect">
            <a:avLst/>
          </a:prstGeom>
          <a:noFill/>
        </p:spPr>
        <p:txBody>
          <a:bodyPr wrap="square" lIns="0" rIns="0" tIns="0" bIns="0" anchor="t">
            <a:spAutoFit/>
          </a:bodyPr>
          <a:lstStyle/>
          <a:p>
            <a:pPr algn="l">
              <a:spcAft>
                <a:spcPts val="400"/>
              </a:spcAft>
            </a:pPr>
            <a:r>
              <a:rPr sz="1300" b="1" i="0">
                <a:solidFill>
                  <a:srgbClr val="006B47"/>
                </a:solidFill>
                <a:latin typeface="Calibri"/>
              </a:rPr>
              <a:t>Random forest ties. </a:t>
            </a:r>
            <a:r>
              <a:rPr sz="1300" b="0" i="0">
                <a:solidFill>
                  <a:srgbClr val="1E2A26"/>
                </a:solidFill>
                <a:latin typeface="Calibri"/>
              </a:rPr>
              <a:t>We kept boosting because it was chosen before the test; switching now would be choosing by the test set.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083564"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RESULTS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What the model learned: request type first, department backlog second</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15</a:t>
            </a:r>
          </a:p>
        </p:txBody>
      </p:sp>
      <p:sp>
        <p:nvSpPr>
          <p:cNvPr id="16" name="TextBox 15"/>
          <p:cNvSpPr txBox="1"/>
          <p:nvPr/>
        </p:nvSpPr>
        <p:spPr>
          <a:xfrm>
            <a:off x="548640" y="1737360"/>
            <a:ext cx="5120640" cy="320040"/>
          </a:xfrm>
          <a:prstGeom prst="rect">
            <a:avLst/>
          </a:prstGeom>
          <a:noFill/>
        </p:spPr>
        <p:txBody>
          <a:bodyPr wrap="square" lIns="0" rIns="0" tIns="0" bIns="0" anchor="t">
            <a:spAutoFit/>
          </a:bodyPr>
          <a:lstStyle/>
          <a:p>
            <a:pPr algn="l">
              <a:spcAft>
                <a:spcPts val="400"/>
              </a:spcAft>
            </a:pPr>
            <a:r>
              <a:rPr sz="1500" b="1" i="0">
                <a:solidFill>
                  <a:srgbClr val="1E2A26"/>
                </a:solidFill>
                <a:latin typeface="Arial"/>
              </a:rPr>
              <a:t>Out of every 100 test requests, the model...</a:t>
            </a:r>
          </a:p>
        </p:txBody>
      </p:sp>
      <p:sp>
        <p:nvSpPr>
          <p:cNvPr id="17" name="Rectangle 16"/>
          <p:cNvSpPr/>
          <p:nvPr/>
        </p:nvSpPr>
        <p:spPr>
          <a:xfrm>
            <a:off x="548640" y="2194560"/>
            <a:ext cx="329184" cy="329184"/>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32688" y="2194560"/>
            <a:ext cx="329184" cy="329184"/>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16736" y="2194560"/>
            <a:ext cx="329184" cy="329184"/>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700784" y="2194560"/>
            <a:ext cx="329184" cy="329184"/>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84831" y="2194560"/>
            <a:ext cx="329184" cy="329184"/>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68880" y="2194560"/>
            <a:ext cx="329184" cy="329184"/>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852928" y="2194560"/>
            <a:ext cx="329184" cy="329184"/>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36976" y="2194560"/>
            <a:ext cx="329184" cy="329184"/>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21024" y="2194560"/>
            <a:ext cx="329184" cy="329184"/>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005072" y="2194560"/>
            <a:ext cx="329184" cy="329184"/>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2578608"/>
            <a:ext cx="329184" cy="329184"/>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32688"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16736"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700784"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084831"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468880"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852928"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36976"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21024"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05072" y="2578608"/>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2962656"/>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32688" y="2962656"/>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316736" y="2962656"/>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700784" y="2962656"/>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84831" y="2962656"/>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468880" y="2962656"/>
            <a:ext cx="329184" cy="329184"/>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52928" y="296265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236976" y="296265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21024" y="296265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005072" y="296265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32688"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316736"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700784"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084831"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468880"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852928"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236976"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621024"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005072" y="334670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48640"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32688"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316736"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700784"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084831"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468880"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852928"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236976"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621024"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005072" y="373075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48640"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32688"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316736"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700784"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084831"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468880"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852928"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236976"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621024"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005072" y="4114800"/>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48640"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32688"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316736"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700784"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084831"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468880"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852928"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236976"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621024"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005072" y="4498848"/>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48640"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32688"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316736"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700784"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084831"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2468880"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2852928"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236976"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621024"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005072" y="4882896"/>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48640"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32688"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316736"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700784"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2084831"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468880"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52928"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236976"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3621024"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4005072" y="5266944"/>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548640"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32688"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316736"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700784"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2084831"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468880"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2852928"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236976"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621024"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005072" y="5650992"/>
            <a:ext cx="329184" cy="329184"/>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4526280" y="2295144"/>
            <a:ext cx="274320" cy="274320"/>
          </a:xfrm>
          <a:prstGeom prst="rect">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910328" y="2221992"/>
            <a:ext cx="1280160" cy="457200"/>
          </a:xfrm>
          <a:prstGeom prst="rect">
            <a:avLst/>
          </a:prstGeom>
          <a:noFill/>
        </p:spPr>
        <p:txBody>
          <a:bodyPr wrap="square" lIns="0" rIns="0" tIns="0" bIns="0" anchor="t">
            <a:spAutoFit/>
          </a:bodyPr>
          <a:lstStyle/>
          <a:p>
            <a:pPr algn="l">
              <a:spcAft>
                <a:spcPts val="400"/>
              </a:spcAft>
            </a:pPr>
            <a:r>
              <a:rPr sz="2400" b="1" i="0">
                <a:solidFill>
                  <a:srgbClr val="006B47"/>
                </a:solidFill>
                <a:latin typeface="Arial"/>
              </a:rPr>
              <a:t>7</a:t>
            </a:r>
          </a:p>
        </p:txBody>
      </p:sp>
      <p:sp>
        <p:nvSpPr>
          <p:cNvPr id="119" name="TextBox 118"/>
          <p:cNvSpPr txBox="1"/>
          <p:nvPr/>
        </p:nvSpPr>
        <p:spPr>
          <a:xfrm>
            <a:off x="4910328" y="2697480"/>
            <a:ext cx="1463040" cy="384048"/>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caught a real miss</a:t>
            </a:r>
          </a:p>
        </p:txBody>
      </p:sp>
      <p:sp>
        <p:nvSpPr>
          <p:cNvPr id="120" name="Rectangle 119"/>
          <p:cNvSpPr/>
          <p:nvPr/>
        </p:nvSpPr>
        <p:spPr>
          <a:xfrm>
            <a:off x="4526280" y="3163824"/>
            <a:ext cx="274320" cy="274320"/>
          </a:xfrm>
          <a:prstGeom prst="rect">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910328" y="3090672"/>
            <a:ext cx="1280160" cy="457200"/>
          </a:xfrm>
          <a:prstGeom prst="rect">
            <a:avLst/>
          </a:prstGeom>
          <a:noFill/>
        </p:spPr>
        <p:txBody>
          <a:bodyPr wrap="square" lIns="0" rIns="0" tIns="0" bIns="0" anchor="t">
            <a:spAutoFit/>
          </a:bodyPr>
          <a:lstStyle/>
          <a:p>
            <a:pPr algn="l">
              <a:spcAft>
                <a:spcPts val="400"/>
              </a:spcAft>
            </a:pPr>
            <a:r>
              <a:rPr sz="2400" b="1" i="0">
                <a:solidFill>
                  <a:srgbClr val="9A6600"/>
                </a:solidFill>
                <a:latin typeface="Arial"/>
              </a:rPr>
              <a:t>4</a:t>
            </a:r>
          </a:p>
        </p:txBody>
      </p:sp>
      <p:sp>
        <p:nvSpPr>
          <p:cNvPr id="122" name="TextBox 121"/>
          <p:cNvSpPr txBox="1"/>
          <p:nvPr/>
        </p:nvSpPr>
        <p:spPr>
          <a:xfrm>
            <a:off x="4910328" y="3566160"/>
            <a:ext cx="1463040" cy="384048"/>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let a late one slip</a:t>
            </a:r>
          </a:p>
        </p:txBody>
      </p:sp>
      <p:sp>
        <p:nvSpPr>
          <p:cNvPr id="123" name="Rectangle 122"/>
          <p:cNvSpPr/>
          <p:nvPr/>
        </p:nvSpPr>
        <p:spPr>
          <a:xfrm>
            <a:off x="4526280" y="4032503"/>
            <a:ext cx="274320" cy="274320"/>
          </a:xfrm>
          <a:prstGeom prst="rect">
            <a:avLst/>
          </a:prstGeom>
          <a:solidFill>
            <a:srgbClr val="B5BD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4910328" y="3959352"/>
            <a:ext cx="1280160" cy="457200"/>
          </a:xfrm>
          <a:prstGeom prst="rect">
            <a:avLst/>
          </a:prstGeom>
          <a:noFill/>
        </p:spPr>
        <p:txBody>
          <a:bodyPr wrap="square" lIns="0" rIns="0" tIns="0" bIns="0" anchor="t">
            <a:spAutoFit/>
          </a:bodyPr>
          <a:lstStyle/>
          <a:p>
            <a:pPr algn="l">
              <a:spcAft>
                <a:spcPts val="400"/>
              </a:spcAft>
            </a:pPr>
            <a:r>
              <a:rPr sz="2400" b="1" i="0">
                <a:solidFill>
                  <a:srgbClr val="1E2A26"/>
                </a:solidFill>
                <a:latin typeface="Arial"/>
              </a:rPr>
              <a:t>15</a:t>
            </a:r>
          </a:p>
        </p:txBody>
      </p:sp>
      <p:sp>
        <p:nvSpPr>
          <p:cNvPr id="125" name="TextBox 124"/>
          <p:cNvSpPr txBox="1"/>
          <p:nvPr/>
        </p:nvSpPr>
        <p:spPr>
          <a:xfrm>
            <a:off x="4910328" y="4434840"/>
            <a:ext cx="1463040" cy="384048"/>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raised a false alarm</a:t>
            </a:r>
          </a:p>
        </p:txBody>
      </p:sp>
      <p:sp>
        <p:nvSpPr>
          <p:cNvPr id="126" name="Rectangle 125"/>
          <p:cNvSpPr/>
          <p:nvPr/>
        </p:nvSpPr>
        <p:spPr>
          <a:xfrm>
            <a:off x="4526280" y="4901183"/>
            <a:ext cx="274320" cy="274320"/>
          </a:xfrm>
          <a:prstGeom prst="rect">
            <a:avLst/>
          </a:prstGeom>
          <a:solidFill>
            <a:srgbClr val="ECF4F0"/>
          </a:solidFill>
          <a:ln w="19050">
            <a:solidFill>
              <a:srgbClr val="B5BD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910328" y="4828032"/>
            <a:ext cx="1280160" cy="457200"/>
          </a:xfrm>
          <a:prstGeom prst="rect">
            <a:avLst/>
          </a:prstGeom>
          <a:noFill/>
        </p:spPr>
        <p:txBody>
          <a:bodyPr wrap="square" lIns="0" rIns="0" tIns="0" bIns="0" anchor="t">
            <a:spAutoFit/>
          </a:bodyPr>
          <a:lstStyle/>
          <a:p>
            <a:pPr algn="l">
              <a:spcAft>
                <a:spcPts val="400"/>
              </a:spcAft>
            </a:pPr>
            <a:r>
              <a:rPr sz="2400" b="1" i="0">
                <a:solidFill>
                  <a:srgbClr val="1E2A26"/>
                </a:solidFill>
                <a:latin typeface="Arial"/>
              </a:rPr>
              <a:t>74</a:t>
            </a:r>
          </a:p>
        </p:txBody>
      </p:sp>
      <p:sp>
        <p:nvSpPr>
          <p:cNvPr id="128" name="TextBox 127"/>
          <p:cNvSpPr txBox="1"/>
          <p:nvPr/>
        </p:nvSpPr>
        <p:spPr>
          <a:xfrm>
            <a:off x="4910328" y="5303520"/>
            <a:ext cx="1463040" cy="384048"/>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correctly said "on time"</a:t>
            </a:r>
          </a:p>
        </p:txBody>
      </p:sp>
      <p:sp>
        <p:nvSpPr>
          <p:cNvPr id="129" name="TextBox 128"/>
          <p:cNvSpPr txBox="1"/>
          <p:nvPr/>
        </p:nvSpPr>
        <p:spPr>
          <a:xfrm>
            <a:off x="548640" y="6080760"/>
            <a:ext cx="5577840" cy="274320"/>
          </a:xfrm>
          <a:prstGeom prst="rect">
            <a:avLst/>
          </a:prstGeom>
          <a:noFill/>
        </p:spPr>
        <p:txBody>
          <a:bodyPr wrap="square" lIns="0" rIns="0" tIns="0" bIns="0" anchor="t">
            <a:spAutoFit/>
          </a:bodyPr>
          <a:lstStyle/>
          <a:p>
            <a:pPr algn="l">
              <a:spcAft>
                <a:spcPts val="400"/>
              </a:spcAft>
            </a:pPr>
            <a:r>
              <a:rPr sz="1200" b="0" i="0">
                <a:solidFill>
                  <a:srgbClr val="5F6B66"/>
                </a:solidFill>
                <a:latin typeface="Calibri"/>
              </a:rPr>
              <a:t>Test set: caught 3,877 of 6,228 misses (recall 62%); 31% of flags are real</a:t>
            </a:r>
          </a:p>
        </p:txBody>
      </p:sp>
      <p:sp>
        <p:nvSpPr>
          <p:cNvPr id="130" name="TextBox 129"/>
          <p:cNvSpPr txBox="1"/>
          <p:nvPr/>
        </p:nvSpPr>
        <p:spPr>
          <a:xfrm>
            <a:off x="6492240" y="1737360"/>
            <a:ext cx="5120640" cy="320040"/>
          </a:xfrm>
          <a:prstGeom prst="rect">
            <a:avLst/>
          </a:prstGeom>
          <a:noFill/>
        </p:spPr>
        <p:txBody>
          <a:bodyPr wrap="square" lIns="0" rIns="0" tIns="0" bIns="0" anchor="t">
            <a:spAutoFit/>
          </a:bodyPr>
          <a:lstStyle/>
          <a:p>
            <a:pPr algn="l">
              <a:spcAft>
                <a:spcPts val="400"/>
              </a:spcAft>
            </a:pPr>
            <a:r>
              <a:rPr sz="1500" b="1" i="0">
                <a:solidFill>
                  <a:srgbClr val="1E2A26"/>
                </a:solidFill>
                <a:latin typeface="Arial"/>
              </a:rPr>
              <a:t>Feature importance: drop in PR-AUC when shuffled</a:t>
            </a:r>
          </a:p>
        </p:txBody>
      </p:sp>
      <p:graphicFrame>
        <p:nvGraphicFramePr>
          <p:cNvPr id="131" name="Chart 130"/>
          <p:cNvGraphicFramePr>
            <a:graphicFrameLocks noGrp="1"/>
          </p:cNvGraphicFramePr>
          <p:nvPr/>
        </p:nvGraphicFramePr>
        <p:xfrm>
          <a:off x="6355080" y="2103120"/>
          <a:ext cx="5303520" cy="3383280"/>
        </p:xfrm>
        <a:graphic>
          <a:graphicData uri="http://schemas.openxmlformats.org/drawingml/2006/chart">
            <c:chart xmlns:c="http://schemas.openxmlformats.org/drawingml/2006/chart" r:id="rId2"/>
          </a:graphicData>
        </a:graphic>
      </p:graphicFrame>
      <p:sp>
        <p:nvSpPr>
          <p:cNvPr id="132" name="TextBox 131"/>
          <p:cNvSpPr txBox="1"/>
          <p:nvPr/>
        </p:nvSpPr>
        <p:spPr>
          <a:xfrm>
            <a:off x="6492240" y="5577840"/>
            <a:ext cx="5120640" cy="731520"/>
          </a:xfrm>
          <a:prstGeom prst="rect">
            <a:avLst/>
          </a:prstGeom>
          <a:noFill/>
        </p:spPr>
        <p:txBody>
          <a:bodyPr wrap="square" lIns="0" rIns="0" tIns="0" bIns="0" anchor="t">
            <a:spAutoFit/>
          </a:bodyPr>
          <a:lstStyle/>
          <a:p>
            <a:pPr algn="l">
              <a:spcAft>
                <a:spcPts val="400"/>
              </a:spcAft>
            </a:pPr>
            <a:r>
              <a:rPr sz="1200" b="1" i="0">
                <a:solidFill>
                  <a:srgbClr val="006B47"/>
                </a:solidFill>
                <a:latin typeface="Calibri"/>
              </a:rPr>
              <a:t>Plausible: </a:t>
            </a:r>
            <a:r>
              <a:rPr sz="1200" b="0" i="0">
                <a:solidFill>
                  <a:srgbClr val="5F6B66"/>
                </a:solidFill>
                <a:latin typeface="Calibri"/>
              </a:rPr>
              <a:t>matches the EDA. Department adds ~0 because 196 of 197 request types belong to one department. Shows use, not cause.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083564"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RESULTS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It catches Animal Services delays well, street repairs poorly</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16</a:t>
            </a:r>
          </a:p>
        </p:txBody>
      </p:sp>
      <p:sp>
        <p:nvSpPr>
          <p:cNvPr id="16" name="TextBox 15"/>
          <p:cNvSpPr txBox="1"/>
          <p:nvPr/>
        </p:nvSpPr>
        <p:spPr>
          <a:xfrm>
            <a:off x="548640" y="1737360"/>
            <a:ext cx="6675120" cy="274320"/>
          </a:xfrm>
          <a:prstGeom prst="rect">
            <a:avLst/>
          </a:prstGeom>
          <a:noFill/>
        </p:spPr>
        <p:txBody>
          <a:bodyPr wrap="square" lIns="0" rIns="0" tIns="0" bIns="0" anchor="t">
            <a:spAutoFit/>
          </a:bodyPr>
          <a:lstStyle/>
          <a:p>
            <a:pPr algn="l">
              <a:spcAft>
                <a:spcPts val="400"/>
              </a:spcAft>
            </a:pPr>
            <a:r>
              <a:rPr sz="1300" b="0" i="0">
                <a:solidFill>
                  <a:srgbClr val="5F6B66"/>
                </a:solidFill>
                <a:latin typeface="Calibri"/>
              </a:rPr>
              <a:t>Share of missed deadlines caught, by department (test set)</a:t>
            </a:r>
          </a:p>
        </p:txBody>
      </p:sp>
      <p:graphicFrame>
        <p:nvGraphicFramePr>
          <p:cNvPr id="17" name="Chart 16"/>
          <p:cNvGraphicFramePr>
            <a:graphicFrameLocks noGrp="1"/>
          </p:cNvGraphicFramePr>
          <p:nvPr/>
        </p:nvGraphicFramePr>
        <p:xfrm>
          <a:off x="411480" y="2057400"/>
          <a:ext cx="6949440" cy="3520440"/>
        </p:xfrm>
        <a:graphic>
          <a:graphicData uri="http://schemas.openxmlformats.org/drawingml/2006/chart">
            <c:chart xmlns:c="http://schemas.openxmlformats.org/drawingml/2006/chart" r:id="rId2"/>
          </a:graphicData>
        </a:graphic>
      </p:graphicFrame>
      <p:sp>
        <p:nvSpPr>
          <p:cNvPr id="18" name="TextBox 17"/>
          <p:cNvSpPr txBox="1"/>
          <p:nvPr/>
        </p:nvSpPr>
        <p:spPr>
          <a:xfrm>
            <a:off x="548640" y="5669280"/>
            <a:ext cx="6766560" cy="548640"/>
          </a:xfrm>
          <a:prstGeom prst="rect">
            <a:avLst/>
          </a:prstGeom>
          <a:noFill/>
        </p:spPr>
        <p:txBody>
          <a:bodyPr wrap="square" lIns="0" rIns="0" tIns="0" bIns="0" anchor="t">
            <a:spAutoFit/>
          </a:bodyPr>
          <a:lstStyle/>
          <a:p>
            <a:pPr algn="l">
              <a:spcAft>
                <a:spcPts val="400"/>
              </a:spcAft>
            </a:pPr>
            <a:r>
              <a:rPr sz="1300" b="0" i="1">
                <a:solidFill>
                  <a:srgbClr val="5F6B66"/>
                </a:solidFill>
                <a:latin typeface="Calibri"/>
              </a:rPr>
              <a:t>Works where misses follow from the request type; struggles where they depend on crews and weather</a:t>
            </a:r>
          </a:p>
        </p:txBody>
      </p:sp>
      <p:sp>
        <p:nvSpPr>
          <p:cNvPr id="19" name="Rounded Rectangle 18"/>
          <p:cNvSpPr/>
          <p:nvPr/>
        </p:nvSpPr>
        <p:spPr>
          <a:xfrm>
            <a:off x="7635240" y="1783080"/>
            <a:ext cx="4005072" cy="205740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1874519"/>
            <a:ext cx="3611880" cy="320040"/>
          </a:xfrm>
          <a:prstGeom prst="rect">
            <a:avLst/>
          </a:prstGeom>
          <a:noFill/>
        </p:spPr>
        <p:txBody>
          <a:bodyPr wrap="square" lIns="0" rIns="0" tIns="0" bIns="0" anchor="t">
            <a:spAutoFit/>
          </a:bodyPr>
          <a:lstStyle/>
          <a:p>
            <a:pPr algn="l">
              <a:spcAft>
                <a:spcPts val="400"/>
              </a:spcAft>
            </a:pPr>
            <a:r>
              <a:rPr sz="1500" b="1" i="0">
                <a:solidFill>
                  <a:srgbClr val="1E2A26"/>
                </a:solidFill>
                <a:latin typeface="Arial"/>
              </a:rPr>
              <a:t>By council district</a:t>
            </a:r>
          </a:p>
        </p:txBody>
      </p:sp>
      <p:sp>
        <p:nvSpPr>
          <p:cNvPr id="21" name="TextBox 20"/>
          <p:cNvSpPr txBox="1"/>
          <p:nvPr/>
        </p:nvSpPr>
        <p:spPr>
          <a:xfrm>
            <a:off x="7863840" y="2240280"/>
            <a:ext cx="3611880" cy="640080"/>
          </a:xfrm>
          <a:prstGeom prst="rect">
            <a:avLst/>
          </a:prstGeom>
          <a:noFill/>
        </p:spPr>
        <p:txBody>
          <a:bodyPr wrap="square" lIns="0" rIns="0" tIns="0" bIns="0" anchor="t">
            <a:spAutoFit/>
          </a:bodyPr>
          <a:lstStyle/>
          <a:p>
            <a:pPr algn="l">
              <a:spcAft>
                <a:spcPts val="400"/>
              </a:spcAft>
            </a:pPr>
            <a:r>
              <a:rPr sz="3200" b="1" i="0">
                <a:solidFill>
                  <a:srgbClr val="006B47"/>
                </a:solidFill>
                <a:latin typeface="Arial"/>
              </a:rPr>
              <a:t>51% – 72%</a:t>
            </a:r>
          </a:p>
        </p:txBody>
      </p:sp>
      <p:sp>
        <p:nvSpPr>
          <p:cNvPr id="22" name="TextBox 21"/>
          <p:cNvSpPr txBox="1"/>
          <p:nvPr/>
        </p:nvSpPr>
        <p:spPr>
          <a:xfrm>
            <a:off x="7863840" y="2926080"/>
            <a:ext cx="3611880" cy="822960"/>
          </a:xfrm>
          <a:prstGeom prst="rect">
            <a:avLst/>
          </a:prstGeom>
          <a:noFill/>
        </p:spPr>
        <p:txBody>
          <a:bodyPr wrap="square" lIns="0" rIns="0" tIns="0" bIns="0" anchor="t">
            <a:spAutoFit/>
          </a:bodyPr>
          <a:lstStyle/>
          <a:p>
            <a:pPr algn="l">
              <a:spcAft>
                <a:spcPts val="400"/>
              </a:spcAft>
            </a:pPr>
            <a:r>
              <a:rPr sz="1300" b="0" i="0">
                <a:solidFill>
                  <a:srgbClr val="5F6B66"/>
                </a:solidFill>
                <a:latin typeface="Calibri"/>
              </a:rPr>
              <a:t>of misses caught, from District 6 to District 8</a:t>
            </a:r>
          </a:p>
        </p:txBody>
      </p:sp>
      <p:sp>
        <p:nvSpPr>
          <p:cNvPr id="23" name="Rounded Rectangle 22"/>
          <p:cNvSpPr/>
          <p:nvPr/>
        </p:nvSpPr>
        <p:spPr>
          <a:xfrm>
            <a:off x="7635240" y="4023360"/>
            <a:ext cx="4005072" cy="219456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0" y="4114800"/>
            <a:ext cx="3611880" cy="320040"/>
          </a:xfrm>
          <a:prstGeom prst="rect">
            <a:avLst/>
          </a:prstGeom>
          <a:noFill/>
        </p:spPr>
        <p:txBody>
          <a:bodyPr wrap="square" lIns="0" rIns="0" tIns="0" bIns="0" anchor="t">
            <a:spAutoFit/>
          </a:bodyPr>
          <a:lstStyle/>
          <a:p>
            <a:pPr algn="l">
              <a:spcAft>
                <a:spcPts val="400"/>
              </a:spcAft>
            </a:pPr>
            <a:r>
              <a:rPr sz="1500" b="1" i="0">
                <a:solidFill>
                  <a:srgbClr val="9A6600"/>
                </a:solidFill>
                <a:latin typeface="Arial"/>
              </a:rPr>
              <a:t>Ethics</a:t>
            </a:r>
          </a:p>
        </p:txBody>
      </p:sp>
      <p:sp>
        <p:nvSpPr>
          <p:cNvPr id="25" name="TextBox 24"/>
          <p:cNvSpPr txBox="1"/>
          <p:nvPr/>
        </p:nvSpPr>
        <p:spPr>
          <a:xfrm>
            <a:off x="7863840" y="4480560"/>
            <a:ext cx="3611880" cy="1645920"/>
          </a:xfrm>
          <a:prstGeom prst="rect">
            <a:avLst/>
          </a:prstGeom>
          <a:noFill/>
        </p:spPr>
        <p:txBody>
          <a:bodyPr wrap="square" lIns="0" rIns="0" tIns="0" bIns="0" anchor="t">
            <a:spAutoFit/>
          </a:bodyPr>
          <a:lstStyle/>
          <a:p>
            <a:pPr algn="l">
              <a:spcAft>
                <a:spcPts val="400"/>
              </a:spcAft>
            </a:pPr>
            <a:r>
              <a:rPr sz="1400" b="0" i="0">
                <a:solidFill>
                  <a:srgbClr val="1E2A26"/>
                </a:solidFill>
                <a:latin typeface="Calibri"/>
              </a:rPr>
              <a:t>If the city relied on this model, some districts would be protected better than others, so any real use must be monitored district by district.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179576"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FINDINGS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Did we answer our question? Partly, yes</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17</a:t>
            </a:r>
          </a:p>
        </p:txBody>
      </p:sp>
      <p:graphicFrame>
        <p:nvGraphicFramePr>
          <p:cNvPr id="16" name="Table 15"/>
          <p:cNvGraphicFramePr>
            <a:graphicFrameLocks noGrp="1"/>
          </p:cNvGraphicFramePr>
          <p:nvPr/>
        </p:nvGraphicFramePr>
        <p:xfrm>
          <a:off x="548640" y="1783080"/>
          <a:ext cx="11091672" cy="3566160"/>
        </p:xfrm>
        <a:graphic>
          <a:graphicData uri="http://schemas.openxmlformats.org/drawingml/2006/table">
            <a:tbl>
              <a:tblPr firstRow="1" bandRow="1">
                <a:tableStyleId>{5C22544A-7EE6-4342-B048-85BDC9FD1C3A}</a:tableStyleId>
              </a:tblPr>
              <a:tblGrid>
                <a:gridCol w="2743200"/>
                <a:gridCol w="6793992"/>
                <a:gridCol w="1554480"/>
              </a:tblGrid>
              <a:tr h="713232">
                <a:tc>
                  <a:txBody>
                    <a:bodyPr/>
                    <a:lstStyle/>
                    <a:p>
                      <a:pPr algn="l"/>
                      <a:r>
                        <a:rPr sz="1500" b="1">
                          <a:solidFill>
                            <a:srgbClr val="FFFFFF"/>
                          </a:solidFill>
                          <a:latin typeface="Calibri"/>
                        </a:rPr>
                        <a:t>Objective</a:t>
                      </a:r>
                    </a:p>
                  </a:txBody>
                  <a:tcPr marL="73152" marR="73152" marT="18288" marB="18288" anchor="ctr">
                    <a:solidFill>
                      <a:srgbClr val="0C2A21"/>
                    </a:solidFill>
                  </a:tcPr>
                </a:tc>
                <a:tc>
                  <a:txBody>
                    <a:bodyPr/>
                    <a:lstStyle/>
                    <a:p>
                      <a:pPr algn="ctr"/>
                      <a:r>
                        <a:rPr sz="1500" b="1">
                          <a:solidFill>
                            <a:srgbClr val="FFFFFF"/>
                          </a:solidFill>
                          <a:latin typeface="Calibri"/>
                        </a:rPr>
                        <a:t>What we found</a:t>
                      </a:r>
                    </a:p>
                  </a:txBody>
                  <a:tcPr marL="73152" marR="73152" marT="18288" marB="18288" anchor="ctr">
                    <a:solidFill>
                      <a:srgbClr val="0C2A21"/>
                    </a:solidFill>
                  </a:tcPr>
                </a:tc>
                <a:tc>
                  <a:txBody>
                    <a:bodyPr/>
                    <a:lstStyle/>
                    <a:p>
                      <a:pPr algn="ctr"/>
                      <a:r>
                        <a:rPr sz="1500" b="1">
                          <a:solidFill>
                            <a:srgbClr val="FFFFFF"/>
                          </a:solidFill>
                          <a:latin typeface="Calibri"/>
                        </a:rPr>
                        <a:t>Verdict</a:t>
                      </a:r>
                    </a:p>
                  </a:txBody>
                  <a:tcPr marL="73152" marR="73152" marT="18288" marB="18288" anchor="ctr">
                    <a:solidFill>
                      <a:srgbClr val="0C2A21"/>
                    </a:solidFill>
                  </a:tcPr>
                </a:tc>
              </a:tr>
              <a:tr h="713232">
                <a:tc>
                  <a:txBody>
                    <a:bodyPr/>
                    <a:lstStyle/>
                    <a:p>
                      <a:pPr algn="l"/>
                      <a:r>
                        <a:rPr sz="1500" b="1">
                          <a:solidFill>
                            <a:srgbClr val="1E2A26"/>
                          </a:solidFill>
                          <a:latin typeface="Calibri"/>
                        </a:rPr>
                        <a:t>1 · Baseline first</a:t>
                      </a:r>
                    </a:p>
                  </a:txBody>
                  <a:tcPr marL="73152" marR="73152" marT="18288" marB="18288" anchor="ctr">
                    <a:solidFill>
                      <a:srgbClr val="FFFFFF"/>
                    </a:solidFill>
                  </a:tcPr>
                </a:tc>
                <a:tc>
                  <a:txBody>
                    <a:bodyPr/>
                    <a:lstStyle/>
                    <a:p>
                      <a:pPr algn="ctr"/>
                      <a:r>
                        <a:rPr sz="1500" b="0">
                          <a:solidFill>
                            <a:srgbClr val="1E2A26"/>
                          </a:solidFill>
                          <a:latin typeface="Calibri"/>
                        </a:rPr>
                        <a:t>Majority class catches 0 misses; logistic regression baseline: test F1 0.043</a:t>
                      </a:r>
                    </a:p>
                  </a:txBody>
                  <a:tcPr marL="73152" marR="73152" marT="18288" marB="18288" anchor="ctr">
                    <a:solidFill>
                      <a:srgbClr val="FFFFFF"/>
                    </a:solidFill>
                  </a:tcPr>
                </a:tc>
                <a:tc>
                  <a:txBody>
                    <a:bodyPr/>
                    <a:lstStyle/>
                    <a:p>
                      <a:pPr algn="ctr"/>
                      <a:r>
                        <a:rPr sz="1500" b="1">
                          <a:solidFill>
                            <a:srgbClr val="FFFFFF"/>
                          </a:solidFill>
                          <a:latin typeface="Calibri"/>
                        </a:rPr>
                        <a:t>Met</a:t>
                      </a:r>
                    </a:p>
                  </a:txBody>
                  <a:tcPr marL="73152" marR="73152" marT="18288" marB="18288" anchor="ctr">
                    <a:solidFill>
                      <a:srgbClr val="006B47"/>
                    </a:solidFill>
                  </a:tcPr>
                </a:tc>
              </a:tr>
              <a:tr h="713232">
                <a:tc>
                  <a:txBody>
                    <a:bodyPr/>
                    <a:lstStyle/>
                    <a:p>
                      <a:pPr algn="l"/>
                      <a:r>
                        <a:rPr sz="1500" b="1">
                          <a:solidFill>
                            <a:srgbClr val="1E2A26"/>
                          </a:solidFill>
                          <a:latin typeface="Calibri"/>
                        </a:rPr>
                        <a:t>2 · What actually helps</a:t>
                      </a:r>
                    </a:p>
                  </a:txBody>
                  <a:tcPr marL="73152" marR="73152" marT="18288" marB="18288" anchor="ctr">
                    <a:solidFill>
                      <a:srgbClr val="F6F8F7"/>
                    </a:solidFill>
                  </a:tcPr>
                </a:tc>
                <a:tc>
                  <a:txBody>
                    <a:bodyPr/>
                    <a:lstStyle/>
                    <a:p>
                      <a:pPr algn="ctr"/>
                      <a:r>
                        <a:rPr sz="1500" b="0">
                          <a:solidFill>
                            <a:srgbClr val="1E2A26"/>
                          </a:solidFill>
                          <a:latin typeface="Calibri"/>
                        </a:rPr>
                        <a:t>Class weights tripled F1; workload helped trees, not LR; dropping month fixed drift</a:t>
                      </a:r>
                    </a:p>
                  </a:txBody>
                  <a:tcPr marL="73152" marR="73152" marT="18288" marB="18288" anchor="ctr">
                    <a:solidFill>
                      <a:srgbClr val="F6F8F7"/>
                    </a:solidFill>
                  </a:tcPr>
                </a:tc>
                <a:tc>
                  <a:txBody>
                    <a:bodyPr/>
                    <a:lstStyle/>
                    <a:p>
                      <a:pPr algn="ctr"/>
                      <a:r>
                        <a:rPr sz="1500" b="1">
                          <a:solidFill>
                            <a:srgbClr val="FFFFFF"/>
                          </a:solidFill>
                          <a:latin typeface="Calibri"/>
                        </a:rPr>
                        <a:t>Met</a:t>
                      </a:r>
                    </a:p>
                  </a:txBody>
                  <a:tcPr marL="73152" marR="73152" marT="18288" marB="18288" anchor="ctr">
                    <a:solidFill>
                      <a:srgbClr val="006B47"/>
                    </a:solidFill>
                  </a:tcPr>
                </a:tc>
              </a:tr>
              <a:tr h="713232">
                <a:tc>
                  <a:txBody>
                    <a:bodyPr/>
                    <a:lstStyle/>
                    <a:p>
                      <a:pPr algn="l"/>
                      <a:r>
                        <a:rPr sz="1500" b="1">
                          <a:solidFill>
                            <a:srgbClr val="1E2A26"/>
                          </a:solidFill>
                          <a:latin typeface="Calibri"/>
                        </a:rPr>
                        <a:t>3 · Compare models fairly</a:t>
                      </a:r>
                    </a:p>
                  </a:txBody>
                  <a:tcPr marL="73152" marR="73152" marT="18288" marB="18288" anchor="ctr">
                    <a:solidFill>
                      <a:srgbClr val="FFFFFF"/>
                    </a:solidFill>
                  </a:tcPr>
                </a:tc>
                <a:tc>
                  <a:txBody>
                    <a:bodyPr/>
                    <a:lstStyle/>
                    <a:p>
                      <a:pPr algn="ctr"/>
                      <a:r>
                        <a:rPr sz="1500" b="0">
                          <a:solidFill>
                            <a:srgbClr val="1E2A26"/>
                          </a:solidFill>
                          <a:latin typeface="Calibri"/>
                        </a:rPr>
                        <a:t>Boosting and forest tie; final test F1 0.410, recall 62%, ROC-AUC 0.80</a:t>
                      </a:r>
                    </a:p>
                  </a:txBody>
                  <a:tcPr marL="73152" marR="73152" marT="18288" marB="18288" anchor="ctr">
                    <a:solidFill>
                      <a:srgbClr val="FFFFFF"/>
                    </a:solidFill>
                  </a:tcPr>
                </a:tc>
                <a:tc>
                  <a:txBody>
                    <a:bodyPr/>
                    <a:lstStyle/>
                    <a:p>
                      <a:pPr algn="ctr"/>
                      <a:r>
                        <a:rPr sz="1500" b="1">
                          <a:solidFill>
                            <a:srgbClr val="FFFFFF"/>
                          </a:solidFill>
                          <a:latin typeface="Calibri"/>
                        </a:rPr>
                        <a:t>Met</a:t>
                      </a:r>
                    </a:p>
                  </a:txBody>
                  <a:tcPr marL="73152" marR="73152" marT="18288" marB="18288" anchor="ctr">
                    <a:solidFill>
                      <a:srgbClr val="006B47"/>
                    </a:solidFill>
                  </a:tcPr>
                </a:tc>
              </a:tr>
              <a:tr h="713232">
                <a:tc>
                  <a:txBody>
                    <a:bodyPr/>
                    <a:lstStyle/>
                    <a:p>
                      <a:pPr algn="l"/>
                      <a:r>
                        <a:rPr sz="1500" b="1">
                          <a:solidFill>
                            <a:srgbClr val="1E2A26"/>
                          </a:solidFill>
                          <a:latin typeface="Calibri"/>
                        </a:rPr>
                        <a:t>4 · What drives misses</a:t>
                      </a:r>
                    </a:p>
                  </a:txBody>
                  <a:tcPr marL="73152" marR="73152" marT="18288" marB="18288" anchor="ctr">
                    <a:solidFill>
                      <a:srgbClr val="F6F8F7"/>
                    </a:solidFill>
                  </a:tcPr>
                </a:tc>
                <a:tc>
                  <a:txBody>
                    <a:bodyPr/>
                    <a:lstStyle/>
                    <a:p>
                      <a:pPr algn="ctr"/>
                      <a:r>
                        <a:rPr sz="1500" b="0">
                          <a:solidFill>
                            <a:srgbClr val="1E2A26"/>
                          </a:solidFill>
                          <a:latin typeface="Calibri"/>
                        </a:rPr>
                        <a:t>Request type, then backlog. Works for Animal Services, not street repairs</a:t>
                      </a:r>
                    </a:p>
                  </a:txBody>
                  <a:tcPr marL="73152" marR="73152" marT="18288" marB="18288" anchor="ctr">
                    <a:solidFill>
                      <a:srgbClr val="F6F8F7"/>
                    </a:solidFill>
                  </a:tcPr>
                </a:tc>
                <a:tc>
                  <a:txBody>
                    <a:bodyPr/>
                    <a:lstStyle/>
                    <a:p>
                      <a:pPr algn="ctr"/>
                      <a:r>
                        <a:rPr sz="1500" b="1">
                          <a:solidFill>
                            <a:srgbClr val="1E2A26"/>
                          </a:solidFill>
                          <a:latin typeface="Calibri"/>
                        </a:rPr>
                        <a:t>Partly</a:t>
                      </a:r>
                    </a:p>
                  </a:txBody>
                  <a:tcPr marL="73152" marR="73152" marT="18288" marB="18288" anchor="ctr">
                    <a:solidFill>
                      <a:srgbClr val="F5B800"/>
                    </a:solidFill>
                  </a:tcPr>
                </a:tc>
              </a:tr>
            </a:tbl>
          </a:graphicData>
        </a:graphic>
      </p:graphicFrame>
      <p:sp>
        <p:nvSpPr>
          <p:cNvPr id="17" name="Rounded Rectangle 16"/>
          <p:cNvSpPr/>
          <p:nvPr/>
        </p:nvSpPr>
        <p:spPr>
          <a:xfrm>
            <a:off x="548640" y="5486400"/>
            <a:ext cx="11091672" cy="731520"/>
          </a:xfrm>
          <a:prstGeom prst="roundRect">
            <a:avLst>
              <a:gd name="adj" fmla="val 5000"/>
            </a:avLst>
          </a:prstGeom>
          <a:solidFill>
            <a:srgbClr val="0C2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532120"/>
            <a:ext cx="10607040" cy="640080"/>
          </a:xfrm>
          <a:prstGeom prst="rect">
            <a:avLst/>
          </a:prstGeom>
          <a:noFill/>
        </p:spPr>
        <p:txBody>
          <a:bodyPr wrap="square" lIns="0" rIns="0" tIns="0" bIns="0" anchor="ctr">
            <a:spAutoFit/>
          </a:bodyPr>
          <a:lstStyle/>
          <a:p>
            <a:pPr algn="l">
              <a:spcAft>
                <a:spcPts val="400"/>
              </a:spcAft>
            </a:pPr>
            <a:r>
              <a:rPr sz="1500" b="1" i="0">
                <a:solidFill>
                  <a:srgbClr val="F5B800"/>
                </a:solidFill>
                <a:latin typeface="Calibri"/>
              </a:rPr>
              <a:t>Answer: </a:t>
            </a:r>
            <a:r>
              <a:rPr sz="1500" b="0" i="0">
                <a:solidFill>
                  <a:srgbClr val="FFFFFF"/>
                </a:solidFill>
                <a:latin typeface="Calibri"/>
              </a:rPr>
              <a:t>when a request is filed, we can flag about 6 in 10 that will miss their deadline, mostly from the request type and the department's backlog.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467612"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LIMITATIONS</a:t>
            </a:r>
          </a:p>
        </p:txBody>
      </p:sp>
      <p:sp>
        <p:nvSpPr>
          <p:cNvPr id="3" name="Rounded Rectangle 2"/>
          <p:cNvSpPr/>
          <p:nvPr/>
        </p:nvSpPr>
        <p:spPr>
          <a:xfrm>
            <a:off x="5916168" y="365760"/>
            <a:ext cx="566928"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Data</a:t>
            </a:r>
          </a:p>
        </p:txBody>
      </p:sp>
      <p:sp>
        <p:nvSpPr>
          <p:cNvPr id="4" name="TextBox 3"/>
          <p:cNvSpPr txBox="1"/>
          <p:nvPr/>
        </p:nvSpPr>
        <p:spPr>
          <a:xfrm>
            <a:off x="6501383"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5" name="Rounded Rectangle 4"/>
          <p:cNvSpPr/>
          <p:nvPr/>
        </p:nvSpPr>
        <p:spPr>
          <a:xfrm>
            <a:off x="6665976" y="365760"/>
            <a:ext cx="114300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Min. cleaning</a:t>
            </a:r>
          </a:p>
        </p:txBody>
      </p:sp>
      <p:sp>
        <p:nvSpPr>
          <p:cNvPr id="6" name="TextBox 5"/>
          <p:cNvSpPr txBox="1"/>
          <p:nvPr/>
        </p:nvSpPr>
        <p:spPr>
          <a:xfrm>
            <a:off x="782726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7" name="Rounded Rectangle 6"/>
          <p:cNvSpPr/>
          <p:nvPr/>
        </p:nvSpPr>
        <p:spPr>
          <a:xfrm>
            <a:off x="7991856" y="365760"/>
            <a:ext cx="822960"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Baseline</a:t>
            </a:r>
          </a:p>
        </p:txBody>
      </p:sp>
      <p:sp>
        <p:nvSpPr>
          <p:cNvPr id="8" name="TextBox 7"/>
          <p:cNvSpPr txBox="1"/>
          <p:nvPr/>
        </p:nvSpPr>
        <p:spPr>
          <a:xfrm>
            <a:off x="8833104"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9" name="Rounded Rectangle 8"/>
          <p:cNvSpPr/>
          <p:nvPr/>
        </p:nvSpPr>
        <p:spPr>
          <a:xfrm>
            <a:off x="8997696" y="365760"/>
            <a:ext cx="758952"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Improve</a:t>
            </a:r>
          </a:p>
        </p:txBody>
      </p:sp>
      <p:sp>
        <p:nvSpPr>
          <p:cNvPr id="10" name="TextBox 9"/>
          <p:cNvSpPr txBox="1"/>
          <p:nvPr/>
        </p:nvSpPr>
        <p:spPr>
          <a:xfrm>
            <a:off x="9774936"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1" name="Rounded Rectangle 10"/>
          <p:cNvSpPr/>
          <p:nvPr/>
        </p:nvSpPr>
        <p:spPr>
          <a:xfrm>
            <a:off x="9939528" y="365760"/>
            <a:ext cx="694944" cy="292608"/>
          </a:xfrm>
          <a:prstGeom prst="roundRect">
            <a:avLst>
              <a:gd name="adj" fmla="val 50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0">
                <a:solidFill>
                  <a:srgbClr val="5F6B66"/>
                </a:solidFill>
                <a:latin typeface="Calibri"/>
              </a:rPr>
              <a:t>Models</a:t>
            </a:r>
          </a:p>
        </p:txBody>
      </p:sp>
      <p:sp>
        <p:nvSpPr>
          <p:cNvPr id="12" name="TextBox 11"/>
          <p:cNvSpPr txBox="1"/>
          <p:nvPr/>
        </p:nvSpPr>
        <p:spPr>
          <a:xfrm>
            <a:off x="10652759" y="365760"/>
            <a:ext cx="146304" cy="292608"/>
          </a:xfrm>
          <a:prstGeom prst="rect">
            <a:avLst/>
          </a:prstGeom>
          <a:noFill/>
        </p:spPr>
        <p:txBody>
          <a:bodyPr wrap="square" lIns="0" rIns="0" tIns="0" bIns="0" anchor="ctr">
            <a:spAutoFit/>
          </a:bodyPr>
          <a:lstStyle/>
          <a:p>
            <a:pPr algn="ctr">
              <a:spcAft>
                <a:spcPts val="400"/>
              </a:spcAft>
            </a:pPr>
            <a:r>
              <a:rPr sz="1200" b="1" i="0">
                <a:solidFill>
                  <a:srgbClr val="B5BDB9"/>
                </a:solidFill>
                <a:latin typeface="Calibri"/>
              </a:rPr>
              <a:t>›</a:t>
            </a:r>
          </a:p>
        </p:txBody>
      </p:sp>
      <p:sp>
        <p:nvSpPr>
          <p:cNvPr id="13" name="Rounded Rectangle 12"/>
          <p:cNvSpPr/>
          <p:nvPr/>
        </p:nvSpPr>
        <p:spPr>
          <a:xfrm>
            <a:off x="10817351" y="365760"/>
            <a:ext cx="822960" cy="292608"/>
          </a:xfrm>
          <a:prstGeom prst="roundRect">
            <a:avLst>
              <a:gd name="adj" fmla="val 50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1E2A26"/>
                </a:solidFill>
                <a:latin typeface="Calibri"/>
              </a:rPr>
              <a:t>Evaluate</a:t>
            </a:r>
          </a:p>
        </p:txBody>
      </p:sp>
      <p:sp>
        <p:nvSpPr>
          <p:cNvPr id="14" name="TextBox 13"/>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What our results support, and what they don't</a:t>
            </a:r>
          </a:p>
        </p:txBody>
      </p:sp>
      <p:sp>
        <p:nvSpPr>
          <p:cNvPr id="15" name="Oval 14"/>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18</a:t>
            </a:r>
          </a:p>
        </p:txBody>
      </p:sp>
      <p:sp>
        <p:nvSpPr>
          <p:cNvPr id="16" name="Rounded Rectangle 15"/>
          <p:cNvSpPr/>
          <p:nvPr/>
        </p:nvSpPr>
        <p:spPr>
          <a:xfrm>
            <a:off x="548640" y="1783080"/>
            <a:ext cx="5394960" cy="443484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1920240"/>
            <a:ext cx="4937760" cy="365760"/>
          </a:xfrm>
          <a:prstGeom prst="rect">
            <a:avLst/>
          </a:prstGeom>
          <a:noFill/>
        </p:spPr>
        <p:txBody>
          <a:bodyPr wrap="square" lIns="0" rIns="0" tIns="0" bIns="0" anchor="t">
            <a:spAutoFit/>
          </a:bodyPr>
          <a:lstStyle/>
          <a:p>
            <a:pPr algn="l">
              <a:spcAft>
                <a:spcPts val="400"/>
              </a:spcAft>
            </a:pPr>
            <a:r>
              <a:rPr sz="1900" b="1" i="0">
                <a:solidFill>
                  <a:srgbClr val="006B47"/>
                </a:solidFill>
                <a:latin typeface="Arial"/>
              </a:rPr>
              <a:t>We can say</a:t>
            </a:r>
          </a:p>
        </p:txBody>
      </p:sp>
      <p:sp>
        <p:nvSpPr>
          <p:cNvPr id="18" name="TextBox 17"/>
          <p:cNvSpPr txBox="1"/>
          <p:nvPr/>
        </p:nvSpPr>
        <p:spPr>
          <a:xfrm>
            <a:off x="777240" y="2423160"/>
            <a:ext cx="4983480" cy="3657600"/>
          </a:xfrm>
          <a:prstGeom prst="rect">
            <a:avLst/>
          </a:prstGeom>
          <a:noFill/>
        </p:spPr>
        <p:txBody>
          <a:bodyPr wrap="square" lIns="0" rIns="0" tIns="0" bIns="0" anchor="t">
            <a:spAutoFit/>
          </a:bodyPr>
          <a:lstStyle/>
          <a:p>
            <a:pPr algn="l">
              <a:spcAft>
                <a:spcPts val="1400"/>
              </a:spcAft>
            </a:pPr>
            <a:r>
              <a:rPr sz="1700" b="1" i="0">
                <a:solidFill>
                  <a:srgbClr val="006B47"/>
                </a:solidFill>
                <a:latin typeface="Calibri"/>
              </a:rPr>
              <a:t>•  </a:t>
            </a:r>
            <a:r>
              <a:rPr sz="1700" b="0" i="0">
                <a:solidFill>
                  <a:srgbClr val="1E2A26"/>
                </a:solidFill>
                <a:latin typeface="Calibri"/>
              </a:rPr>
              <a:t>Request type and department backlog are strongly linked to missed deadlines</a:t>
            </a:r>
          </a:p>
          <a:p>
            <a:pPr algn="l">
              <a:spcAft>
                <a:spcPts val="1400"/>
              </a:spcAft>
            </a:pPr>
            <a:r>
              <a:rPr sz="1700" b="1" i="0">
                <a:solidFill>
                  <a:srgbClr val="006B47"/>
                </a:solidFill>
                <a:latin typeface="Calibri"/>
              </a:rPr>
              <a:t>•  </a:t>
            </a:r>
            <a:r>
              <a:rPr sz="1700" b="0" i="0">
                <a:solidFill>
                  <a:srgbClr val="1E2A26"/>
                </a:solidFill>
                <a:latin typeface="Calibri"/>
              </a:rPr>
              <a:t>A simple model flags about 6 in 10 late requests at filing time</a:t>
            </a:r>
          </a:p>
          <a:p>
            <a:pPr algn="l">
              <a:spcAft>
                <a:spcPts val="1400"/>
              </a:spcAft>
            </a:pPr>
            <a:r>
              <a:rPr sz="1700" b="1" i="0">
                <a:solidFill>
                  <a:srgbClr val="006B47"/>
                </a:solidFill>
                <a:latin typeface="Calibri"/>
              </a:rPr>
              <a:t>•  </a:t>
            </a:r>
            <a:r>
              <a:rPr sz="1700" b="0" i="0">
                <a:solidFill>
                  <a:srgbClr val="1E2A26"/>
                </a:solidFill>
                <a:latin typeface="Calibri"/>
              </a:rPr>
              <a:t>The result holds on later months the model never saw</a:t>
            </a:r>
          </a:p>
          <a:p>
            <a:pPr algn="l">
              <a:spcAft>
                <a:spcPts val="1400"/>
              </a:spcAft>
            </a:pPr>
            <a:r>
              <a:rPr sz="1700" b="1" i="0">
                <a:solidFill>
                  <a:srgbClr val="006B47"/>
                </a:solidFill>
                <a:latin typeface="Calibri"/>
              </a:rPr>
              <a:t>•  </a:t>
            </a:r>
            <a:r>
              <a:rPr sz="1700" b="0" i="0">
                <a:solidFill>
                  <a:srgbClr val="1E2A26"/>
                </a:solidFill>
                <a:latin typeface="Calibri"/>
              </a:rPr>
              <a:t>Imbalance was handled (class weights, F1/PR-AUC, tuned cutoff), and bias was checked by district</a:t>
            </a:r>
          </a:p>
        </p:txBody>
      </p:sp>
      <p:sp>
        <p:nvSpPr>
          <p:cNvPr id="19" name="Rounded Rectangle 18"/>
          <p:cNvSpPr/>
          <p:nvPr/>
        </p:nvSpPr>
        <p:spPr>
          <a:xfrm>
            <a:off x="6245352" y="1783080"/>
            <a:ext cx="5394960" cy="4434840"/>
          </a:xfrm>
          <a:prstGeom prst="roundRect">
            <a:avLst>
              <a:gd name="adj" fmla="val 5000"/>
            </a:avLst>
          </a:prstGeom>
          <a:solidFill>
            <a:srgbClr val="FFF4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1920240"/>
            <a:ext cx="4937760" cy="365760"/>
          </a:xfrm>
          <a:prstGeom prst="rect">
            <a:avLst/>
          </a:prstGeom>
          <a:noFill/>
        </p:spPr>
        <p:txBody>
          <a:bodyPr wrap="square" lIns="0" rIns="0" tIns="0" bIns="0" anchor="t">
            <a:spAutoFit/>
          </a:bodyPr>
          <a:lstStyle/>
          <a:p>
            <a:pPr algn="l">
              <a:spcAft>
                <a:spcPts val="400"/>
              </a:spcAft>
            </a:pPr>
            <a:r>
              <a:rPr sz="1900" b="1" i="0">
                <a:solidFill>
                  <a:srgbClr val="9A6600"/>
                </a:solidFill>
                <a:latin typeface="Arial"/>
              </a:rPr>
              <a:t>We can't say</a:t>
            </a:r>
          </a:p>
        </p:txBody>
      </p:sp>
      <p:sp>
        <p:nvSpPr>
          <p:cNvPr id="21" name="TextBox 20"/>
          <p:cNvSpPr txBox="1"/>
          <p:nvPr/>
        </p:nvSpPr>
        <p:spPr>
          <a:xfrm>
            <a:off x="6473952" y="2423160"/>
            <a:ext cx="4983480" cy="3749039"/>
          </a:xfrm>
          <a:prstGeom prst="rect">
            <a:avLst/>
          </a:prstGeom>
          <a:noFill/>
        </p:spPr>
        <p:txBody>
          <a:bodyPr wrap="square" lIns="0" rIns="0" tIns="0" bIns="0" anchor="t">
            <a:spAutoFit/>
          </a:bodyPr>
          <a:lstStyle/>
          <a:p>
            <a:pPr algn="l">
              <a:spcAft>
                <a:spcPts val="600"/>
              </a:spcAft>
            </a:pPr>
            <a:r>
              <a:rPr sz="1500" b="1" i="0">
                <a:solidFill>
                  <a:srgbClr val="9A6600"/>
                </a:solidFill>
                <a:latin typeface="Calibri"/>
              </a:rPr>
              <a:t>•  </a:t>
            </a:r>
            <a:r>
              <a:rPr sz="1500" b="1" i="0">
                <a:solidFill>
                  <a:srgbClr val="1E2A26"/>
                </a:solidFill>
                <a:latin typeface="Calibri"/>
              </a:rPr>
              <a:t>Seasonal effects: </a:t>
            </a:r>
            <a:r>
              <a:rPr sz="1500" b="0" i="0">
                <a:solidFill>
                  <a:srgbClr val="1E2A26"/>
                </a:solidFill>
                <a:latin typeface="Calibri"/>
              </a:rPr>
              <a:t>only one year of data</a:t>
            </a:r>
          </a:p>
          <a:p>
            <a:pPr algn="l">
              <a:spcAft>
                <a:spcPts val="600"/>
              </a:spcAft>
            </a:pPr>
            <a:r>
              <a:rPr sz="1500" b="1" i="0">
                <a:solidFill>
                  <a:srgbClr val="9A6600"/>
                </a:solidFill>
                <a:latin typeface="Calibri"/>
              </a:rPr>
              <a:t>•  </a:t>
            </a:r>
            <a:r>
              <a:rPr sz="1500" b="1" i="0">
                <a:solidFill>
                  <a:srgbClr val="1E2A26"/>
                </a:solidFill>
                <a:latin typeface="Calibri"/>
              </a:rPr>
              <a:t>Long cases: </a:t>
            </a:r>
            <a:r>
              <a:rPr sz="1500" b="0" i="0">
                <a:solidFill>
                  <a:srgbClr val="1E2A26"/>
                </a:solidFill>
                <a:latin typeface="Calibri"/>
              </a:rPr>
              <a:t>only closed requests, so the backlog is undercounted</a:t>
            </a:r>
          </a:p>
          <a:p>
            <a:pPr algn="l">
              <a:spcAft>
                <a:spcPts val="600"/>
              </a:spcAft>
            </a:pPr>
            <a:r>
              <a:rPr sz="1500" b="1" i="0">
                <a:solidFill>
                  <a:srgbClr val="9A6600"/>
                </a:solidFill>
                <a:latin typeface="Calibri"/>
              </a:rPr>
              <a:t>•  </a:t>
            </a:r>
            <a:r>
              <a:rPr sz="1500" b="1" i="0">
                <a:solidFill>
                  <a:srgbClr val="1E2A26"/>
                </a:solidFill>
                <a:latin typeface="Calibri"/>
              </a:rPr>
              <a:t>Why: </a:t>
            </a:r>
            <a:r>
              <a:rPr sz="1500" b="0" i="0">
                <a:solidFill>
                  <a:srgbClr val="1E2A26"/>
                </a:solidFill>
                <a:latin typeface="Calibri"/>
              </a:rPr>
              <a:t>staffing, weather and budget aren't in the data</a:t>
            </a:r>
          </a:p>
          <a:p>
            <a:pPr algn="l">
              <a:spcAft>
                <a:spcPts val="600"/>
              </a:spcAft>
            </a:pPr>
            <a:r>
              <a:rPr sz="1500" b="1" i="0">
                <a:solidFill>
                  <a:srgbClr val="9A6600"/>
                </a:solidFill>
                <a:latin typeface="Calibri"/>
              </a:rPr>
              <a:t>•  </a:t>
            </a:r>
            <a:r>
              <a:rPr sz="1500" b="1" i="0">
                <a:solidFill>
                  <a:srgbClr val="1E2A26"/>
                </a:solidFill>
                <a:latin typeface="Calibri"/>
              </a:rPr>
              <a:t>Cause: </a:t>
            </a:r>
            <a:r>
              <a:rPr sz="1500" b="0" i="0">
                <a:solidFill>
                  <a:srgbClr val="1E2A26"/>
                </a:solidFill>
                <a:latin typeface="Calibri"/>
              </a:rPr>
              <a:t>importance shows association only</a:t>
            </a:r>
          </a:p>
          <a:p>
            <a:pPr algn="l">
              <a:spcAft>
                <a:spcPts val="600"/>
              </a:spcAft>
            </a:pPr>
            <a:r>
              <a:rPr sz="1500" b="1" i="0">
                <a:solidFill>
                  <a:srgbClr val="9A6600"/>
                </a:solidFill>
                <a:latin typeface="Calibri"/>
              </a:rPr>
              <a:t>•  </a:t>
            </a:r>
            <a:r>
              <a:rPr sz="1500" b="1" i="0">
                <a:solidFill>
                  <a:srgbClr val="1E2A26"/>
                </a:solidFill>
                <a:latin typeface="Calibri"/>
              </a:rPr>
              <a:t>Precision: </a:t>
            </a:r>
            <a:r>
              <a:rPr sz="1500" b="0" i="0">
                <a:solidFill>
                  <a:srgbClr val="1E2A26"/>
                </a:solidFill>
                <a:latin typeface="Calibri"/>
              </a:rPr>
              <a:t>about 7 in 10 flags are false alarms</a:t>
            </a:r>
          </a:p>
          <a:p>
            <a:pPr algn="l">
              <a:spcAft>
                <a:spcPts val="600"/>
              </a:spcAft>
            </a:pPr>
            <a:r>
              <a:rPr sz="1500" b="1" i="0">
                <a:solidFill>
                  <a:srgbClr val="9A6600"/>
                </a:solidFill>
                <a:latin typeface="Calibri"/>
              </a:rPr>
              <a:t>•  </a:t>
            </a:r>
            <a:r>
              <a:rPr sz="1500" b="1" i="0">
                <a:solidFill>
                  <a:srgbClr val="1E2A26"/>
                </a:solidFill>
                <a:latin typeface="Calibri"/>
              </a:rPr>
              <a:t>Consistency: </a:t>
            </a:r>
            <a:r>
              <a:rPr sz="1500" b="0" i="0">
                <a:solidFill>
                  <a:srgbClr val="1E2A26"/>
                </a:solidFill>
                <a:latin typeface="Calibri"/>
              </a:rPr>
              <a:t>deadlines mix business days, calendar days and hours</a:t>
            </a:r>
          </a:p>
          <a:p>
            <a:pPr algn="l">
              <a:spcAft>
                <a:spcPts val="600"/>
              </a:spcAft>
            </a:pPr>
            <a:r>
              <a:rPr sz="1500" b="1" i="0">
                <a:solidFill>
                  <a:srgbClr val="9A6600"/>
                </a:solidFill>
                <a:latin typeface="Calibri"/>
              </a:rPr>
              <a:t>•  </a:t>
            </a:r>
            <a:r>
              <a:rPr sz="1500" b="1" i="0">
                <a:solidFill>
                  <a:srgbClr val="1E2A26"/>
                </a:solidFill>
                <a:latin typeface="Calibri"/>
              </a:rPr>
              <a:t>Other cities or years: </a:t>
            </a:r>
            <a:r>
              <a:rPr sz="1500" b="0" i="0">
                <a:solidFill>
                  <a:srgbClr val="1E2A26"/>
                </a:solidFill>
                <a:latin typeface="Calibri"/>
              </a:rPr>
              <a:t>one city, one year (generalizability)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2A21"/>
        </a:solidFill>
        <a:effectLst/>
      </p:bgPr>
    </p:bg>
    <p:spTree>
      <p:nvGrpSpPr>
        <p:cNvPr id="1" name=""/>
        <p:cNvGrpSpPr/>
        <p:nvPr/>
      </p:nvGrpSpPr>
      <p:grpSpPr/>
      <p:sp>
        <p:nvSpPr>
          <p:cNvPr id="2" name="Rounded Rectangle 1"/>
          <p:cNvSpPr/>
          <p:nvPr/>
        </p:nvSpPr>
        <p:spPr>
          <a:xfrm>
            <a:off x="548640" y="347472"/>
            <a:ext cx="1463040" cy="329184"/>
          </a:xfrm>
          <a:prstGeom prst="roundRect">
            <a:avLst>
              <a:gd name="adj" fmla="val 18000"/>
            </a:avLst>
          </a:prstGeom>
          <a:solidFill>
            <a:srgbClr val="F5B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1E2A26"/>
                </a:solidFill>
                <a:latin typeface="Arial"/>
              </a:rPr>
              <a:t>CONCLUSION</a:t>
            </a:r>
          </a:p>
        </p:txBody>
      </p:sp>
      <p:sp>
        <p:nvSpPr>
          <p:cNvPr id="3" name="TextBox 2"/>
          <p:cNvSpPr txBox="1"/>
          <p:nvPr/>
        </p:nvSpPr>
        <p:spPr>
          <a:xfrm>
            <a:off x="548640" y="868680"/>
            <a:ext cx="11064240" cy="822960"/>
          </a:xfrm>
          <a:prstGeom prst="rect">
            <a:avLst/>
          </a:prstGeom>
          <a:noFill/>
        </p:spPr>
        <p:txBody>
          <a:bodyPr wrap="square" lIns="0" rIns="0" tIns="0" bIns="0" anchor="t">
            <a:spAutoFit/>
          </a:bodyPr>
          <a:lstStyle/>
          <a:p>
            <a:pPr algn="l">
              <a:spcAft>
                <a:spcPts val="400"/>
              </a:spcAft>
            </a:pPr>
            <a:r>
              <a:rPr sz="3000" b="1" i="0">
                <a:solidFill>
                  <a:srgbClr val="FFFFFF"/>
                </a:solidFill>
                <a:latin typeface="Arial"/>
              </a:rPr>
              <a:t>A day-one early warning for managers, not a crystal ball</a:t>
            </a:r>
          </a:p>
        </p:txBody>
      </p:sp>
      <p:sp>
        <p:nvSpPr>
          <p:cNvPr id="4" name="Rounded Rectangle 3"/>
          <p:cNvSpPr/>
          <p:nvPr/>
        </p:nvSpPr>
        <p:spPr>
          <a:xfrm>
            <a:off x="548640" y="1965960"/>
            <a:ext cx="3566160" cy="1600200"/>
          </a:xfrm>
          <a:prstGeom prst="roundRect">
            <a:avLst>
              <a:gd name="adj" fmla="val 5000"/>
            </a:avLst>
          </a:prstGeom>
          <a:solidFill>
            <a:srgbClr val="13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84831"/>
            <a:ext cx="3108960" cy="777240"/>
          </a:xfrm>
          <a:prstGeom prst="rect">
            <a:avLst/>
          </a:prstGeom>
          <a:noFill/>
        </p:spPr>
        <p:txBody>
          <a:bodyPr wrap="square" lIns="0" rIns="0" tIns="0" bIns="0" anchor="t">
            <a:spAutoFit/>
          </a:bodyPr>
          <a:lstStyle/>
          <a:p>
            <a:pPr algn="l">
              <a:spcAft>
                <a:spcPts val="400"/>
              </a:spcAft>
            </a:pPr>
            <a:r>
              <a:rPr sz="4400" b="1" i="0">
                <a:solidFill>
                  <a:srgbClr val="F5B800"/>
                </a:solidFill>
                <a:latin typeface="Arial"/>
              </a:rPr>
              <a:t>0.410</a:t>
            </a:r>
          </a:p>
        </p:txBody>
      </p:sp>
      <p:sp>
        <p:nvSpPr>
          <p:cNvPr id="6" name="TextBox 5"/>
          <p:cNvSpPr txBox="1"/>
          <p:nvPr/>
        </p:nvSpPr>
        <p:spPr>
          <a:xfrm>
            <a:off x="777240" y="2880360"/>
            <a:ext cx="3108960" cy="548640"/>
          </a:xfrm>
          <a:prstGeom prst="rect">
            <a:avLst/>
          </a:prstGeom>
          <a:noFill/>
        </p:spPr>
        <p:txBody>
          <a:bodyPr wrap="square" lIns="0" rIns="0" tIns="0" bIns="0" anchor="t">
            <a:spAutoFit/>
          </a:bodyPr>
          <a:lstStyle/>
          <a:p>
            <a:pPr algn="l">
              <a:spcAft>
                <a:spcPts val="400"/>
              </a:spcAft>
            </a:pPr>
            <a:r>
              <a:rPr sz="1500" b="0" i="0">
                <a:solidFill>
                  <a:srgbClr val="B9DDCB"/>
                </a:solidFill>
                <a:latin typeface="Calibri"/>
              </a:rPr>
              <a:t>test F1, vs. 0.043 baseline</a:t>
            </a:r>
          </a:p>
        </p:txBody>
      </p:sp>
      <p:sp>
        <p:nvSpPr>
          <p:cNvPr id="7" name="Rounded Rectangle 6"/>
          <p:cNvSpPr/>
          <p:nvPr/>
        </p:nvSpPr>
        <p:spPr>
          <a:xfrm>
            <a:off x="4297679" y="1965960"/>
            <a:ext cx="3566160" cy="1600200"/>
          </a:xfrm>
          <a:prstGeom prst="roundRect">
            <a:avLst>
              <a:gd name="adj" fmla="val 5000"/>
            </a:avLst>
          </a:prstGeom>
          <a:solidFill>
            <a:srgbClr val="13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79" y="2084831"/>
            <a:ext cx="3108960" cy="777240"/>
          </a:xfrm>
          <a:prstGeom prst="rect">
            <a:avLst/>
          </a:prstGeom>
          <a:noFill/>
        </p:spPr>
        <p:txBody>
          <a:bodyPr wrap="square" lIns="0" rIns="0" tIns="0" bIns="0" anchor="t">
            <a:spAutoFit/>
          </a:bodyPr>
          <a:lstStyle/>
          <a:p>
            <a:pPr algn="l">
              <a:spcAft>
                <a:spcPts val="400"/>
              </a:spcAft>
            </a:pPr>
            <a:r>
              <a:rPr sz="4400" b="1" i="0">
                <a:solidFill>
                  <a:srgbClr val="F5B800"/>
                </a:solidFill>
                <a:latin typeface="Arial"/>
              </a:rPr>
              <a:t>62%</a:t>
            </a:r>
          </a:p>
        </p:txBody>
      </p:sp>
      <p:sp>
        <p:nvSpPr>
          <p:cNvPr id="9" name="TextBox 8"/>
          <p:cNvSpPr txBox="1"/>
          <p:nvPr/>
        </p:nvSpPr>
        <p:spPr>
          <a:xfrm>
            <a:off x="4526279" y="2880360"/>
            <a:ext cx="3108960" cy="548640"/>
          </a:xfrm>
          <a:prstGeom prst="rect">
            <a:avLst/>
          </a:prstGeom>
          <a:noFill/>
        </p:spPr>
        <p:txBody>
          <a:bodyPr wrap="square" lIns="0" rIns="0" tIns="0" bIns="0" anchor="t">
            <a:spAutoFit/>
          </a:bodyPr>
          <a:lstStyle/>
          <a:p>
            <a:pPr algn="l">
              <a:spcAft>
                <a:spcPts val="400"/>
              </a:spcAft>
            </a:pPr>
            <a:r>
              <a:rPr sz="1500" b="0" i="0">
                <a:solidFill>
                  <a:srgbClr val="B9DDCB"/>
                </a:solidFill>
                <a:latin typeface="Calibri"/>
              </a:rPr>
              <a:t>of missed deadlines caught</a:t>
            </a:r>
          </a:p>
        </p:txBody>
      </p:sp>
      <p:sp>
        <p:nvSpPr>
          <p:cNvPr id="10" name="Rounded Rectangle 9"/>
          <p:cNvSpPr/>
          <p:nvPr/>
        </p:nvSpPr>
        <p:spPr>
          <a:xfrm>
            <a:off x="8046719" y="1965960"/>
            <a:ext cx="3566160" cy="1600200"/>
          </a:xfrm>
          <a:prstGeom prst="roundRect">
            <a:avLst>
              <a:gd name="adj" fmla="val 5000"/>
            </a:avLst>
          </a:prstGeom>
          <a:solidFill>
            <a:srgbClr val="133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19" y="2084831"/>
            <a:ext cx="3108960" cy="777240"/>
          </a:xfrm>
          <a:prstGeom prst="rect">
            <a:avLst/>
          </a:prstGeom>
          <a:noFill/>
        </p:spPr>
        <p:txBody>
          <a:bodyPr wrap="square" lIns="0" rIns="0" tIns="0" bIns="0" anchor="t">
            <a:spAutoFit/>
          </a:bodyPr>
          <a:lstStyle/>
          <a:p>
            <a:pPr algn="l">
              <a:spcAft>
                <a:spcPts val="400"/>
              </a:spcAft>
            </a:pPr>
            <a:r>
              <a:rPr sz="4400" b="1" i="0">
                <a:solidFill>
                  <a:srgbClr val="F5B800"/>
                </a:solidFill>
                <a:latin typeface="Arial"/>
              </a:rPr>
              <a:t>#1</a:t>
            </a:r>
          </a:p>
        </p:txBody>
      </p:sp>
      <p:sp>
        <p:nvSpPr>
          <p:cNvPr id="12" name="TextBox 11"/>
          <p:cNvSpPr txBox="1"/>
          <p:nvPr/>
        </p:nvSpPr>
        <p:spPr>
          <a:xfrm>
            <a:off x="8275319" y="2880360"/>
            <a:ext cx="3108960" cy="548640"/>
          </a:xfrm>
          <a:prstGeom prst="rect">
            <a:avLst/>
          </a:prstGeom>
          <a:noFill/>
        </p:spPr>
        <p:txBody>
          <a:bodyPr wrap="square" lIns="0" rIns="0" tIns="0" bIns="0" anchor="t">
            <a:spAutoFit/>
          </a:bodyPr>
          <a:lstStyle/>
          <a:p>
            <a:pPr algn="l">
              <a:spcAft>
                <a:spcPts val="400"/>
              </a:spcAft>
            </a:pPr>
            <a:r>
              <a:rPr sz="1500" b="0" i="0">
                <a:solidFill>
                  <a:srgbClr val="B9DDCB"/>
                </a:solidFill>
                <a:latin typeface="Calibri"/>
              </a:rPr>
              <a:t>driver: the type of request</a:t>
            </a:r>
          </a:p>
        </p:txBody>
      </p:sp>
      <p:sp>
        <p:nvSpPr>
          <p:cNvPr id="13" name="TextBox 12"/>
          <p:cNvSpPr txBox="1"/>
          <p:nvPr/>
        </p:nvSpPr>
        <p:spPr>
          <a:xfrm>
            <a:off x="548640" y="3931920"/>
            <a:ext cx="5486400" cy="365760"/>
          </a:xfrm>
          <a:prstGeom prst="rect">
            <a:avLst/>
          </a:prstGeom>
          <a:noFill/>
        </p:spPr>
        <p:txBody>
          <a:bodyPr wrap="square" lIns="0" rIns="0" tIns="0" bIns="0" anchor="t">
            <a:spAutoFit/>
          </a:bodyPr>
          <a:lstStyle/>
          <a:p>
            <a:pPr algn="l">
              <a:spcAft>
                <a:spcPts val="400"/>
              </a:spcAft>
            </a:pPr>
            <a:r>
              <a:rPr sz="1900" b="1" i="0">
                <a:solidFill>
                  <a:srgbClr val="F5B800"/>
                </a:solidFill>
                <a:latin typeface="Arial"/>
              </a:rPr>
              <a:t>Next steps</a:t>
            </a:r>
          </a:p>
        </p:txBody>
      </p:sp>
      <p:sp>
        <p:nvSpPr>
          <p:cNvPr id="14" name="Oval 13"/>
          <p:cNvSpPr/>
          <p:nvPr/>
        </p:nvSpPr>
        <p:spPr>
          <a:xfrm>
            <a:off x="548640" y="4526280"/>
            <a:ext cx="457200" cy="457200"/>
          </a:xfrm>
          <a:prstGeom prst="ellipse">
            <a:avLst/>
          </a:prstGeom>
          <a:solidFill>
            <a:srgbClr val="006B47"/>
          </a:solidFill>
          <a:ln w="19050">
            <a:solidFill>
              <a:srgbClr val="B9DDC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500" b="1">
                <a:solidFill>
                  <a:srgbClr val="FFFFFF"/>
                </a:solidFill>
                <a:latin typeface="Calibri"/>
              </a:rPr>
              <a:t>1</a:t>
            </a:r>
          </a:p>
        </p:txBody>
      </p:sp>
      <p:sp>
        <p:nvSpPr>
          <p:cNvPr id="15" name="TextBox 14"/>
          <p:cNvSpPr txBox="1"/>
          <p:nvPr/>
        </p:nvSpPr>
        <p:spPr>
          <a:xfrm>
            <a:off x="1143000" y="4498848"/>
            <a:ext cx="2103120" cy="1097280"/>
          </a:xfrm>
          <a:prstGeom prst="rect">
            <a:avLst/>
          </a:prstGeom>
          <a:noFill/>
        </p:spPr>
        <p:txBody>
          <a:bodyPr wrap="square" lIns="0" rIns="0" tIns="0" bIns="0" anchor="t">
            <a:spAutoFit/>
          </a:bodyPr>
          <a:lstStyle/>
          <a:p>
            <a:pPr algn="l">
              <a:spcAft>
                <a:spcPts val="400"/>
              </a:spcAft>
            </a:pPr>
            <a:r>
              <a:rPr sz="1500" b="0" i="0">
                <a:solidFill>
                  <a:srgbClr val="FFFFFF"/>
                </a:solidFill>
                <a:latin typeface="Calibri"/>
              </a:rPr>
              <a:t>Add 2023–24 data to learn seasons</a:t>
            </a:r>
          </a:p>
        </p:txBody>
      </p:sp>
      <p:sp>
        <p:nvSpPr>
          <p:cNvPr id="16" name="Oval 15"/>
          <p:cNvSpPr/>
          <p:nvPr/>
        </p:nvSpPr>
        <p:spPr>
          <a:xfrm>
            <a:off x="3364992" y="4526280"/>
            <a:ext cx="457200" cy="457200"/>
          </a:xfrm>
          <a:prstGeom prst="ellipse">
            <a:avLst/>
          </a:prstGeom>
          <a:solidFill>
            <a:srgbClr val="006B47"/>
          </a:solidFill>
          <a:ln w="19050">
            <a:solidFill>
              <a:srgbClr val="B9DDC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500" b="1">
                <a:solidFill>
                  <a:srgbClr val="FFFFFF"/>
                </a:solidFill>
                <a:latin typeface="Calibri"/>
              </a:rPr>
              <a:t>2</a:t>
            </a:r>
          </a:p>
        </p:txBody>
      </p:sp>
      <p:sp>
        <p:nvSpPr>
          <p:cNvPr id="17" name="TextBox 16"/>
          <p:cNvSpPr txBox="1"/>
          <p:nvPr/>
        </p:nvSpPr>
        <p:spPr>
          <a:xfrm>
            <a:off x="3959352" y="4498848"/>
            <a:ext cx="2103120" cy="1097280"/>
          </a:xfrm>
          <a:prstGeom prst="rect">
            <a:avLst/>
          </a:prstGeom>
          <a:noFill/>
        </p:spPr>
        <p:txBody>
          <a:bodyPr wrap="square" lIns="0" rIns="0" tIns="0" bIns="0" anchor="t">
            <a:spAutoFit/>
          </a:bodyPr>
          <a:lstStyle/>
          <a:p>
            <a:pPr algn="l">
              <a:spcAft>
                <a:spcPts val="400"/>
              </a:spcAft>
            </a:pPr>
            <a:r>
              <a:rPr sz="1500" b="0" i="0">
                <a:solidFill>
                  <a:srgbClr val="FFFFFF"/>
                </a:solidFill>
                <a:latin typeface="Calibri"/>
              </a:rPr>
              <a:t>Add staffing and weather data</a:t>
            </a:r>
          </a:p>
        </p:txBody>
      </p:sp>
      <p:sp>
        <p:nvSpPr>
          <p:cNvPr id="18" name="Oval 17"/>
          <p:cNvSpPr/>
          <p:nvPr/>
        </p:nvSpPr>
        <p:spPr>
          <a:xfrm>
            <a:off x="6181344" y="4526280"/>
            <a:ext cx="457200" cy="457200"/>
          </a:xfrm>
          <a:prstGeom prst="ellipse">
            <a:avLst/>
          </a:prstGeom>
          <a:solidFill>
            <a:srgbClr val="006B47"/>
          </a:solidFill>
          <a:ln w="19050">
            <a:solidFill>
              <a:srgbClr val="B9DDC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500" b="1">
                <a:solidFill>
                  <a:srgbClr val="FFFFFF"/>
                </a:solidFill>
                <a:latin typeface="Calibri"/>
              </a:rPr>
              <a:t>3</a:t>
            </a:r>
          </a:p>
        </p:txBody>
      </p:sp>
      <p:sp>
        <p:nvSpPr>
          <p:cNvPr id="19" name="TextBox 18"/>
          <p:cNvSpPr txBox="1"/>
          <p:nvPr/>
        </p:nvSpPr>
        <p:spPr>
          <a:xfrm>
            <a:off x="6775704" y="4498848"/>
            <a:ext cx="2103120" cy="1097280"/>
          </a:xfrm>
          <a:prstGeom prst="rect">
            <a:avLst/>
          </a:prstGeom>
          <a:noFill/>
        </p:spPr>
        <p:txBody>
          <a:bodyPr wrap="square" lIns="0" rIns="0" tIns="0" bIns="0" anchor="t">
            <a:spAutoFit/>
          </a:bodyPr>
          <a:lstStyle/>
          <a:p>
            <a:pPr algn="l">
              <a:spcAft>
                <a:spcPts val="400"/>
              </a:spcAft>
            </a:pPr>
            <a:r>
              <a:rPr sz="1500" b="0" i="0">
                <a:solidFill>
                  <a:srgbClr val="FFFFFF"/>
                </a:solidFill>
                <a:latin typeface="Calibri"/>
              </a:rPr>
              <a:t>Set the cutoff with the city</a:t>
            </a:r>
          </a:p>
        </p:txBody>
      </p:sp>
      <p:sp>
        <p:nvSpPr>
          <p:cNvPr id="20" name="Oval 19"/>
          <p:cNvSpPr/>
          <p:nvPr/>
        </p:nvSpPr>
        <p:spPr>
          <a:xfrm>
            <a:off x="8997696" y="4526280"/>
            <a:ext cx="457200" cy="457200"/>
          </a:xfrm>
          <a:prstGeom prst="ellipse">
            <a:avLst/>
          </a:prstGeom>
          <a:solidFill>
            <a:srgbClr val="006B47"/>
          </a:solidFill>
          <a:ln w="19050">
            <a:solidFill>
              <a:srgbClr val="B9DDC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500" b="1">
                <a:solidFill>
                  <a:srgbClr val="FFFFFF"/>
                </a:solidFill>
                <a:latin typeface="Calibri"/>
              </a:rPr>
              <a:t>4</a:t>
            </a:r>
          </a:p>
        </p:txBody>
      </p:sp>
      <p:sp>
        <p:nvSpPr>
          <p:cNvPr id="21" name="TextBox 20"/>
          <p:cNvSpPr txBox="1"/>
          <p:nvPr/>
        </p:nvSpPr>
        <p:spPr>
          <a:xfrm>
            <a:off x="9592056" y="4498848"/>
            <a:ext cx="2103120" cy="1097280"/>
          </a:xfrm>
          <a:prstGeom prst="rect">
            <a:avLst/>
          </a:prstGeom>
          <a:noFill/>
        </p:spPr>
        <p:txBody>
          <a:bodyPr wrap="square" lIns="0" rIns="0" tIns="0" bIns="0" anchor="t">
            <a:spAutoFit/>
          </a:bodyPr>
          <a:lstStyle/>
          <a:p>
            <a:pPr algn="l">
              <a:spcAft>
                <a:spcPts val="400"/>
              </a:spcAft>
            </a:pPr>
            <a:r>
              <a:rPr sz="1500" b="0" i="0">
                <a:solidFill>
                  <a:srgbClr val="FFFFFF"/>
                </a:solidFill>
                <a:latin typeface="Calibri"/>
              </a:rPr>
              <a:t>Monitor by district if deployed</a:t>
            </a:r>
          </a:p>
        </p:txBody>
      </p:sp>
      <p:sp>
        <p:nvSpPr>
          <p:cNvPr id="22" name="Oval 21"/>
          <p:cNvSpPr/>
          <p:nvPr/>
        </p:nvSpPr>
        <p:spPr>
          <a:xfrm>
            <a:off x="11320272" y="6327648"/>
            <a:ext cx="347472" cy="347472"/>
          </a:xfrm>
          <a:prstGeom prst="ellipse">
            <a:avLst/>
          </a:prstGeom>
          <a:solidFill>
            <a:srgbClr val="133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B9DDCB"/>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1371600"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REFERENCES</a:t>
            </a:r>
          </a:p>
        </p:txBody>
      </p:sp>
      <p:sp>
        <p:nvSpPr>
          <p:cNvPr id="3" name="TextBox 2"/>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References</a:t>
            </a:r>
          </a:p>
        </p:txBody>
      </p:sp>
      <p:sp>
        <p:nvSpPr>
          <p:cNvPr id="4" name="Oval 3"/>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20</a:t>
            </a:r>
          </a:p>
        </p:txBody>
      </p:sp>
      <p:sp>
        <p:nvSpPr>
          <p:cNvPr id="5" name="TextBox 4"/>
          <p:cNvSpPr txBox="1"/>
          <p:nvPr/>
        </p:nvSpPr>
        <p:spPr>
          <a:xfrm>
            <a:off x="548640" y="1783080"/>
            <a:ext cx="11064240" cy="4480560"/>
          </a:xfrm>
          <a:prstGeom prst="rect">
            <a:avLst/>
          </a:prstGeom>
          <a:noFill/>
        </p:spPr>
        <p:txBody>
          <a:bodyPr wrap="square" lIns="0" rIns="0" tIns="0" bIns="0" anchor="t">
            <a:spAutoFit/>
          </a:bodyPr>
          <a:lstStyle/>
          <a:p>
            <a:pPr algn="l">
              <a:spcAft>
                <a:spcPts val="1200"/>
              </a:spcAft>
            </a:pPr>
            <a:r>
              <a:rPr sz="1500" b="0" i="0">
                <a:solidFill>
                  <a:srgbClr val="1E2A26"/>
                </a:solidFill>
                <a:latin typeface="Calibri"/>
              </a:rPr>
              <a:t>Asif, N., Hong, Z., Ren, S., Zhang, X., Shang, X., &amp; Yuan, Y. (2025). MuST2-Learn: Multi-view spatial-temporal-type learning for heterogeneous municipal service time estimation (arXiv:2508.16503). ACM SIGSPATIAL 2025.</a:t>
            </a:r>
          </a:p>
          <a:p>
            <a:pPr algn="l">
              <a:spcAft>
                <a:spcPts val="1200"/>
              </a:spcAft>
            </a:pPr>
            <a:r>
              <a:rPr sz="1500" b="0" i="0">
                <a:solidFill>
                  <a:srgbClr val="1E2A26"/>
                </a:solidFill>
                <a:latin typeface="Calibri"/>
              </a:rPr>
              <a:t>Bopardikar, V. (2021, November 4). Using machine learning to predict Los Angeles 311 service requests' estimated time of completion (ETC). Medium.</a:t>
            </a:r>
          </a:p>
          <a:p>
            <a:pPr algn="l">
              <a:spcAft>
                <a:spcPts val="1200"/>
              </a:spcAft>
            </a:pPr>
            <a:r>
              <a:rPr sz="1500" b="0" i="0">
                <a:solidFill>
                  <a:srgbClr val="1E2A26"/>
                </a:solidFill>
                <a:latin typeface="Calibri"/>
              </a:rPr>
              <a:t>City of Dallas. (2026). 311 service requests [Data set]. Dallas OpenData. https://www.dallasopendata.com/resource/d7e7-envw</a:t>
            </a:r>
          </a:p>
          <a:p>
            <a:pPr algn="l">
              <a:spcAft>
                <a:spcPts val="1200"/>
              </a:spcAft>
            </a:pPr>
            <a:r>
              <a:rPr sz="1500" b="0" i="0">
                <a:solidFill>
                  <a:srgbClr val="1E2A26"/>
                </a:solidFill>
                <a:latin typeface="Calibri"/>
              </a:rPr>
              <a:t>Lemaître, G., Nogueira, F., &amp; Aridas, C. K. (2017). Imbalanced-learn: A Python toolbox to tackle the curse of imbalanced datasets in machine learning. Journal of Machine Learning Research, 18(17), 1–5.</a:t>
            </a:r>
          </a:p>
          <a:p>
            <a:pPr algn="l">
              <a:spcAft>
                <a:spcPts val="1200"/>
              </a:spcAft>
            </a:pPr>
            <a:r>
              <a:rPr sz="1500" b="0" i="0">
                <a:solidFill>
                  <a:srgbClr val="1E2A26"/>
                </a:solidFill>
                <a:latin typeface="Calibri"/>
              </a:rPr>
              <a:t>Pedregosa, F., et al. (2011). Scikit-learn: Machine learning in Python. Journal of Machine Learning Research, 12, 2825–2830.</a:t>
            </a:r>
          </a:p>
          <a:p>
            <a:pPr algn="l">
              <a:spcAft>
                <a:spcPts val="1200"/>
              </a:spcAft>
            </a:pPr>
            <a:r>
              <a:rPr sz="1500" b="0" i="0">
                <a:solidFill>
                  <a:srgbClr val="1E2A26"/>
                </a:solidFill>
                <a:latin typeface="Calibri"/>
              </a:rPr>
              <a:t>stphillips91-droid. (n.d.). Philadelphia 311 late resolution prediction [GitHub repository]. https://github.com/stphillips91-droid/Philadelphia-311-Late-Resolution-Prediction</a:t>
            </a:r>
          </a:p>
          <a:p>
            <a:pPr algn="l">
              <a:spcAft>
                <a:spcPts val="1200"/>
              </a:spcAft>
            </a:pPr>
            <a:r>
              <a:rPr sz="1500" b="0" i="0">
                <a:solidFill>
                  <a:srgbClr val="1E2A26"/>
                </a:solidFill>
                <a:latin typeface="Calibri"/>
              </a:rPr>
              <a:t>Code and data: https://github.com/Mateen1367/Dallas-311-Project  ·  Python, pandas, matplotlib, scikit-learn  ·  APA 7th edition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C2A21"/>
        </a:solidFill>
        <a:effectLst/>
      </p:bgPr>
    </p:bg>
    <p:spTree>
      <p:nvGrpSpPr>
        <p:cNvPr id="1" name=""/>
        <p:cNvGrpSpPr/>
        <p:nvPr/>
      </p:nvGrpSpPr>
      <p:grpSpPr/>
      <p:sp>
        <p:nvSpPr>
          <p:cNvPr id="2" name="Rounded Rectangle 1"/>
          <p:cNvSpPr/>
          <p:nvPr/>
        </p:nvSpPr>
        <p:spPr>
          <a:xfrm>
            <a:off x="3355848" y="1737360"/>
            <a:ext cx="5486400" cy="1463040"/>
          </a:xfrm>
          <a:prstGeom prst="roundRect">
            <a:avLst>
              <a:gd name="adj" fmla="val 12000"/>
            </a:avLst>
          </a:prstGeom>
          <a:solidFill>
            <a:srgbClr val="006B4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4800" b="1">
                <a:solidFill>
                  <a:srgbClr val="FFFFFF"/>
                </a:solidFill>
                <a:latin typeface="Arial"/>
              </a:rPr>
              <a:t>Thank you</a:t>
            </a:r>
          </a:p>
        </p:txBody>
      </p:sp>
      <p:sp>
        <p:nvSpPr>
          <p:cNvPr id="3" name="TextBox 2"/>
          <p:cNvSpPr txBox="1"/>
          <p:nvPr/>
        </p:nvSpPr>
        <p:spPr>
          <a:xfrm>
            <a:off x="548640" y="3520440"/>
            <a:ext cx="11091672" cy="640080"/>
          </a:xfrm>
          <a:prstGeom prst="rect">
            <a:avLst/>
          </a:prstGeom>
          <a:noFill/>
        </p:spPr>
        <p:txBody>
          <a:bodyPr wrap="square" lIns="0" rIns="0" tIns="0" bIns="0" anchor="t">
            <a:spAutoFit/>
          </a:bodyPr>
          <a:lstStyle/>
          <a:p>
            <a:pPr algn="ctr">
              <a:spcAft>
                <a:spcPts val="400"/>
              </a:spcAft>
            </a:pPr>
            <a:r>
              <a:rPr sz="3000" b="0" i="0">
                <a:solidFill>
                  <a:srgbClr val="F5B800"/>
                </a:solidFill>
                <a:latin typeface="Arial"/>
              </a:rPr>
              <a:t>Questions?</a:t>
            </a:r>
          </a:p>
        </p:txBody>
      </p:sp>
      <p:sp>
        <p:nvSpPr>
          <p:cNvPr id="4" name="TextBox 3"/>
          <p:cNvSpPr txBox="1"/>
          <p:nvPr/>
        </p:nvSpPr>
        <p:spPr>
          <a:xfrm>
            <a:off x="548640" y="5212080"/>
            <a:ext cx="11091672" cy="457200"/>
          </a:xfrm>
          <a:prstGeom prst="rect">
            <a:avLst/>
          </a:prstGeom>
          <a:noFill/>
        </p:spPr>
        <p:txBody>
          <a:bodyPr wrap="square" lIns="0" rIns="0" tIns="0" bIns="0" anchor="t">
            <a:spAutoFit/>
          </a:bodyPr>
          <a:lstStyle/>
          <a:p>
            <a:pPr algn="ctr">
              <a:spcAft>
                <a:spcPts val="400"/>
              </a:spcAft>
            </a:pPr>
            <a:r>
              <a:rPr sz="1500" b="0" i="0">
                <a:solidFill>
                  <a:srgbClr val="B9DDCB"/>
                </a:solidFill>
                <a:latin typeface="Calibri"/>
              </a:rPr>
              <a:t>Mateen Jan  ·  Tej Govindu  ·  Alejandro Alfonso  ·  DATA 4380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8640" y="347472"/>
            <a:ext cx="987552" cy="329184"/>
          </a:xfrm>
          <a:prstGeom prst="roundRect">
            <a:avLst>
              <a:gd name="adj" fmla="val 18000"/>
            </a:avLst>
          </a:prstGeom>
          <a:solidFill>
            <a:srgbClr val="006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100" b="1">
                <a:solidFill>
                  <a:srgbClr val="FFFFFF"/>
                </a:solidFill>
                <a:latin typeface="Arial"/>
              </a:rPr>
              <a:t>BACKUP</a:t>
            </a:r>
          </a:p>
        </p:txBody>
      </p:sp>
      <p:sp>
        <p:nvSpPr>
          <p:cNvPr id="3" name="TextBox 2"/>
          <p:cNvSpPr txBox="1"/>
          <p:nvPr/>
        </p:nvSpPr>
        <p:spPr>
          <a:xfrm>
            <a:off x="548640" y="786384"/>
            <a:ext cx="11064240" cy="868680"/>
          </a:xfrm>
          <a:prstGeom prst="rect">
            <a:avLst/>
          </a:prstGeom>
          <a:noFill/>
        </p:spPr>
        <p:txBody>
          <a:bodyPr wrap="square" lIns="0" rIns="0" tIns="0" bIns="0" anchor="t">
            <a:spAutoFit/>
          </a:bodyPr>
          <a:lstStyle/>
          <a:p>
            <a:pPr algn="l">
              <a:spcAft>
                <a:spcPts val="400"/>
              </a:spcAft>
            </a:pPr>
            <a:r>
              <a:rPr sz="2700" b="1" i="0">
                <a:solidFill>
                  <a:srgbClr val="1E2A26"/>
                </a:solidFill>
                <a:latin typeface="Arial"/>
              </a:rPr>
              <a:t>Raising the cutoff trades caught misses for fewer false alarms</a:t>
            </a:r>
          </a:p>
        </p:txBody>
      </p:sp>
      <p:sp>
        <p:nvSpPr>
          <p:cNvPr id="4" name="Oval 3"/>
          <p:cNvSpPr/>
          <p:nvPr/>
        </p:nvSpPr>
        <p:spPr>
          <a:xfrm>
            <a:off x="11320272" y="6327648"/>
            <a:ext cx="347472" cy="347472"/>
          </a:xfrm>
          <a:prstGeom prst="ellipse">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r>
              <a:rPr sz="1000" b="1">
                <a:solidFill>
                  <a:srgbClr val="006B47"/>
                </a:solidFill>
                <a:latin typeface="Calibri"/>
              </a:rPr>
              <a:t>22</a:t>
            </a:r>
          </a:p>
        </p:txBody>
      </p:sp>
      <p:graphicFrame>
        <p:nvGraphicFramePr>
          <p:cNvPr id="5" name="Chart 4"/>
          <p:cNvGraphicFramePr>
            <a:graphicFrameLocks noGrp="1"/>
          </p:cNvGraphicFramePr>
          <p:nvPr/>
        </p:nvGraphicFramePr>
        <p:xfrm>
          <a:off x="548640" y="1783080"/>
          <a:ext cx="7863840" cy="4434840"/>
        </p:xfrm>
        <a:graphic>
          <a:graphicData uri="http://schemas.openxmlformats.org/drawingml/2006/chart">
            <c:chart xmlns:c="http://schemas.openxmlformats.org/drawingml/2006/chart" r:id="rId2"/>
          </a:graphicData>
        </a:graphic>
      </p:graphicFrame>
      <p:sp>
        <p:nvSpPr>
          <p:cNvPr id="6" name="Rounded Rectangle 5"/>
          <p:cNvSpPr/>
          <p:nvPr/>
        </p:nvSpPr>
        <p:spPr>
          <a:xfrm>
            <a:off x="8686800" y="1783080"/>
            <a:ext cx="2953512" cy="4434840"/>
          </a:xfrm>
          <a:prstGeom prst="roundRect">
            <a:avLst>
              <a:gd name="adj" fmla="val 5000"/>
            </a:avLst>
          </a:prstGeom>
          <a:solidFill>
            <a:srgbClr val="ECF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15400" y="1920240"/>
            <a:ext cx="2560320" cy="4206240"/>
          </a:xfrm>
          <a:prstGeom prst="rect">
            <a:avLst/>
          </a:prstGeom>
          <a:noFill/>
        </p:spPr>
        <p:txBody>
          <a:bodyPr wrap="square" lIns="0" rIns="0" tIns="0" bIns="0" anchor="t">
            <a:spAutoFit/>
          </a:bodyPr>
          <a:lstStyle/>
          <a:p>
            <a:pPr algn="l">
              <a:spcAft>
                <a:spcPts val="1200"/>
              </a:spcAft>
            </a:pPr>
            <a:r>
              <a:rPr sz="1400" b="1" i="0">
                <a:solidFill>
                  <a:srgbClr val="9A6600"/>
                </a:solidFill>
                <a:latin typeface="Calibri"/>
              </a:rPr>
              <a:t>Lower cutoff: </a:t>
            </a:r>
            <a:r>
              <a:rPr sz="1400" b="0" i="0">
                <a:solidFill>
                  <a:srgbClr val="1E2A26"/>
                </a:solidFill>
                <a:latin typeface="Calibri"/>
              </a:rPr>
              <a:t>more misses caught, more false alarms</a:t>
            </a:r>
          </a:p>
          <a:p>
            <a:pPr algn="l">
              <a:spcAft>
                <a:spcPts val="1200"/>
              </a:spcAft>
            </a:pPr>
            <a:r>
              <a:rPr sz="1400" b="1" i="0">
                <a:solidFill>
                  <a:srgbClr val="006B47"/>
                </a:solidFill>
                <a:latin typeface="Calibri"/>
              </a:rPr>
              <a:t>Higher cutoff: </a:t>
            </a:r>
            <a:r>
              <a:rPr sz="1400" b="0" i="0">
                <a:solidFill>
                  <a:srgbClr val="1E2A26"/>
                </a:solidFill>
                <a:latin typeface="Calibri"/>
              </a:rPr>
              <a:t>fewer false alarms, more misses slip by</a:t>
            </a:r>
          </a:p>
          <a:p>
            <a:pPr algn="l">
              <a:spcAft>
                <a:spcPts val="1200"/>
              </a:spcAft>
            </a:pPr>
            <a:r>
              <a:rPr sz="1400" b="1" i="0">
                <a:solidFill>
                  <a:srgbClr val="1E2A26"/>
                </a:solidFill>
                <a:latin typeface="Calibri"/>
              </a:rPr>
              <a:t>We chose 0.67, </a:t>
            </a:r>
            <a:r>
              <a:rPr sz="1400" b="0" i="0">
                <a:solidFill>
                  <a:srgbClr val="1E2A26"/>
                </a:solidFill>
                <a:latin typeface="Calibri"/>
              </a:rPr>
              <a:t>where F1 peaked on validation, fixed before testing.</a:t>
            </a:r>
          </a:p>
          <a:p>
            <a:pPr algn="l">
              <a:spcAft>
                <a:spcPts val="1200"/>
              </a:spcAft>
            </a:pPr>
            <a:r>
              <a:rPr sz="1400" b="0" i="0">
                <a:solidFill>
                  <a:srgbClr val="1E2A26"/>
                </a:solidFill>
                <a:latin typeface="Calibri"/>
              </a:rPr>
              <a:t>The city could choose a different point based on what a missed deadline costs.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